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592" r:id="rId3"/>
    <p:sldId id="594" r:id="rId4"/>
    <p:sldId id="557" r:id="rId5"/>
    <p:sldId id="282" r:id="rId6"/>
    <p:sldId id="556" r:id="rId7"/>
    <p:sldId id="560" r:id="rId8"/>
    <p:sldId id="563" r:id="rId9"/>
    <p:sldId id="580" r:id="rId10"/>
    <p:sldId id="561" r:id="rId11"/>
    <p:sldId id="585" r:id="rId12"/>
    <p:sldId id="558" r:id="rId13"/>
    <p:sldId id="564" r:id="rId14"/>
    <p:sldId id="285" r:id="rId15"/>
    <p:sldId id="555" r:id="rId16"/>
    <p:sldId id="593" r:id="rId17"/>
    <p:sldId id="586" r:id="rId18"/>
    <p:sldId id="567" r:id="rId19"/>
    <p:sldId id="276" r:id="rId20"/>
    <p:sldId id="565" r:id="rId21"/>
    <p:sldId id="573" r:id="rId22"/>
    <p:sldId id="572" r:id="rId23"/>
    <p:sldId id="568" r:id="rId24"/>
    <p:sldId id="581" r:id="rId25"/>
    <p:sldId id="266" r:id="rId26"/>
    <p:sldId id="569" r:id="rId27"/>
    <p:sldId id="576" r:id="rId28"/>
    <p:sldId id="591" r:id="rId29"/>
    <p:sldId id="575" r:id="rId30"/>
    <p:sldId id="577" r:id="rId31"/>
    <p:sldId id="296" r:id="rId32"/>
    <p:sldId id="267" r:id="rId33"/>
    <p:sldId id="513" r:id="rId34"/>
    <p:sldId id="269" r:id="rId35"/>
    <p:sldId id="595" r:id="rId36"/>
    <p:sldId id="268" r:id="rId37"/>
    <p:sldId id="587" r:id="rId38"/>
    <p:sldId id="596" r:id="rId39"/>
    <p:sldId id="588" r:id="rId4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4" autoAdjust="0"/>
    <p:restoredTop sz="80070"/>
  </p:normalViewPr>
  <p:slideViewPr>
    <p:cSldViewPr snapToGrid="0">
      <p:cViewPr varScale="1">
        <p:scale>
          <a:sx n="88" d="100"/>
          <a:sy n="88" d="100"/>
        </p:scale>
        <p:origin x="1416" y="96"/>
      </p:cViewPr>
      <p:guideLst/>
    </p:cSldViewPr>
  </p:slideViewPr>
  <p:notesTextViewPr>
    <p:cViewPr>
      <p:scale>
        <a:sx n="80" d="100"/>
        <a:sy n="8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8BA00-24A2-4E5F-B42C-AC89CF6E9993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A99F96-6AB2-4F12-8182-81843FE397A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8673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5310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  <a:p>
            <a:r>
              <a:rPr lang="en-US" dirty="0"/>
              <a:t>Linear algebra for data matrices and vectors</a:t>
            </a:r>
          </a:p>
          <a:p>
            <a:r>
              <a:rPr lang="en-US" dirty="0"/>
              <a:t>To understand properties of data analysis methods.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970015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maybe confusing with the Calibri vs Math typesetting – matrix letters are sometimes italics (in maths typesetting) and sometimes not (like here), same for the superscript T (although there it’s not confusing)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3042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 x, y1, b1 </a:t>
            </a:r>
            <a:r>
              <a:rPr lang="en-US" dirty="0" err="1"/>
              <a:t>etc</a:t>
            </a:r>
            <a:r>
              <a:rPr lang="en-US" dirty="0"/>
              <a:t> to make y1, residual e1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12856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755286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900694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 yellow – blue = red vector, blue - yellow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065843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Examples of addition / subtraction</a:t>
            </a:r>
          </a:p>
          <a:p>
            <a:endParaRPr lang="en-US" dirty="0"/>
          </a:p>
          <a:p>
            <a:r>
              <a:rPr lang="en-US" dirty="0"/>
              <a:t>Sum of squares: 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96965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Indicate all these vectors are in the same direction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957853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4337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are samples, columns are variables / features</a:t>
            </a:r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651882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Each row has J values, so lives in </a:t>
            </a:r>
            <a:r>
              <a:rPr lang="en-US" dirty="0" err="1"/>
              <a:t>Jth</a:t>
            </a:r>
            <a:r>
              <a:rPr lang="en-US" dirty="0"/>
              <a:t> dimensional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208C-9070-4236-850E-0D92E45CEB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727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theta </a:t>
            </a:r>
            <a:r>
              <a:rPr lang="pt-BR" dirty="0">
                <a:effectLst/>
                <a:latin typeface="inherit"/>
              </a:rPr>
              <a:t>&lt;-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acos(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sum(</a:t>
            </a:r>
            <a:r>
              <a:rPr lang="pt-BR" dirty="0"/>
              <a:t>a</a:t>
            </a:r>
            <a:r>
              <a:rPr lang="pt-BR" dirty="0">
                <a:effectLst/>
                <a:latin typeface="inherit"/>
              </a:rPr>
              <a:t>*</a:t>
            </a:r>
            <a:r>
              <a:rPr lang="pt-BR" dirty="0"/>
              <a:t>b</a:t>
            </a:r>
            <a:r>
              <a:rPr lang="pt-BR" dirty="0">
                <a:effectLst/>
                <a:latin typeface="inherit"/>
              </a:rPr>
              <a:t>)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/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(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sqrt(sum(</a:t>
            </a:r>
            <a:r>
              <a:rPr lang="pt-BR" dirty="0"/>
              <a:t>a </a:t>
            </a:r>
            <a:r>
              <a:rPr lang="pt-BR" dirty="0">
                <a:effectLst/>
                <a:latin typeface="inherit"/>
              </a:rPr>
              <a:t>*</a:t>
            </a:r>
            <a:r>
              <a:rPr lang="pt-BR" dirty="0"/>
              <a:t> a</a:t>
            </a:r>
            <a:r>
              <a:rPr lang="pt-BR" dirty="0">
                <a:effectLst/>
                <a:latin typeface="inherit"/>
              </a:rPr>
              <a:t>))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*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sqrt(sum(</a:t>
            </a:r>
            <a:r>
              <a:rPr lang="pt-BR" dirty="0"/>
              <a:t>b </a:t>
            </a:r>
            <a:r>
              <a:rPr lang="pt-BR" dirty="0">
                <a:effectLst/>
                <a:latin typeface="inherit"/>
              </a:rPr>
              <a:t>*</a:t>
            </a:r>
            <a:r>
              <a:rPr lang="pt-BR" dirty="0"/>
              <a:t> b</a:t>
            </a:r>
            <a:r>
              <a:rPr lang="pt-BR" dirty="0">
                <a:effectLst/>
                <a:latin typeface="inherit"/>
              </a:rPr>
              <a:t>))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)</a:t>
            </a:r>
            <a:r>
              <a:rPr lang="pt-BR" dirty="0"/>
              <a:t> </a:t>
            </a:r>
            <a:r>
              <a:rPr lang="pt-BR" dirty="0">
                <a:effectLst/>
                <a:latin typeface="inherit"/>
              </a:rPr>
              <a:t>)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F899EBD-A8E2-4F35-B31F-DC517C67B7E1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30300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[-3 1], but also [-6 2] or [3 -1], so c*[-3 1]</a:t>
            </a:r>
          </a:p>
          <a:p>
            <a:endParaRPr lang="en-US" dirty="0"/>
          </a:p>
          <a:p>
            <a:r>
              <a:rPr lang="en-US" dirty="0"/>
              <a:t>c*[-3 1 0], but also d*[-2 0 1] or e*[0 -2 3]</a:t>
            </a:r>
          </a:p>
          <a:p>
            <a:endParaRPr lang="en-US" dirty="0"/>
          </a:p>
          <a:p>
            <a:r>
              <a:rPr lang="en-US" dirty="0"/>
              <a:t>-3 -2  0         -3  -2  0             -3  -2  0 </a:t>
            </a:r>
          </a:p>
          <a:p>
            <a:r>
              <a:rPr lang="en-US" dirty="0"/>
              <a:t> 1   0 -2  -&gt;    0  -2  -6    -&gt;    0   -2   -6      3*2</a:t>
            </a:r>
            <a:r>
              <a:rPr lang="en-US" baseline="30000" dirty="0"/>
              <a:t>nd</a:t>
            </a:r>
            <a:r>
              <a:rPr lang="en-US" dirty="0"/>
              <a:t> row – 1</a:t>
            </a:r>
            <a:r>
              <a:rPr lang="en-US" baseline="30000" dirty="0"/>
              <a:t>st</a:t>
            </a:r>
            <a:r>
              <a:rPr lang="en-US" dirty="0"/>
              <a:t> row</a:t>
            </a:r>
          </a:p>
          <a:p>
            <a:r>
              <a:rPr lang="en-US" dirty="0"/>
              <a:t> 0   1   3         0   1    3             0   0    0        2*3</a:t>
            </a:r>
            <a:r>
              <a:rPr lang="en-US" baseline="30000" dirty="0"/>
              <a:t>rd</a:t>
            </a:r>
            <a:r>
              <a:rPr lang="en-US" dirty="0"/>
              <a:t> row – 2</a:t>
            </a:r>
            <a:r>
              <a:rPr lang="en-US" baseline="30000" dirty="0"/>
              <a:t>nd</a:t>
            </a:r>
            <a:r>
              <a:rPr lang="en-US" dirty="0"/>
              <a:t> row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243126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radians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422171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  <a:p>
            <a:endParaRPr lang="en-NL" dirty="0"/>
          </a:p>
          <a:p>
            <a:endParaRPr lang="en-NL" dirty="0"/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1254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4 samples (rows) lie in a 2-dimensional subspace in the 3-dimensional </a:t>
            </a:r>
            <a:r>
              <a:rPr lang="en-US" dirty="0" err="1"/>
              <a:t>rowspace</a:t>
            </a:r>
            <a:r>
              <a:rPr lang="en-US" dirty="0"/>
              <a:t> (Rank = 2)</a:t>
            </a:r>
          </a:p>
          <a:p>
            <a:endParaRPr lang="en-US" dirty="0"/>
          </a:p>
          <a:p>
            <a:r>
              <a:rPr lang="en-US" dirty="0"/>
              <a:t>Example: 10 mixtures of 2 compounds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72933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799704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p1 is the direction of the blue dotted line. p1 has a value for X1 and for X2</a:t>
            </a:r>
          </a:p>
          <a:p>
            <a:r>
              <a:rPr lang="en-US" dirty="0"/>
              <a:t>Each value in t points to a different position on that line.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69168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out example of columns of ones X means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378829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373322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 of A is minimum of rows and columns. (or lower if they are dependent).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Rank of B is minimum of rows and columns. (or lower if they are dependent).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Rank of C is minimum of rank of A and B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233566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of columns of X equals number of rows in inv(X) because of the multiplication rule. </a:t>
            </a:r>
          </a:p>
          <a:p>
            <a:endParaRPr lang="en-US" dirty="0"/>
          </a:p>
          <a:p>
            <a:r>
              <a:rPr lang="en-US" dirty="0"/>
              <a:t>Number of rows in X equals number of columns in inv(X) because the product I is square.</a:t>
            </a:r>
          </a:p>
          <a:p>
            <a:endParaRPr lang="en-US" dirty="0"/>
          </a:p>
          <a:p>
            <a:r>
              <a:rPr lang="en-US" dirty="0"/>
              <a:t>As I has ones on full diagonal its rank = I. Thus also X has rank I.</a:t>
            </a:r>
          </a:p>
          <a:p>
            <a:r>
              <a:rPr lang="en-US" dirty="0"/>
              <a:t>AND X</a:t>
            </a:r>
            <a:r>
              <a:rPr lang="en-US" baseline="30000" dirty="0"/>
              <a:t>-1</a:t>
            </a:r>
            <a:r>
              <a:rPr lang="en-US" baseline="0" dirty="0"/>
              <a:t> *X is also I</a:t>
            </a:r>
            <a:endParaRPr lang="en-US" baseline="30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208C-9070-4236-850E-0D92E45CEB2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945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232645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X’y</a:t>
            </a:r>
            <a:r>
              <a:rPr lang="en-US" dirty="0"/>
              <a:t> is inner product of each variable in X and y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900457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Does not matter what y is, the problem is in X</a:t>
            </a:r>
          </a:p>
          <a:p>
            <a:r>
              <a:rPr lang="en-US" dirty="0"/>
              <a:t>X is not full rank!</a:t>
            </a:r>
          </a:p>
          <a:p>
            <a:r>
              <a:rPr lang="en-US" dirty="0"/>
              <a:t>So inverse of X’X does </a:t>
            </a:r>
            <a:r>
              <a:rPr lang="en-US"/>
              <a:t>not exist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0811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Fat matrix as the number of variables &gt;&gt; number of samples</a:t>
            </a:r>
          </a:p>
          <a:p>
            <a:r>
              <a:rPr lang="en-US" dirty="0"/>
              <a:t>The rank of D is only I, but is size is J x J. So inverse does not exist</a:t>
            </a:r>
          </a:p>
          <a:p>
            <a:endParaRPr lang="en-US" dirty="0"/>
          </a:p>
          <a:p>
            <a:r>
              <a:rPr lang="en-US" dirty="0"/>
              <a:t>X*(X’*X)</a:t>
            </a:r>
            <a:r>
              <a:rPr lang="en-US" baseline="30000" dirty="0"/>
              <a:t>-1</a:t>
            </a:r>
            <a:r>
              <a:rPr lang="en-US" dirty="0"/>
              <a:t>*</a:t>
            </a:r>
            <a:r>
              <a:rPr lang="en-US" dirty="0" err="1"/>
              <a:t>X’y</a:t>
            </a:r>
            <a:endParaRPr lang="en-US" dirty="0"/>
          </a:p>
          <a:p>
            <a:r>
              <a:rPr lang="en-US" dirty="0"/>
              <a:t>T*(T’*T)-1*T’Y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270707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208C-9070-4236-850E-0D92E45CEB2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7727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55020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468336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982024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A208C-9070-4236-850E-0D92E45CEB2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3634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37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907543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38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025477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A99F96-6AB2-4F12-8182-81843FE397A1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45498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5221A-419E-4A46-9BB6-56CD34787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C502-AE4B-40A4-9506-1BE8A61C6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C4583-6767-4D7A-AC09-1C4362D6F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099A2-A5AD-4C06-BF1E-670FF446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72C0-53A2-482D-8BFB-E108D90E1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0192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D97B3-88C5-407A-88C1-D28C903D6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88A52-41E3-4925-8F89-C1FF82FDE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1E0D7-2323-4E82-BBCB-3EC6D40C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1371A-71DD-4C20-B2B6-EF44DEF0E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FDC3D-24A5-4AF0-AB24-FDAC4EA85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93968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C598B-C7D7-4D9D-9CF8-4484806A8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D8CA5C-619D-4B1E-8824-C78110F46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8AEFA-EAD4-4EEE-8127-653936CFA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3C464B-837F-47AE-9F4E-A6C87478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E0C30-17A3-4D23-BD74-50713EF85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681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1E4E3-AAF4-4DEE-9333-14A59FFFA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984CC-736B-4A5E-B235-EFDD451FB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0BE5F-6697-469F-8990-B7DDB2137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5FA42-40AA-40E2-A7C6-74633E659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20933-C539-4F6F-9044-9A9FD00E8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CC53E-9FD2-42C5-8B34-DBD1D0D9B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7548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883E2-C492-406D-AE94-C7279EC97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BF8BD-D4FA-4E9E-945A-FCDE91C46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9862B-781B-4939-B40F-BCBB644B5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56A282-08AF-49CF-9CA4-D63DA2EEB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A1749-DB0B-4153-927F-82D133786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D7BB50-7E5D-4A59-AB12-3735718A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A9084F-9DC4-43A7-833D-1968DF12D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AFD767-EE36-4867-AB4B-D79C2899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03095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1F6AD-CCDC-4E4D-AFE2-1666064F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BC4EDD-585F-4A14-8024-C88E3A1FA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F6C33F-BEC2-48B4-BA20-6ACD1330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8E509C-8124-4417-A0F3-7672B434B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83301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BBFBF0-FA63-4284-ADD2-60F5C25D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3571EC-8EFF-40CF-872A-D8D6C8E2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CCED7-60E5-43D0-B4E6-8C65BE84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9772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705FB-B99B-48D6-8817-C335C1282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A48BD-525D-47DA-BA7C-E13B19E1E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446E8-8816-4A19-B6F3-A350A89ED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476AB-3D41-436E-8BEB-A87FFAFD9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CCF0A-9A70-42FC-91F8-4D867617C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F9B0D-4CBC-4DF5-B11E-A7E77EB0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8244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CDA97-FB9F-43AC-A871-AFD25F984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22610-C911-446B-ACFD-A2D52D471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3365C-3EA7-4893-9E0D-435BF8C55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4D4FE-3369-4E40-8F35-CF3BE94BF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C4635-0960-4E97-8761-D67401494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8CEB3-65C0-4317-A26C-9810E4893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28043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117F7-D0CA-4C47-8508-C1D1FE92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898AB1-380A-4EF8-87B3-034EBEB2F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C22A5-E885-48F8-B15D-6F4D0C1D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6C05F-AB6B-4A9C-B8CF-A4C73D6B6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819519-E86A-469E-84CF-C1CDA33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2989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60AEF4-DAD6-4630-851E-178FE6359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9B49A-5403-45A7-AB78-053C9AB018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DCF02-D38C-4E85-B117-EA5B0344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1D816-6C35-4FC1-908B-62EB9BC8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DEFDD-D3D4-4F49-88D4-FA2D05132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55302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538B1-94F1-4DD4-BA82-9D040EBA2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A75D5-9792-4FC9-910B-C7C5F4BA5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37B10-B0FD-464A-91A5-6BB8A9CE5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2D324-1774-4D62-9A3B-BB3429433C2A}" type="datetimeFigureOut">
              <a:rPr lang="en-NL" smtClean="0"/>
              <a:t>24/11/2025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82820-C40A-4DD6-9961-7ACB4DB0E7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728FC-8B08-4D2D-8000-6FB0AB532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80EF9-82A3-4F9D-987E-72A2330A360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50840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70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13.png"/><Relationship Id="rId5" Type="http://schemas.openxmlformats.org/officeDocument/2006/relationships/image" Target="../media/image47.png"/><Relationship Id="rId10" Type="http://schemas.openxmlformats.org/officeDocument/2006/relationships/image" Target="../media/image120.png"/><Relationship Id="rId4" Type="http://schemas.openxmlformats.org/officeDocument/2006/relationships/image" Target="../media/image12.png"/><Relationship Id="rId9" Type="http://schemas.openxmlformats.org/officeDocument/2006/relationships/image" Target="../media/image110.pn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.png"/><Relationship Id="rId3" Type="http://schemas.openxmlformats.org/officeDocument/2006/relationships/image" Target="../media/image34.png"/><Relationship Id="rId7" Type="http://schemas.openxmlformats.org/officeDocument/2006/relationships/image" Target="../media/image3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3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31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6.wmf"/><Relationship Id="rId7" Type="http://schemas.openxmlformats.org/officeDocument/2006/relationships/image" Target="../media/image8.wmf"/><Relationship Id="rId12" Type="http://schemas.openxmlformats.org/officeDocument/2006/relationships/image" Target="../media/image53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9.wm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eatures_(pattern_recognition)" TargetMode="External"/><Relationship Id="rId7" Type="http://schemas.openxmlformats.org/officeDocument/2006/relationships/image" Target="../media/image5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hyperlink" Target="https://en.wikipedia.org/wiki/Petal" TargetMode="External"/><Relationship Id="rId4" Type="http://schemas.openxmlformats.org/officeDocument/2006/relationships/hyperlink" Target="https://en.wikipedia.org/wiki/Sepal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E2B8-D56F-4F67-9A78-5D46EC6F5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230437"/>
          </a:xfrm>
        </p:spPr>
        <p:txBody>
          <a:bodyPr/>
          <a:lstStyle/>
          <a:p>
            <a:r>
              <a:rPr lang="en-US" dirty="0"/>
              <a:t>Linear algebra for </a:t>
            </a:r>
            <a:br>
              <a:rPr lang="en-US" dirty="0"/>
            </a:br>
            <a:r>
              <a:rPr lang="en-US" dirty="0"/>
              <a:t>data analysis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1119BA-2FB7-4717-A17B-F52C2C72E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0493"/>
            <a:ext cx="9144000" cy="1655762"/>
          </a:xfrm>
        </p:spPr>
        <p:txBody>
          <a:bodyPr/>
          <a:lstStyle/>
          <a:p>
            <a:r>
              <a:rPr lang="en-US" dirty="0"/>
              <a:t>Johan Westerhuis</a:t>
            </a:r>
          </a:p>
          <a:p>
            <a:r>
              <a:rPr lang="en-US" dirty="0"/>
              <a:t>Biosystems Data Analysis (BDA)</a:t>
            </a:r>
          </a:p>
          <a:p>
            <a:r>
              <a:rPr lang="en-US" dirty="0"/>
              <a:t>SILS \ </a:t>
            </a:r>
            <a:r>
              <a:rPr lang="en-US" dirty="0" err="1"/>
              <a:t>UvA</a:t>
            </a:r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89CA3AB-F0A2-4E50-B612-27C34A044EF1}"/>
              </a:ext>
            </a:extLst>
          </p:cNvPr>
          <p:cNvSpPr/>
          <p:nvPr/>
        </p:nvSpPr>
        <p:spPr>
          <a:xfrm>
            <a:off x="2206589" y="4023632"/>
            <a:ext cx="7778822" cy="196375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00BBE0-472C-4C46-9D8E-C6A3C1A2FCDA}"/>
              </a:ext>
            </a:extLst>
          </p:cNvPr>
          <p:cNvSpPr/>
          <p:nvPr/>
        </p:nvSpPr>
        <p:spPr>
          <a:xfrm>
            <a:off x="2206589" y="1480892"/>
            <a:ext cx="7778822" cy="202430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3468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0948-589F-5109-F5A7-D8B13110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5879"/>
            <a:ext cx="10515600" cy="1325563"/>
          </a:xfrm>
        </p:spPr>
        <p:txBody>
          <a:bodyPr/>
          <a:lstStyle/>
          <a:p>
            <a:r>
              <a:rPr lang="en-US" dirty="0"/>
              <a:t>Back to the Math syllabus: Linear Algebra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38647-D654-E34D-B45F-27B73D590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1857" cy="4351338"/>
          </a:xfrm>
        </p:spPr>
        <p:txBody>
          <a:bodyPr>
            <a:normAutofit/>
          </a:bodyPr>
          <a:lstStyle/>
          <a:p>
            <a:r>
              <a:rPr lang="en-US" dirty="0"/>
              <a:t>System of linear equations</a:t>
            </a:r>
          </a:p>
          <a:p>
            <a:endParaRPr lang="en-US" dirty="0"/>
          </a:p>
          <a:p>
            <a:r>
              <a:rPr lang="en-US" b="1" dirty="0"/>
              <a:t>Ax</a:t>
            </a:r>
            <a:r>
              <a:rPr lang="en-US" dirty="0"/>
              <a:t> = </a:t>
            </a:r>
            <a:r>
              <a:rPr lang="en-US" b="1" dirty="0"/>
              <a:t>b</a:t>
            </a:r>
          </a:p>
          <a:p>
            <a:r>
              <a:rPr lang="en-US" b="1" dirty="0"/>
              <a:t>Ax</a:t>
            </a:r>
            <a:r>
              <a:rPr lang="en-US" dirty="0"/>
              <a:t> = 0</a:t>
            </a:r>
          </a:p>
          <a:p>
            <a:r>
              <a:rPr lang="en-US" dirty="0"/>
              <a:t>Null space, column space, row space</a:t>
            </a:r>
          </a:p>
          <a:p>
            <a:r>
              <a:rPr lang="en-US" dirty="0"/>
              <a:t>rank</a:t>
            </a:r>
          </a:p>
          <a:p>
            <a:r>
              <a:rPr lang="en-US" dirty="0"/>
              <a:t>inverse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48C1F5-57BE-69BC-E54D-046CF38061B4}"/>
                  </a:ext>
                </a:extLst>
              </p:cNvPr>
              <p:cNvSpPr txBox="1"/>
              <p:nvPr/>
            </p:nvSpPr>
            <p:spPr>
              <a:xfrm>
                <a:off x="7391400" y="1690688"/>
                <a:ext cx="3962400" cy="9037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NL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NL" sz="280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NL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NL" sz="2800" i="0">
                                <a:latin typeface="Cambria Math" panose="02040503050406030204" pitchFamily="18" charset="0"/>
                              </a:rPr>
                              <m:t>−3</m:t>
                            </m:r>
                            <m:r>
                              <a:rPr lang="en-NL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NL" sz="2800" i="0">
                                <a:latin typeface="Cambria Math" panose="02040503050406030204" pitchFamily="18" charset="0"/>
                              </a:rPr>
                              <m:t>=2.5</m:t>
                            </m:r>
                          </m:e>
                        </m:mr>
                        <m:mr>
                          <m:e>
                            <m:r>
                              <a:rPr lang="en-NL" sz="2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NL" sz="2800" i="0">
                                <a:latin typeface="Cambria Math" panose="02040503050406030204" pitchFamily="18" charset="0"/>
                              </a:rPr>
                              <m:t>+4</m:t>
                            </m:r>
                            <m:r>
                              <a:rPr lang="en-NL" sz="28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NL" sz="2800" i="0">
                                <a:latin typeface="Cambria Math" panose="02040503050406030204" pitchFamily="18" charset="0"/>
                              </a:rPr>
                              <m:t>=4</m:t>
                            </m:r>
                          </m:e>
                        </m:mr>
                      </m:m>
                    </m:oMath>
                  </m:oMathPara>
                </a14:m>
                <a:endParaRPr lang="en-NL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648C1F5-57BE-69BC-E54D-046CF38061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400" y="1690688"/>
                <a:ext cx="3962400" cy="9037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graph of a function&#10;&#10;Description automatically generated">
            <a:extLst>
              <a:ext uri="{FF2B5EF4-FFF2-40B4-BE49-F238E27FC236}">
                <a16:creationId xmlns:a16="http://schemas.microsoft.com/office/drawing/2014/main" id="{453C9F57-4DEF-98BC-DB44-DEDFCEB5F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050" y="3228980"/>
            <a:ext cx="5061856" cy="314995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5694D0-2E29-42B6-4161-4A25C6155D07}"/>
              </a:ext>
            </a:extLst>
          </p:cNvPr>
          <p:cNvSpPr/>
          <p:nvPr/>
        </p:nvSpPr>
        <p:spPr>
          <a:xfrm>
            <a:off x="6808107" y="1552575"/>
            <a:ext cx="5121279" cy="48101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BF317A-6FB6-68C0-3D3D-E59618B1077E}"/>
              </a:ext>
            </a:extLst>
          </p:cNvPr>
          <p:cNvSpPr/>
          <p:nvPr/>
        </p:nvSpPr>
        <p:spPr>
          <a:xfrm>
            <a:off x="202174" y="1546206"/>
            <a:ext cx="5893826" cy="4810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286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5799B-6D2A-2A82-6777-B51DEBCF3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125" y="133645"/>
            <a:ext cx="10515600" cy="1325563"/>
          </a:xfrm>
        </p:spPr>
        <p:txBody>
          <a:bodyPr/>
          <a:lstStyle/>
          <a:p>
            <a:r>
              <a:rPr lang="en-US" dirty="0"/>
              <a:t>Learning goals of today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16097-060A-A4E9-74A2-A5B84E57D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16895" y="1459208"/>
            <a:ext cx="6977879" cy="4351338"/>
          </a:xfrm>
        </p:spPr>
        <p:txBody>
          <a:bodyPr>
            <a:normAutofit fontScale="92500"/>
          </a:bodyPr>
          <a:lstStyle/>
          <a:p>
            <a:r>
              <a:rPr lang="en-US"/>
              <a:t>Understand </a:t>
            </a:r>
            <a:r>
              <a:rPr lang="en-US" dirty="0"/>
              <a:t>the concepts column space, Null space, rank, </a:t>
            </a:r>
            <a:r>
              <a:rPr lang="en-US" dirty="0" err="1"/>
              <a:t>etc</a:t>
            </a:r>
            <a:r>
              <a:rPr lang="en-US" dirty="0"/>
              <a:t> related to measured data sets.</a:t>
            </a:r>
          </a:p>
          <a:p>
            <a:r>
              <a:rPr lang="en-US" dirty="0"/>
              <a:t>Understand the difference between samples</a:t>
            </a:r>
          </a:p>
          <a:p>
            <a:pPr lvl="1"/>
            <a:r>
              <a:rPr lang="en-US" dirty="0"/>
              <a:t>Are there groups or are all samples replicates of each other?</a:t>
            </a:r>
          </a:p>
          <a:p>
            <a:r>
              <a:rPr lang="en-US" dirty="0"/>
              <a:t>Understand the difference between variables</a:t>
            </a:r>
          </a:p>
          <a:p>
            <a:pPr lvl="1"/>
            <a:r>
              <a:rPr lang="en-US" dirty="0"/>
              <a:t>What is the biological relationship between the variables</a:t>
            </a:r>
          </a:p>
          <a:p>
            <a:pPr lvl="1"/>
            <a:r>
              <a:rPr lang="en-US" dirty="0"/>
              <a:t>What is the correlation between variables</a:t>
            </a:r>
          </a:p>
          <a:p>
            <a:pPr lvl="1"/>
            <a:r>
              <a:rPr lang="en-US" dirty="0"/>
              <a:t>What is the relationship between variables and the response?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7B7B8B-C2CA-DAFB-DCE6-AD9C14EC4934}"/>
              </a:ext>
            </a:extLst>
          </p:cNvPr>
          <p:cNvSpPr/>
          <p:nvPr/>
        </p:nvSpPr>
        <p:spPr>
          <a:xfrm>
            <a:off x="577000" y="2306655"/>
            <a:ext cx="476250" cy="495056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C95D19-F58B-54FE-E221-B6FFA6C4D302}"/>
              </a:ext>
            </a:extLst>
          </p:cNvPr>
          <p:cNvSpPr/>
          <p:nvPr/>
        </p:nvSpPr>
        <p:spPr>
          <a:xfrm>
            <a:off x="592692" y="3490748"/>
            <a:ext cx="476250" cy="37898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en-N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F11D4-C655-E1D5-7D71-DB85CB1A5B44}"/>
              </a:ext>
            </a:extLst>
          </p:cNvPr>
          <p:cNvSpPr/>
          <p:nvPr/>
        </p:nvSpPr>
        <p:spPr>
          <a:xfrm>
            <a:off x="1571625" y="2306655"/>
            <a:ext cx="3188677" cy="1563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(X)</a:t>
            </a:r>
            <a:endParaRPr lang="en-NL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433CD3-FDB6-C7A1-203A-D1DE61F483F9}"/>
              </a:ext>
            </a:extLst>
          </p:cNvPr>
          <p:cNvSpPr txBox="1"/>
          <p:nvPr/>
        </p:nvSpPr>
        <p:spPr>
          <a:xfrm rot="16200000">
            <a:off x="830485" y="3202401"/>
            <a:ext cx="965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Samples</a:t>
            </a:r>
            <a:endParaRPr lang="en-NL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3BEA9-CF42-16DE-6D71-26B99D4790D1}"/>
              </a:ext>
            </a:extLst>
          </p:cNvPr>
          <p:cNvSpPr txBox="1"/>
          <p:nvPr/>
        </p:nvSpPr>
        <p:spPr>
          <a:xfrm>
            <a:off x="1828219" y="1937323"/>
            <a:ext cx="2999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Variable (metabolites / genes)</a:t>
            </a:r>
            <a:endParaRPr lang="en-NL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737507-19B6-5808-53AF-D78D1AA2DC98}"/>
              </a:ext>
            </a:extLst>
          </p:cNvPr>
          <p:cNvCxnSpPr/>
          <p:nvPr/>
        </p:nvCxnSpPr>
        <p:spPr>
          <a:xfrm>
            <a:off x="1571625" y="2515961"/>
            <a:ext cx="31886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441AF14-C42D-3287-4FEA-F761C423E49E}"/>
              </a:ext>
            </a:extLst>
          </p:cNvPr>
          <p:cNvCxnSpPr>
            <a:cxnSpLocks/>
          </p:cNvCxnSpPr>
          <p:nvPr/>
        </p:nvCxnSpPr>
        <p:spPr>
          <a:xfrm flipV="1">
            <a:off x="1943100" y="2306655"/>
            <a:ext cx="0" cy="15630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477F6B0-C621-6FF1-61F8-F45605E214CC}"/>
              </a:ext>
            </a:extLst>
          </p:cNvPr>
          <p:cNvSpPr/>
          <p:nvPr/>
        </p:nvSpPr>
        <p:spPr>
          <a:xfrm>
            <a:off x="592692" y="2306655"/>
            <a:ext cx="476250" cy="1563077"/>
          </a:xfrm>
          <a:prstGeom prst="rect">
            <a:avLst/>
          </a:prstGeom>
          <a:solidFill>
            <a:schemeClr val="accent1">
              <a:alpha val="4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dirty="0"/>
              <a:t>Response (Y)</a:t>
            </a:r>
            <a:endParaRPr lang="en-NL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EA6737-2E96-0377-E23F-44CE73CF49DC}"/>
              </a:ext>
            </a:extLst>
          </p:cNvPr>
          <p:cNvCxnSpPr/>
          <p:nvPr/>
        </p:nvCxnSpPr>
        <p:spPr>
          <a:xfrm>
            <a:off x="1129783" y="2420711"/>
            <a:ext cx="39052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00085CA-C3AA-AE0E-3954-2222BC8E4195}"/>
              </a:ext>
            </a:extLst>
          </p:cNvPr>
          <p:cNvCxnSpPr/>
          <p:nvPr/>
        </p:nvCxnSpPr>
        <p:spPr>
          <a:xfrm>
            <a:off x="1120258" y="2573111"/>
            <a:ext cx="390525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337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4033-52E1-4A89-A616-484FD8B4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174130"/>
            <a:ext cx="10515600" cy="766446"/>
          </a:xfrm>
        </p:spPr>
        <p:txBody>
          <a:bodyPr>
            <a:normAutofit/>
          </a:bodyPr>
          <a:lstStyle/>
          <a:p>
            <a:r>
              <a:rPr lang="en-US" dirty="0"/>
              <a:t>Starring: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5A838-96E0-4F78-853C-4D2F5DA9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401" y="1449452"/>
            <a:ext cx="7496175" cy="503442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X</a:t>
            </a:r>
            <a:r>
              <a:rPr lang="en-US" dirty="0"/>
              <a:t>: data matrix (</a:t>
            </a:r>
            <a:r>
              <a:rPr lang="en-US" i="1" dirty="0"/>
              <a:t>I</a:t>
            </a:r>
            <a:r>
              <a:rPr lang="en-US" dirty="0"/>
              <a:t> x </a:t>
            </a:r>
            <a:r>
              <a:rPr lang="en-US" i="1" dirty="0"/>
              <a:t>J</a:t>
            </a:r>
            <a:r>
              <a:rPr lang="en-US" dirty="0"/>
              <a:t>) e.g. Omics information </a:t>
            </a:r>
          </a:p>
          <a:p>
            <a:pPr lvl="1"/>
            <a:r>
              <a:rPr lang="en-US" i="1" dirty="0"/>
              <a:t>I</a:t>
            </a:r>
            <a:r>
              <a:rPr lang="en-US" dirty="0"/>
              <a:t> samples</a:t>
            </a:r>
            <a:endParaRPr lang="en-US" i="1" dirty="0"/>
          </a:p>
          <a:p>
            <a:pPr lvl="1"/>
            <a:r>
              <a:rPr lang="en-US" i="1" dirty="0"/>
              <a:t>J</a:t>
            </a:r>
            <a:r>
              <a:rPr lang="en-US" dirty="0"/>
              <a:t> variables</a:t>
            </a:r>
          </a:p>
          <a:p>
            <a:pPr lvl="1"/>
            <a:r>
              <a:rPr lang="en-US" dirty="0"/>
              <a:t>Things you know of a new sample</a:t>
            </a:r>
          </a:p>
          <a:p>
            <a:r>
              <a:rPr lang="en-US" b="1" dirty="0" err="1"/>
              <a:t>x</a:t>
            </a:r>
            <a:r>
              <a:rPr lang="en-US" baseline="-25000" dirty="0" err="1"/>
              <a:t>.j</a:t>
            </a:r>
            <a:r>
              <a:rPr lang="en-US" dirty="0"/>
              <a:t>: </a:t>
            </a:r>
            <a:r>
              <a:rPr lang="en-US" dirty="0" err="1"/>
              <a:t>j</a:t>
            </a:r>
            <a:r>
              <a:rPr lang="en-US" baseline="30000" dirty="0" err="1"/>
              <a:t>th</a:t>
            </a:r>
            <a:r>
              <a:rPr lang="en-US" dirty="0"/>
              <a:t> column of </a:t>
            </a:r>
            <a:r>
              <a:rPr lang="en-US" b="1" dirty="0"/>
              <a:t>X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j</a:t>
            </a:r>
            <a:r>
              <a:rPr lang="en-US" baseline="30000" dirty="0" err="1"/>
              <a:t>th</a:t>
            </a:r>
            <a:r>
              <a:rPr lang="en-US" dirty="0"/>
              <a:t> variable measured for all </a:t>
            </a:r>
            <a:r>
              <a:rPr lang="en-US" i="1" dirty="0"/>
              <a:t>I</a:t>
            </a:r>
            <a:r>
              <a:rPr lang="en-US" dirty="0"/>
              <a:t> samples</a:t>
            </a:r>
            <a:endParaRPr lang="en-US" b="1" dirty="0"/>
          </a:p>
          <a:p>
            <a:r>
              <a:rPr lang="en-US" b="1" dirty="0"/>
              <a:t>x</a:t>
            </a:r>
            <a:r>
              <a:rPr lang="en-US" baseline="-25000" dirty="0"/>
              <a:t>i.</a:t>
            </a:r>
            <a:r>
              <a:rPr lang="en-US" dirty="0"/>
              <a:t>: </a:t>
            </a:r>
            <a:r>
              <a:rPr lang="en-US" dirty="0" err="1"/>
              <a:t>i</a:t>
            </a:r>
            <a:r>
              <a:rPr lang="en-US" baseline="30000" dirty="0" err="1"/>
              <a:t>th</a:t>
            </a:r>
            <a:r>
              <a:rPr lang="en-US" dirty="0"/>
              <a:t> row of </a:t>
            </a:r>
            <a:r>
              <a:rPr lang="en-US" b="1" dirty="0"/>
              <a:t>X</a:t>
            </a:r>
          </a:p>
          <a:p>
            <a:pPr lvl="1"/>
            <a:r>
              <a:rPr lang="en-US" dirty="0"/>
              <a:t>All </a:t>
            </a:r>
            <a:r>
              <a:rPr lang="en-US" i="1" dirty="0"/>
              <a:t>J</a:t>
            </a:r>
            <a:r>
              <a:rPr lang="en-US" dirty="0"/>
              <a:t> variables measured for sample </a:t>
            </a:r>
            <a:r>
              <a:rPr lang="en-US" i="1" dirty="0"/>
              <a:t>i</a:t>
            </a:r>
          </a:p>
          <a:p>
            <a:r>
              <a:rPr lang="en-US" i="1" dirty="0" err="1"/>
              <a:t>x</a:t>
            </a:r>
            <a:r>
              <a:rPr lang="en-US" i="1" baseline="-25000" dirty="0" err="1"/>
              <a:t>ij</a:t>
            </a:r>
            <a:r>
              <a:rPr lang="en-US" sz="2400" dirty="0"/>
              <a:t>: single measurement of variable j for sample i</a:t>
            </a:r>
            <a:endParaRPr lang="en-US" dirty="0"/>
          </a:p>
          <a:p>
            <a:r>
              <a:rPr lang="en-US" b="1" dirty="0"/>
              <a:t>y</a:t>
            </a:r>
            <a:r>
              <a:rPr lang="en-US" dirty="0"/>
              <a:t>: phenotypic property (</a:t>
            </a:r>
            <a:r>
              <a:rPr lang="en-US" i="1" dirty="0"/>
              <a:t>I</a:t>
            </a:r>
            <a:r>
              <a:rPr lang="en-US" dirty="0"/>
              <a:t> x 1)</a:t>
            </a:r>
          </a:p>
          <a:p>
            <a:pPr lvl="1"/>
            <a:r>
              <a:rPr lang="en-US" dirty="0"/>
              <a:t>Response, expensive</a:t>
            </a:r>
          </a:p>
          <a:p>
            <a:pPr lvl="1"/>
            <a:r>
              <a:rPr lang="en-US" dirty="0"/>
              <a:t>Sometimes multiple responses: </a:t>
            </a:r>
            <a:r>
              <a:rPr lang="en-US" b="1" dirty="0"/>
              <a:t>Y </a:t>
            </a:r>
            <a:r>
              <a:rPr lang="en-US" dirty="0"/>
              <a:t>(</a:t>
            </a:r>
            <a:r>
              <a:rPr lang="en-US" i="1" dirty="0"/>
              <a:t>I </a:t>
            </a:r>
            <a:r>
              <a:rPr lang="en-US" dirty="0"/>
              <a:t>x </a:t>
            </a:r>
            <a:r>
              <a:rPr lang="en-US" i="1" dirty="0"/>
              <a:t>K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446B21-694E-4E72-9738-C617838509EF}"/>
              </a:ext>
            </a:extLst>
          </p:cNvPr>
          <p:cNvSpPr/>
          <p:nvPr/>
        </p:nvSpPr>
        <p:spPr>
          <a:xfrm>
            <a:off x="9395303" y="1825625"/>
            <a:ext cx="1548921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11BB54-69A5-42C8-BED4-701B487244FB}"/>
              </a:ext>
            </a:extLst>
          </p:cNvPr>
          <p:cNvCxnSpPr/>
          <p:nvPr/>
        </p:nvCxnSpPr>
        <p:spPr>
          <a:xfrm>
            <a:off x="9395303" y="5157584"/>
            <a:ext cx="0" cy="864096"/>
          </a:xfrm>
          <a:prstGeom prst="line">
            <a:avLst/>
          </a:prstGeom>
          <a:ln w="76200" cmpd="sng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7CB15CC-D5F5-456C-8E91-B4F26EF68323}"/>
              </a:ext>
            </a:extLst>
          </p:cNvPr>
          <p:cNvCxnSpPr>
            <a:cxnSpLocks/>
          </p:cNvCxnSpPr>
          <p:nvPr/>
        </p:nvCxnSpPr>
        <p:spPr>
          <a:xfrm flipH="1">
            <a:off x="9361965" y="4486374"/>
            <a:ext cx="161194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96969E6-D6C4-44AB-8DC9-8F355D80D8D9}"/>
              </a:ext>
            </a:extLst>
          </p:cNvPr>
          <p:cNvSpPr/>
          <p:nvPr/>
        </p:nvSpPr>
        <p:spPr>
          <a:xfrm>
            <a:off x="8820150" y="1328275"/>
            <a:ext cx="2695575" cy="503442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0F506D2-36AB-4D62-BDCA-5BDFBF117501}"/>
              </a:ext>
            </a:extLst>
          </p:cNvPr>
          <p:cNvSpPr/>
          <p:nvPr/>
        </p:nvSpPr>
        <p:spPr>
          <a:xfrm>
            <a:off x="202174" y="1321904"/>
            <a:ext cx="7778822" cy="503442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88F6CA-2A3F-466F-8592-BF14ECEF1F86}"/>
              </a:ext>
            </a:extLst>
          </p:cNvPr>
          <p:cNvSpPr txBox="1"/>
          <p:nvPr/>
        </p:nvSpPr>
        <p:spPr>
          <a:xfrm>
            <a:off x="9173529" y="5852236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61AF9-D258-4561-B5E2-B52AC15EC260}"/>
              </a:ext>
            </a:extLst>
          </p:cNvPr>
          <p:cNvSpPr txBox="1"/>
          <p:nvPr/>
        </p:nvSpPr>
        <p:spPr>
          <a:xfrm>
            <a:off x="11045844" y="1590811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A8A782-0423-4EE6-A432-8533B220CF3F}"/>
              </a:ext>
            </a:extLst>
          </p:cNvPr>
          <p:cNvSpPr txBox="1"/>
          <p:nvPr/>
        </p:nvSpPr>
        <p:spPr>
          <a:xfrm>
            <a:off x="9217072" y="2508908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99D748-982A-49C0-96A5-94F2866E3F34}"/>
              </a:ext>
            </a:extLst>
          </p:cNvPr>
          <p:cNvSpPr txBox="1"/>
          <p:nvPr/>
        </p:nvSpPr>
        <p:spPr>
          <a:xfrm>
            <a:off x="11058760" y="4267982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4E01EA-E1A6-7237-5002-AAEF98583208}"/>
              </a:ext>
            </a:extLst>
          </p:cNvPr>
          <p:cNvSpPr/>
          <p:nvPr/>
        </p:nvSpPr>
        <p:spPr>
          <a:xfrm>
            <a:off x="10199916" y="5157584"/>
            <a:ext cx="906611" cy="864096"/>
          </a:xfrm>
          <a:prstGeom prst="rect">
            <a:avLst/>
          </a:prstGeom>
          <a:solidFill>
            <a:schemeClr val="bg1"/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1575E9F-7EE7-C579-3440-6F4D7B3489DD}"/>
              </a:ext>
            </a:extLst>
          </p:cNvPr>
          <p:cNvSpPr txBox="1"/>
          <p:nvPr/>
        </p:nvSpPr>
        <p:spPr>
          <a:xfrm>
            <a:off x="9940767" y="5837014"/>
            <a:ext cx="173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/>
              <a:t>I</a:t>
            </a:r>
            <a:endParaRPr lang="en-US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12A534-3A3C-E930-F196-BB1F17380213}"/>
              </a:ext>
            </a:extLst>
          </p:cNvPr>
          <p:cNvSpPr txBox="1"/>
          <p:nvPr/>
        </p:nvSpPr>
        <p:spPr>
          <a:xfrm>
            <a:off x="11113129" y="4860304"/>
            <a:ext cx="157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K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0F39A4-7CFB-58C6-ED9E-30419F0C1E6E}"/>
              </a:ext>
            </a:extLst>
          </p:cNvPr>
          <p:cNvCxnSpPr/>
          <p:nvPr/>
        </p:nvCxnSpPr>
        <p:spPr>
          <a:xfrm>
            <a:off x="9395303" y="3093541"/>
            <a:ext cx="0" cy="864096"/>
          </a:xfrm>
          <a:prstGeom prst="line">
            <a:avLst/>
          </a:prstGeom>
          <a:ln w="762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E67342B-FE81-9AC1-84EF-E83E03E40C0A}"/>
              </a:ext>
            </a:extLst>
          </p:cNvPr>
          <p:cNvSpPr txBox="1"/>
          <p:nvPr/>
        </p:nvSpPr>
        <p:spPr>
          <a:xfrm>
            <a:off x="9145311" y="3785136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</a:t>
            </a:r>
            <a:endParaRPr lang="en-NL" i="1" dirty="0"/>
          </a:p>
        </p:txBody>
      </p:sp>
    </p:spTree>
    <p:extLst>
      <p:ext uri="{BB962C8B-B14F-4D97-AF65-F5344CB8AC3E}">
        <p14:creationId xmlns:p14="http://schemas.microsoft.com/office/powerpoint/2010/main" val="166923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455" y="219017"/>
            <a:ext cx="10515600" cy="565303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Algebra: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25625"/>
                <a:ext cx="7181850" cy="418329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Scalar: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i="1" dirty="0"/>
                  <a:t> (italic regular)</a:t>
                </a:r>
                <a:endParaRPr lang="en-US" sz="2400" i="1" baseline="-25000" dirty="0"/>
              </a:p>
              <a:p>
                <a:r>
                  <a:rPr lang="en-US" sz="2400" dirty="0"/>
                  <a:t>Vector: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i="1" dirty="0"/>
                  <a:t>I</a:t>
                </a:r>
                <a:r>
                  <a:rPr lang="en-US" sz="2400" dirty="0"/>
                  <a:t> rows);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=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/>
                  <a:t>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]</a:t>
                </a:r>
                <a:r>
                  <a:rPr lang="en-US" sz="2400" baseline="30000" dirty="0"/>
                  <a:t>T</a:t>
                </a:r>
                <a:r>
                  <a:rPr lang="en-US" sz="2400" dirty="0"/>
                  <a:t>, for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 = 1:I</a:t>
                </a:r>
                <a:r>
                  <a:rPr lang="en-US" sz="2400" i="1" dirty="0"/>
                  <a:t>	</a:t>
                </a:r>
                <a:r>
                  <a:rPr lang="en-US" sz="2400" b="1" dirty="0"/>
                  <a:t>bold</a:t>
                </a:r>
                <a:endParaRPr lang="en-US" sz="2400" b="1" baseline="-25000" dirty="0"/>
              </a:p>
              <a:p>
                <a:r>
                  <a:rPr lang="en-US" sz="2400" dirty="0"/>
                  <a:t>Matrix: </a:t>
                </a:r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400" dirty="0"/>
                  <a:t>(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400" dirty="0"/>
                  <a:t> rows x </a:t>
                </a:r>
                <a:r>
                  <a:rPr lang="en-US" sz="24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400" dirty="0"/>
                  <a:t> columns); 		</a:t>
                </a:r>
                <a:r>
                  <a:rPr lang="en-US" sz="2400" b="1" dirty="0"/>
                  <a:t>capital bold</a:t>
                </a:r>
              </a:p>
              <a:p>
                <a:pPr lvl="1"/>
                <a:r>
                  <a:rPr lang="en-US" sz="20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000" i="1" baseline="-25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ij</a:t>
                </a:r>
                <a:r>
                  <a:rPr lang="en-US" sz="2000" dirty="0"/>
                  <a:t> is element at position row </a:t>
                </a:r>
                <a:r>
                  <a:rPr lang="en-US" sz="2000" i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i</a:t>
                </a:r>
                <a:r>
                  <a:rPr lang="en-US" sz="2000" dirty="0"/>
                  <a:t>, column </a:t>
                </a:r>
                <a:r>
                  <a:rPr lang="en-US" sz="2000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</a:t>
                </a:r>
                <a:r>
                  <a:rPr lang="en-US" sz="2000" dirty="0"/>
                  <a:t> in </a:t>
                </a:r>
                <a:r>
                  <a:rPr lang="en-US" sz="20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</a:p>
              <a:p>
                <a:r>
                  <a:rPr lang="en-US" sz="2400" b="1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  <a:r>
                  <a:rPr lang="en-US" sz="2400" i="1" baseline="300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sz="2400" dirty="0"/>
                  <a:t> = transpose of </a:t>
                </a:r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y</a:t>
                </a:r>
              </a:p>
              <a:p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400" i="1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</a:t>
                </a:r>
                <a:r>
                  <a:rPr lang="en-US" sz="2400" dirty="0"/>
                  <a:t> = transpose of </a:t>
                </a:r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</a:p>
              <a:p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  <a:r>
                  <a:rPr lang="en-US" sz="24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  <a:r>
                  <a:rPr lang="en-US" sz="2400" dirty="0"/>
                  <a:t> = inverse of </a:t>
                </a:r>
                <a:r>
                  <a:rPr lang="en-US" sz="2400" b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</a:t>
                </a:r>
              </a:p>
              <a:p>
                <a:endParaRPr lang="en-US" sz="2400" b="1" dirty="0"/>
              </a:p>
              <a:p>
                <a:r>
                  <a:rPr lang="en-US" sz="2400" b="1" dirty="0" err="1"/>
                  <a:t>Youtube</a:t>
                </a:r>
                <a:r>
                  <a:rPr lang="en-US" sz="2400" dirty="0"/>
                  <a:t>: The essence of linear algebra (3Blue1Brown)</a:t>
                </a:r>
              </a:p>
              <a:p>
                <a:r>
                  <a:rPr lang="en-US" sz="2400" dirty="0"/>
                  <a:t>- chapters 1, 2, 3, 4, 6, 7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25625"/>
                <a:ext cx="7181850" cy="4183290"/>
              </a:xfrm>
              <a:blipFill>
                <a:blip r:embed="rId3"/>
                <a:stretch>
                  <a:fillRect l="-1104" t="-2766" r="-849" b="-14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511956" y="2338011"/>
                <a:ext cx="899284" cy="7326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56" y="2338011"/>
                <a:ext cx="899284" cy="7326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511956" y="3328820"/>
                <a:ext cx="1530291" cy="492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56" y="3328820"/>
                <a:ext cx="1530291" cy="4929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372922" y="1799068"/>
                <a:ext cx="15872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7.2134</m:t>
                          </m:r>
                        </m:e>
                      </m:d>
                    </m:oMath>
                  </m:oMathPara>
                </a14:m>
                <a:endParaRPr lang="en-US" sz="16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922" y="1799068"/>
                <a:ext cx="158729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C34144-2F21-41E9-8406-BE0263EB9ACC}"/>
              </a:ext>
            </a:extLst>
          </p:cNvPr>
          <p:cNvSpPr/>
          <p:nvPr/>
        </p:nvSpPr>
        <p:spPr>
          <a:xfrm>
            <a:off x="8820150" y="1552575"/>
            <a:ext cx="2695575" cy="48101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DCDAADA-28EA-4EEA-819F-413F800DBF63}"/>
              </a:ext>
            </a:extLst>
          </p:cNvPr>
          <p:cNvSpPr/>
          <p:nvPr/>
        </p:nvSpPr>
        <p:spPr>
          <a:xfrm>
            <a:off x="202174" y="1546206"/>
            <a:ext cx="7778822" cy="4810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F39BE-E4CD-4D2E-B064-E5C313B72388}"/>
                  </a:ext>
                </a:extLst>
              </p:cNvPr>
              <p:cNvSpPr txBox="1"/>
              <p:nvPr/>
            </p:nvSpPr>
            <p:spPr>
              <a:xfrm>
                <a:off x="9511956" y="5125202"/>
                <a:ext cx="1296252" cy="732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F39BE-E4CD-4D2E-B064-E5C313B72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56" y="5125202"/>
                <a:ext cx="1296252" cy="7326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5FD985-5B71-401A-A662-CCAE352B4433}"/>
                  </a:ext>
                </a:extLst>
              </p:cNvPr>
              <p:cNvSpPr txBox="1"/>
              <p:nvPr/>
            </p:nvSpPr>
            <p:spPr>
              <a:xfrm>
                <a:off x="9366245" y="4446266"/>
                <a:ext cx="1603383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C5FD985-5B71-401A-A662-CCAE352B4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6245" y="4446266"/>
                <a:ext cx="1603383" cy="276999"/>
              </a:xfrm>
              <a:prstGeom prst="rect">
                <a:avLst/>
              </a:prstGeom>
              <a:blipFill>
                <a:blip r:embed="rId8"/>
                <a:stretch>
                  <a:fillRect l="-3802" t="-4348" b="-2391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3606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DB65D-D160-4F5C-80D6-451430EDF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161674"/>
            <a:ext cx="10515600" cy="848457"/>
          </a:xfrm>
        </p:spPr>
        <p:txBody>
          <a:bodyPr/>
          <a:lstStyle/>
          <a:p>
            <a:r>
              <a:rPr lang="en-US" dirty="0"/>
              <a:t>Regression equation / Linear model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66AC80-8FAF-4125-BCDA-3FB8E914EF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3394" y="1496531"/>
                <a:ext cx="6174606" cy="4351338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J</a:t>
                </a:r>
                <a:r>
                  <a:rPr lang="en-US" dirty="0"/>
                  <a:t> metabolites measured of </a:t>
                </a:r>
                <a:r>
                  <a:rPr lang="en-US" i="1" dirty="0"/>
                  <a:t>I</a:t>
                </a:r>
                <a:r>
                  <a:rPr lang="en-US" dirty="0"/>
                  <a:t> subjects (</a:t>
                </a:r>
                <a:r>
                  <a:rPr lang="en-US" b="1" dirty="0"/>
                  <a:t>X</a:t>
                </a:r>
                <a:r>
                  <a:rPr lang="en-US" dirty="0"/>
                  <a:t>) to predict complex phenotypic property (</a:t>
                </a:r>
                <a:r>
                  <a:rPr lang="en-US" b="1" dirty="0"/>
                  <a:t>y</a:t>
                </a:r>
                <a:r>
                  <a:rPr lang="en-US" dirty="0"/>
                  <a:t>). Prediction error (residual) </a:t>
                </a:r>
                <a:r>
                  <a:rPr lang="en-US" b="1" dirty="0"/>
                  <a:t>e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sup>
                      <m:e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𝐗𝐛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𝐞</m:t>
                    </m:r>
                  </m:oMath>
                </a14:m>
                <a:endParaRPr lang="en-US" b="1" dirty="0"/>
              </a:p>
              <a:p>
                <a:endParaRPr lang="en-US" i="1" dirty="0"/>
              </a:p>
              <a:p>
                <a:endParaRPr lang="en-US" dirty="0"/>
              </a:p>
              <a:p>
                <a:endParaRPr lang="en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66AC80-8FAF-4125-BCDA-3FB8E914EF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3394" y="1496531"/>
                <a:ext cx="6174606" cy="4351338"/>
              </a:xfrm>
              <a:blipFill>
                <a:blip r:embed="rId3"/>
                <a:stretch>
                  <a:fillRect l="-1777" t="-2241" r="-306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823FCF80-9E70-4A90-AFFF-9A86362111D2}"/>
              </a:ext>
            </a:extLst>
          </p:cNvPr>
          <p:cNvSpPr/>
          <p:nvPr/>
        </p:nvSpPr>
        <p:spPr>
          <a:xfrm>
            <a:off x="8311256" y="3429000"/>
            <a:ext cx="2376264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DCC542-DF32-4619-BB0C-1070B1BFE70D}"/>
              </a:ext>
            </a:extLst>
          </p:cNvPr>
          <p:cNvCxnSpPr/>
          <p:nvPr/>
        </p:nvCxnSpPr>
        <p:spPr>
          <a:xfrm>
            <a:off x="7858936" y="342900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B62C5F-5D36-451F-B506-EEA4AD5E01CA}"/>
              </a:ext>
            </a:extLst>
          </p:cNvPr>
          <p:cNvCxnSpPr/>
          <p:nvPr/>
        </p:nvCxnSpPr>
        <p:spPr>
          <a:xfrm>
            <a:off x="8311256" y="3056974"/>
            <a:ext cx="237626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08723E-1D5C-4CC3-8BE9-03EF89F83EFB}"/>
              </a:ext>
            </a:extLst>
          </p:cNvPr>
          <p:cNvSpPr txBox="1"/>
          <p:nvPr/>
        </p:nvSpPr>
        <p:spPr>
          <a:xfrm>
            <a:off x="8034468" y="4192240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368291-580F-4C36-97CC-86690C95F0AE}"/>
              </a:ext>
            </a:extLst>
          </p:cNvPr>
          <p:cNvSpPr txBox="1"/>
          <p:nvPr/>
        </p:nvSpPr>
        <p:spPr>
          <a:xfrm>
            <a:off x="10804974" y="3059668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6C9E6E-F173-4BF9-AD75-C034841D405B}"/>
              </a:ext>
            </a:extLst>
          </p:cNvPr>
          <p:cNvSpPr/>
          <p:nvPr/>
        </p:nvSpPr>
        <p:spPr>
          <a:xfrm>
            <a:off x="7526956" y="1269068"/>
            <a:ext cx="4071486" cy="48101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9A3495F-86B8-4DF0-B9D3-30A5DD628D29}"/>
              </a:ext>
            </a:extLst>
          </p:cNvPr>
          <p:cNvSpPr/>
          <p:nvPr/>
        </p:nvSpPr>
        <p:spPr>
          <a:xfrm>
            <a:off x="323850" y="1262699"/>
            <a:ext cx="6745702" cy="4810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07164C-1322-4DA4-8E94-3442CEE7B716}"/>
              </a:ext>
            </a:extLst>
          </p:cNvPr>
          <p:cNvSpPr txBox="1"/>
          <p:nvPr/>
        </p:nvSpPr>
        <p:spPr>
          <a:xfrm>
            <a:off x="7705414" y="2985397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</a:t>
            </a:r>
            <a:endParaRPr lang="en-NL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59559-3A79-4AEA-9A9E-CCC676D80DC7}"/>
              </a:ext>
            </a:extLst>
          </p:cNvPr>
          <p:cNvSpPr txBox="1"/>
          <p:nvPr/>
        </p:nvSpPr>
        <p:spPr>
          <a:xfrm>
            <a:off x="11079218" y="305697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  <a:endParaRPr lang="en-NL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5579AD-3471-4973-9838-C77860E58955}"/>
              </a:ext>
            </a:extLst>
          </p:cNvPr>
          <p:cNvSpPr txBox="1"/>
          <p:nvPr/>
        </p:nvSpPr>
        <p:spPr>
          <a:xfrm>
            <a:off x="9414261" y="2616065"/>
            <a:ext cx="385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b</a:t>
            </a:r>
            <a:r>
              <a:rPr lang="en-US" baseline="30000" dirty="0" err="1"/>
              <a:t>T</a:t>
            </a:r>
            <a:endParaRPr lang="en-NL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EA7E03-C0B2-49DF-A7E0-B3042062D9FB}"/>
              </a:ext>
            </a:extLst>
          </p:cNvPr>
          <p:cNvSpPr txBox="1"/>
          <p:nvPr/>
        </p:nvSpPr>
        <p:spPr>
          <a:xfrm>
            <a:off x="9414261" y="363728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endParaRPr lang="en-NL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646AEB-E78D-4588-8C1C-A72D74422A02}"/>
              </a:ext>
            </a:extLst>
          </p:cNvPr>
          <p:cNvSpPr/>
          <p:nvPr/>
        </p:nvSpPr>
        <p:spPr>
          <a:xfrm>
            <a:off x="11194535" y="3445793"/>
            <a:ext cx="69447" cy="84730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9500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B7CF-51EF-4CE8-BC21-0587D9F7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60351"/>
            <a:ext cx="10515600" cy="635000"/>
          </a:xfrm>
        </p:spPr>
        <p:txBody>
          <a:bodyPr>
            <a:normAutofit fontScale="90000"/>
          </a:bodyPr>
          <a:lstStyle/>
          <a:p>
            <a:r>
              <a:rPr lang="en-US" dirty="0"/>
              <a:t>Vectors </a:t>
            </a:r>
            <a:r>
              <a:rPr lang="en-US" b="1" dirty="0"/>
              <a:t>y</a:t>
            </a:r>
            <a:r>
              <a:rPr lang="en-US" dirty="0"/>
              <a:t>, </a:t>
            </a:r>
            <a:r>
              <a:rPr lang="en-US" b="1" dirty="0"/>
              <a:t>e</a:t>
            </a:r>
            <a:r>
              <a:rPr lang="en-US" dirty="0"/>
              <a:t>, </a:t>
            </a:r>
            <a:r>
              <a:rPr lang="en-US" b="1" dirty="0"/>
              <a:t>b</a:t>
            </a:r>
            <a:r>
              <a:rPr lang="en-US" dirty="0"/>
              <a:t>, directions in space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DC9BF-4A37-4E1A-938C-44309EB46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189" y="1863725"/>
            <a:ext cx="721805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Vectors are a column of numbers representing a direction from the </a:t>
            </a:r>
            <a:r>
              <a:rPr lang="en-US" sz="2400" b="1" dirty="0"/>
              <a:t>origin</a:t>
            </a:r>
            <a:r>
              <a:rPr lang="en-US" sz="2400" dirty="0"/>
              <a:t> to a point in space</a:t>
            </a:r>
          </a:p>
          <a:p>
            <a:r>
              <a:rPr lang="en-US" sz="2400" dirty="0"/>
              <a:t>The numbers define the direction and lengths of the vector </a:t>
            </a:r>
          </a:p>
          <a:p>
            <a:r>
              <a:rPr lang="en-US" sz="2400" dirty="0"/>
              <a:t>Vectors will always be represented as a column</a:t>
            </a:r>
          </a:p>
          <a:p>
            <a:endParaRPr lang="en-US" sz="2400" dirty="0"/>
          </a:p>
          <a:p>
            <a:r>
              <a:rPr lang="en-US" sz="2400" b="1" dirty="0"/>
              <a:t>y</a:t>
            </a:r>
            <a:r>
              <a:rPr lang="en-US" sz="2400" dirty="0"/>
              <a:t>: (</a:t>
            </a:r>
            <a:r>
              <a:rPr lang="en-US" sz="2400" i="1" dirty="0"/>
              <a:t>I</a:t>
            </a:r>
            <a:r>
              <a:rPr lang="en-US" sz="2400" dirty="0"/>
              <a:t>x1) contains response value for all </a:t>
            </a:r>
            <a:r>
              <a:rPr lang="en-US" sz="2400" i="1" dirty="0"/>
              <a:t>I</a:t>
            </a:r>
            <a:r>
              <a:rPr lang="en-US" sz="2400" dirty="0"/>
              <a:t> subjects</a:t>
            </a:r>
          </a:p>
          <a:p>
            <a:r>
              <a:rPr lang="en-US" sz="2400" b="1" dirty="0"/>
              <a:t>e</a:t>
            </a:r>
            <a:r>
              <a:rPr lang="en-US" sz="2400" dirty="0"/>
              <a:t>: (</a:t>
            </a:r>
            <a:r>
              <a:rPr lang="en-US" sz="2400" i="1" dirty="0"/>
              <a:t>I</a:t>
            </a:r>
            <a:r>
              <a:rPr lang="en-US" sz="2400" dirty="0"/>
              <a:t>x1) contains residual value for all </a:t>
            </a:r>
            <a:r>
              <a:rPr lang="en-US" sz="2400" i="1" dirty="0"/>
              <a:t>I</a:t>
            </a:r>
            <a:r>
              <a:rPr lang="en-US" sz="2400" dirty="0"/>
              <a:t> subjects</a:t>
            </a:r>
          </a:p>
          <a:p>
            <a:r>
              <a:rPr lang="en-US" sz="2400" b="1" dirty="0"/>
              <a:t>b</a:t>
            </a:r>
            <a:r>
              <a:rPr lang="en-US" sz="2400" dirty="0"/>
              <a:t>: (</a:t>
            </a:r>
            <a:r>
              <a:rPr lang="en-US" sz="2400" i="1" dirty="0"/>
              <a:t>J</a:t>
            </a:r>
            <a:r>
              <a:rPr lang="en-US" sz="2400" dirty="0"/>
              <a:t>x1) contains coefficient for each feature</a:t>
            </a:r>
          </a:p>
          <a:p>
            <a:endParaRPr lang="en-US" sz="2400" dirty="0"/>
          </a:p>
          <a:p>
            <a:endParaRPr lang="en-US" sz="2400" b="1" dirty="0"/>
          </a:p>
          <a:p>
            <a:r>
              <a:rPr lang="en-US" sz="2400" b="1" dirty="0" err="1"/>
              <a:t>b</a:t>
            </a:r>
            <a:r>
              <a:rPr lang="en-US" sz="2400" baseline="30000" dirty="0" err="1"/>
              <a:t>T</a:t>
            </a:r>
            <a:r>
              <a:rPr lang="en-US" sz="2400" dirty="0"/>
              <a:t>: “b transpose”, (1 x </a:t>
            </a:r>
            <a:r>
              <a:rPr lang="en-US" sz="2400" i="1" dirty="0"/>
              <a:t>J</a:t>
            </a:r>
            <a:r>
              <a:rPr lang="en-US" sz="2400" dirty="0"/>
              <a:t>) is a row vector</a:t>
            </a:r>
            <a:endParaRPr lang="en-US" sz="2400" baseline="30000" dirty="0"/>
          </a:p>
          <a:p>
            <a:endParaRPr lang="en-US" sz="2400" dirty="0"/>
          </a:p>
          <a:p>
            <a:endParaRPr lang="en-NL" sz="2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8A7699-F293-4CA6-A249-64B2690CD45C}"/>
              </a:ext>
            </a:extLst>
          </p:cNvPr>
          <p:cNvCxnSpPr/>
          <p:nvPr/>
        </p:nvCxnSpPr>
        <p:spPr>
          <a:xfrm>
            <a:off x="9741856" y="2257673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B87EAEF-B930-43C4-9596-ED0E1936414C}"/>
              </a:ext>
            </a:extLst>
          </p:cNvPr>
          <p:cNvCxnSpPr>
            <a:cxnSpLocks/>
          </p:cNvCxnSpPr>
          <p:nvPr/>
        </p:nvCxnSpPr>
        <p:spPr>
          <a:xfrm flipV="1">
            <a:off x="9771386" y="3533024"/>
            <a:ext cx="0" cy="1524751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7DFD0C-BBD1-4AA5-BC19-9C5DA37D37B1}"/>
              </a:ext>
            </a:extLst>
          </p:cNvPr>
          <p:cNvCxnSpPr>
            <a:cxnSpLocks/>
          </p:cNvCxnSpPr>
          <p:nvPr/>
        </p:nvCxnSpPr>
        <p:spPr>
          <a:xfrm flipH="1">
            <a:off x="9741856" y="5533274"/>
            <a:ext cx="161194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9B6A7E4-D2E9-498C-9E54-CD71AB540883}"/>
              </a:ext>
            </a:extLst>
          </p:cNvPr>
          <p:cNvSpPr/>
          <p:nvPr/>
        </p:nvSpPr>
        <p:spPr>
          <a:xfrm>
            <a:off x="8820150" y="1552575"/>
            <a:ext cx="2990850" cy="48101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303F970-C233-4D4B-ACBC-67FD20E7C2FA}"/>
              </a:ext>
            </a:extLst>
          </p:cNvPr>
          <p:cNvSpPr/>
          <p:nvPr/>
        </p:nvSpPr>
        <p:spPr>
          <a:xfrm>
            <a:off x="202174" y="1546206"/>
            <a:ext cx="7778822" cy="4810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ED93F-2FAB-4A22-BEA5-A325C9970382}"/>
              </a:ext>
            </a:extLst>
          </p:cNvPr>
          <p:cNvSpPr txBox="1"/>
          <p:nvPr/>
        </p:nvSpPr>
        <p:spPr>
          <a:xfrm>
            <a:off x="9494261" y="2937103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1689F-6120-4816-85FB-136F8F32AF72}"/>
              </a:ext>
            </a:extLst>
          </p:cNvPr>
          <p:cNvSpPr txBox="1"/>
          <p:nvPr/>
        </p:nvSpPr>
        <p:spPr>
          <a:xfrm>
            <a:off x="9510947" y="4873109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AFC6CD-DFA7-4DF6-A1D1-F492C7CC84F0}"/>
              </a:ext>
            </a:extLst>
          </p:cNvPr>
          <p:cNvSpPr txBox="1"/>
          <p:nvPr/>
        </p:nvSpPr>
        <p:spPr>
          <a:xfrm>
            <a:off x="10365214" y="2933357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550AFE-69B9-4CA6-BD07-5542DD5B94AD}"/>
              </a:ext>
            </a:extLst>
          </p:cNvPr>
          <p:cNvSpPr txBox="1"/>
          <p:nvPr/>
        </p:nvSpPr>
        <p:spPr>
          <a:xfrm>
            <a:off x="11301338" y="5061889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F15C8A-C4E8-48FA-8EBE-50397B17EAA6}"/>
              </a:ext>
            </a:extLst>
          </p:cNvPr>
          <p:cNvSpPr/>
          <p:nvPr/>
        </p:nvSpPr>
        <p:spPr>
          <a:xfrm>
            <a:off x="10581883" y="2259551"/>
            <a:ext cx="69447" cy="84730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97271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A036-9B26-4AE5-80E1-E6705529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11" y="134989"/>
            <a:ext cx="10515600" cy="850460"/>
          </a:xfrm>
        </p:spPr>
        <p:txBody>
          <a:bodyPr/>
          <a:lstStyle/>
          <a:p>
            <a:r>
              <a:rPr lang="en-US" dirty="0"/>
              <a:t>Vector: Point in space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06552-1C09-4D90-851A-732A4E42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75" y="1497389"/>
            <a:ext cx="5057426" cy="1674373"/>
          </a:xfrm>
        </p:spPr>
        <p:txBody>
          <a:bodyPr>
            <a:noAutofit/>
          </a:bodyPr>
          <a:lstStyle/>
          <a:p>
            <a:r>
              <a:rPr lang="en-US" sz="2200" dirty="0"/>
              <a:t>A scalar (e.g. 3) represents a point on a 1-dimensional space (line) in a known direction with a given unit (e.g. meter).</a:t>
            </a:r>
          </a:p>
          <a:p>
            <a:endParaRPr lang="en-US" sz="2200" dirty="0"/>
          </a:p>
          <a:p>
            <a:r>
              <a:rPr lang="en-US" sz="2200" dirty="0"/>
              <a:t>A vector (e.g. [3, 2.5]) represents a direction point in a 2-dimensional space (plane)</a:t>
            </a:r>
          </a:p>
          <a:p>
            <a:pPr lvl="1"/>
            <a:r>
              <a:rPr lang="en-US" sz="2200" dirty="0"/>
              <a:t>Each dimension can have its own unit (meter, kg)</a:t>
            </a:r>
          </a:p>
          <a:p>
            <a:endParaRPr lang="en-US" sz="2200" dirty="0"/>
          </a:p>
          <a:p>
            <a:r>
              <a:rPr lang="en-US" sz="2200" dirty="0"/>
              <a:t>A vector (e.g. [3, 2.5, 2.1]) represents a point in a 3-dimensional space</a:t>
            </a:r>
          </a:p>
          <a:p>
            <a:r>
              <a:rPr lang="en-US" sz="2200" dirty="0"/>
              <a:t>…</a:t>
            </a:r>
            <a:endParaRPr lang="en-NL" sz="2200" dirty="0"/>
          </a:p>
        </p:txBody>
      </p:sp>
      <p:grpSp>
        <p:nvGrpSpPr>
          <p:cNvPr id="4" name="Group 90">
            <a:extLst>
              <a:ext uri="{FF2B5EF4-FFF2-40B4-BE49-F238E27FC236}">
                <a16:creationId xmlns:a16="http://schemas.microsoft.com/office/drawing/2014/main" id="{5EFB12A9-8723-4AD9-A75E-088C79E8AF9C}"/>
              </a:ext>
            </a:extLst>
          </p:cNvPr>
          <p:cNvGrpSpPr>
            <a:grpSpLocks/>
          </p:cNvGrpSpPr>
          <p:nvPr/>
        </p:nvGrpSpPr>
        <p:grpSpPr bwMode="auto">
          <a:xfrm>
            <a:off x="8245761" y="4844812"/>
            <a:ext cx="3038475" cy="866775"/>
            <a:chOff x="3417" y="2598"/>
            <a:chExt cx="1914" cy="546"/>
          </a:xfrm>
        </p:grpSpPr>
        <p:sp>
          <p:nvSpPr>
            <p:cNvPr id="5" name="Line 49">
              <a:extLst>
                <a:ext uri="{FF2B5EF4-FFF2-40B4-BE49-F238E27FC236}">
                  <a16:creationId xmlns:a16="http://schemas.microsoft.com/office/drawing/2014/main" id="{A052743B-AF2F-4764-995D-F5459F43C5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598"/>
              <a:ext cx="1914" cy="5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6" name="Line 58">
              <a:extLst>
                <a:ext uri="{FF2B5EF4-FFF2-40B4-BE49-F238E27FC236}">
                  <a16:creationId xmlns:a16="http://schemas.microsoft.com/office/drawing/2014/main" id="{D9258D9B-4A2B-4930-9347-9F5F5241F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21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D65A381C-8F25-4B03-B00D-4FD5CCFD7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7" y="2922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" name="Line 60">
              <a:extLst>
                <a:ext uri="{FF2B5EF4-FFF2-40B4-BE49-F238E27FC236}">
                  <a16:creationId xmlns:a16="http://schemas.microsoft.com/office/drawing/2014/main" id="{6885DD7C-2E73-4192-A911-7E74E69AF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2805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9" name="Line 61">
              <a:extLst>
                <a:ext uri="{FF2B5EF4-FFF2-40B4-BE49-F238E27FC236}">
                  <a16:creationId xmlns:a16="http://schemas.microsoft.com/office/drawing/2014/main" id="{87DBE7C3-7A76-4A29-B202-CF5548D25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3021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10" name="Group 89">
            <a:extLst>
              <a:ext uri="{FF2B5EF4-FFF2-40B4-BE49-F238E27FC236}">
                <a16:creationId xmlns:a16="http://schemas.microsoft.com/office/drawing/2014/main" id="{56E76EFE-0B6C-4DC1-9D90-8D2628D918F7}"/>
              </a:ext>
            </a:extLst>
          </p:cNvPr>
          <p:cNvGrpSpPr>
            <a:grpSpLocks/>
          </p:cNvGrpSpPr>
          <p:nvPr/>
        </p:nvGrpSpPr>
        <p:grpSpPr bwMode="auto">
          <a:xfrm>
            <a:off x="8247052" y="4064672"/>
            <a:ext cx="76040" cy="1646913"/>
            <a:chOff x="3417" y="1848"/>
            <a:chExt cx="54" cy="1296"/>
          </a:xfrm>
        </p:grpSpPr>
        <p:sp>
          <p:nvSpPr>
            <p:cNvPr id="11" name="Line 48">
              <a:extLst>
                <a:ext uri="{FF2B5EF4-FFF2-40B4-BE49-F238E27FC236}">
                  <a16:creationId xmlns:a16="http://schemas.microsoft.com/office/drawing/2014/main" id="{1AF04A53-D838-42D1-A664-8D9626DE6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184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E34487C0-FAF7-4727-BCE3-41DDF16BA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772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8B1F07B8-46C2-4666-8FCB-BCA424371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439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B91A1E2A-105D-4912-85CA-731FEB213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103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15" name="Group 88">
            <a:extLst>
              <a:ext uri="{FF2B5EF4-FFF2-40B4-BE49-F238E27FC236}">
                <a16:creationId xmlns:a16="http://schemas.microsoft.com/office/drawing/2014/main" id="{2368EA23-C6DC-487A-AE9F-11622975D228}"/>
              </a:ext>
            </a:extLst>
          </p:cNvPr>
          <p:cNvGrpSpPr>
            <a:grpSpLocks/>
          </p:cNvGrpSpPr>
          <p:nvPr/>
        </p:nvGrpSpPr>
        <p:grpSpPr bwMode="auto">
          <a:xfrm>
            <a:off x="8245761" y="5628701"/>
            <a:ext cx="3612541" cy="82886"/>
            <a:chOff x="3417" y="3090"/>
            <a:chExt cx="2046" cy="54"/>
          </a:xfrm>
        </p:grpSpPr>
        <p:sp>
          <p:nvSpPr>
            <p:cNvPr id="16" name="Line 47">
              <a:extLst>
                <a:ext uri="{FF2B5EF4-FFF2-40B4-BE49-F238E27FC236}">
                  <a16:creationId xmlns:a16="http://schemas.microsoft.com/office/drawing/2014/main" id="{CA4CB235-2ED7-42F2-B4FC-2C4C390DA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144"/>
              <a:ext cx="20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" name="Line 56">
              <a:extLst>
                <a:ext uri="{FF2B5EF4-FFF2-40B4-BE49-F238E27FC236}">
                  <a16:creationId xmlns:a16="http://schemas.microsoft.com/office/drawing/2014/main" id="{EC75E3E3-DC16-49B1-B5FF-E976BDBFF1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5" y="309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" name="Line 57">
              <a:extLst>
                <a:ext uri="{FF2B5EF4-FFF2-40B4-BE49-F238E27FC236}">
                  <a16:creationId xmlns:a16="http://schemas.microsoft.com/office/drawing/2014/main" id="{C27FE378-CC7D-4739-B50E-CDC84D2150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3" y="309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" name="Line 69">
              <a:extLst>
                <a:ext uri="{FF2B5EF4-FFF2-40B4-BE49-F238E27FC236}">
                  <a16:creationId xmlns:a16="http://schemas.microsoft.com/office/drawing/2014/main" id="{739AE687-BB19-4181-9FD5-A4ABEEA27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1" y="30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1" name="Line 74">
            <a:extLst>
              <a:ext uri="{FF2B5EF4-FFF2-40B4-BE49-F238E27FC236}">
                <a16:creationId xmlns:a16="http://schemas.microsoft.com/office/drawing/2014/main" id="{5BE6AD55-D0CA-44B2-B881-96C74A4DB6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1711" y="4583464"/>
            <a:ext cx="2090338" cy="112494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22" name="Oval 85">
            <a:extLst>
              <a:ext uri="{FF2B5EF4-FFF2-40B4-BE49-F238E27FC236}">
                <a16:creationId xmlns:a16="http://schemas.microsoft.com/office/drawing/2014/main" id="{2E099650-E9B6-44B1-85A8-F4FA321F9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9422" y="4505983"/>
            <a:ext cx="187325" cy="174625"/>
          </a:xfrm>
          <a:prstGeom prst="ellipse">
            <a:avLst/>
          </a:prstGeom>
          <a:solidFill>
            <a:srgbClr val="FF66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grpSp>
        <p:nvGrpSpPr>
          <p:cNvPr id="27" name="Group 7">
            <a:extLst>
              <a:ext uri="{FF2B5EF4-FFF2-40B4-BE49-F238E27FC236}">
                <a16:creationId xmlns:a16="http://schemas.microsoft.com/office/drawing/2014/main" id="{D06D8079-0F87-4396-994F-575B456CE147}"/>
              </a:ext>
            </a:extLst>
          </p:cNvPr>
          <p:cNvGrpSpPr>
            <a:grpSpLocks/>
          </p:cNvGrpSpPr>
          <p:nvPr/>
        </p:nvGrpSpPr>
        <p:grpSpPr bwMode="auto">
          <a:xfrm>
            <a:off x="8245761" y="3555275"/>
            <a:ext cx="2984500" cy="80963"/>
            <a:chOff x="1510" y="3510"/>
            <a:chExt cx="2522" cy="59"/>
          </a:xfrm>
        </p:grpSpPr>
        <p:sp>
          <p:nvSpPr>
            <p:cNvPr id="28" name="Line 8">
              <a:extLst>
                <a:ext uri="{FF2B5EF4-FFF2-40B4-BE49-F238E27FC236}">
                  <a16:creationId xmlns:a16="http://schemas.microsoft.com/office/drawing/2014/main" id="{370C02F6-4A83-4D38-8257-4BA8F64A5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64"/>
              <a:ext cx="2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DC71F3D3-3F24-4038-B3CF-74DE31DB9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8DA910A1-B37F-4BD0-87C9-CA6EBAAEC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B9A397DC-7344-4D92-B694-795C471D1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3510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32" name="Group 39">
            <a:extLst>
              <a:ext uri="{FF2B5EF4-FFF2-40B4-BE49-F238E27FC236}">
                <a16:creationId xmlns:a16="http://schemas.microsoft.com/office/drawing/2014/main" id="{150162D6-DBD0-4801-9504-F9D6F2A7E977}"/>
              </a:ext>
            </a:extLst>
          </p:cNvPr>
          <p:cNvGrpSpPr>
            <a:grpSpLocks/>
          </p:cNvGrpSpPr>
          <p:nvPr/>
        </p:nvGrpSpPr>
        <p:grpSpPr bwMode="auto">
          <a:xfrm>
            <a:off x="8242129" y="2261461"/>
            <a:ext cx="85726" cy="1358902"/>
            <a:chOff x="573" y="2372"/>
            <a:chExt cx="43" cy="1220"/>
          </a:xfrm>
        </p:grpSpPr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D2FD60E9-CB0D-4CEA-B3BE-1889A7CECB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" y="2372"/>
              <a:ext cx="0" cy="1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325A9A4E-1875-40EE-8860-43F8515310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3153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5" name="Line 16">
              <a:extLst>
                <a:ext uri="{FF2B5EF4-FFF2-40B4-BE49-F238E27FC236}">
                  <a16:creationId xmlns:a16="http://schemas.microsoft.com/office/drawing/2014/main" id="{C9DF1E16-8675-4C54-98EF-BAEF2DB3BF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2708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9" name="Oval 84">
            <a:extLst>
              <a:ext uri="{FF2B5EF4-FFF2-40B4-BE49-F238E27FC236}">
                <a16:creationId xmlns:a16="http://schemas.microsoft.com/office/drawing/2014/main" id="{75B749CB-935C-4C93-8B96-77C30CA8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2056" y="2341500"/>
            <a:ext cx="187325" cy="174625"/>
          </a:xfrm>
          <a:prstGeom prst="ellipse">
            <a:avLst/>
          </a:prstGeom>
          <a:solidFill>
            <a:srgbClr val="FF66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2664EB-415D-48B8-AE0F-5DC1CBD0D0DB}"/>
              </a:ext>
            </a:extLst>
          </p:cNvPr>
          <p:cNvCxnSpPr/>
          <p:nvPr/>
        </p:nvCxnSpPr>
        <p:spPr>
          <a:xfrm flipV="1">
            <a:off x="8245761" y="2487399"/>
            <a:ext cx="2096295" cy="11329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7">
            <a:extLst>
              <a:ext uri="{FF2B5EF4-FFF2-40B4-BE49-F238E27FC236}">
                <a16:creationId xmlns:a16="http://schemas.microsoft.com/office/drawing/2014/main" id="{AA319ACD-7551-47DD-A4A4-A4BB47F7993F}"/>
              </a:ext>
            </a:extLst>
          </p:cNvPr>
          <p:cNvGrpSpPr>
            <a:grpSpLocks/>
          </p:cNvGrpSpPr>
          <p:nvPr/>
        </p:nvGrpSpPr>
        <p:grpSpPr bwMode="auto">
          <a:xfrm>
            <a:off x="8207275" y="1781444"/>
            <a:ext cx="2984500" cy="80963"/>
            <a:chOff x="1510" y="3510"/>
            <a:chExt cx="2522" cy="59"/>
          </a:xfrm>
        </p:grpSpPr>
        <p:sp>
          <p:nvSpPr>
            <p:cNvPr id="45" name="Line 8">
              <a:extLst>
                <a:ext uri="{FF2B5EF4-FFF2-40B4-BE49-F238E27FC236}">
                  <a16:creationId xmlns:a16="http://schemas.microsoft.com/office/drawing/2014/main" id="{ECD28976-1A17-48E4-A4CD-67E15882CD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64"/>
              <a:ext cx="2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6" name="Line 9">
              <a:extLst>
                <a:ext uri="{FF2B5EF4-FFF2-40B4-BE49-F238E27FC236}">
                  <a16:creationId xmlns:a16="http://schemas.microsoft.com/office/drawing/2014/main" id="{6ACE5F65-6E19-4334-BCAB-FCE346C01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7" name="Line 10">
              <a:extLst>
                <a:ext uri="{FF2B5EF4-FFF2-40B4-BE49-F238E27FC236}">
                  <a16:creationId xmlns:a16="http://schemas.microsoft.com/office/drawing/2014/main" id="{0BB0FCEE-728E-480C-9CDE-2845EAD99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8" name="Line 11">
              <a:extLst>
                <a:ext uri="{FF2B5EF4-FFF2-40B4-BE49-F238E27FC236}">
                  <a16:creationId xmlns:a16="http://schemas.microsoft.com/office/drawing/2014/main" id="{F0E98766-CD31-4DC2-A32E-62E2D85168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3510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49" name="Oval 84">
            <a:extLst>
              <a:ext uri="{FF2B5EF4-FFF2-40B4-BE49-F238E27FC236}">
                <a16:creationId xmlns:a16="http://schemas.microsoft.com/office/drawing/2014/main" id="{2B6010A8-0FE0-4DF5-98F8-8F914EA57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2056" y="1734613"/>
            <a:ext cx="187325" cy="174625"/>
          </a:xfrm>
          <a:prstGeom prst="ellipse">
            <a:avLst/>
          </a:prstGeom>
          <a:solidFill>
            <a:srgbClr val="FF66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ACBA71-C0A1-42E8-92DC-DCA73BB536B7}"/>
              </a:ext>
            </a:extLst>
          </p:cNvPr>
          <p:cNvSpPr txBox="1"/>
          <p:nvPr/>
        </p:nvSpPr>
        <p:spPr>
          <a:xfrm>
            <a:off x="11266889" y="1666763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1C20AF-019A-4DA0-B2B5-089CDAFA19B1}"/>
              </a:ext>
            </a:extLst>
          </p:cNvPr>
          <p:cNvSpPr txBox="1"/>
          <p:nvPr/>
        </p:nvSpPr>
        <p:spPr>
          <a:xfrm>
            <a:off x="11269237" y="3435697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1BF327-962E-4854-9720-C22E0AE0BD84}"/>
              </a:ext>
            </a:extLst>
          </p:cNvPr>
          <p:cNvSpPr txBox="1"/>
          <p:nvPr/>
        </p:nvSpPr>
        <p:spPr>
          <a:xfrm>
            <a:off x="7824365" y="2360046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80CADC-8F7A-4553-9E69-0A6DF0FF7D3F}"/>
              </a:ext>
            </a:extLst>
          </p:cNvPr>
          <p:cNvSpPr txBox="1"/>
          <p:nvPr/>
        </p:nvSpPr>
        <p:spPr>
          <a:xfrm>
            <a:off x="7818615" y="4124173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E1143A-37EE-49EB-83ED-FD15DE962AB3}"/>
              </a:ext>
            </a:extLst>
          </p:cNvPr>
          <p:cNvSpPr txBox="1"/>
          <p:nvPr/>
        </p:nvSpPr>
        <p:spPr>
          <a:xfrm>
            <a:off x="10806747" y="488974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3</a:t>
            </a:r>
            <a:endParaRPr lang="en-NL" sz="2000" baseline="-25000" dirty="0"/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EFD8CFE-0295-4AF8-87C6-E3454960256D}"/>
              </a:ext>
            </a:extLst>
          </p:cNvPr>
          <p:cNvCxnSpPr>
            <a:cxnSpLocks/>
          </p:cNvCxnSpPr>
          <p:nvPr/>
        </p:nvCxnSpPr>
        <p:spPr>
          <a:xfrm flipV="1">
            <a:off x="8212247" y="1820840"/>
            <a:ext cx="2147295" cy="53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1D77495-6C49-4249-A7CE-903CE38A5075}"/>
              </a:ext>
            </a:extLst>
          </p:cNvPr>
          <p:cNvSpPr txBox="1"/>
          <p:nvPr/>
        </p:nvSpPr>
        <p:spPr>
          <a:xfrm>
            <a:off x="7997045" y="55713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792F0F-4862-4059-923A-087F2E6043B3}"/>
              </a:ext>
            </a:extLst>
          </p:cNvPr>
          <p:cNvSpPr txBox="1"/>
          <p:nvPr/>
        </p:nvSpPr>
        <p:spPr>
          <a:xfrm>
            <a:off x="8019182" y="350744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FE2E110-BCBE-4B0A-9900-9B20B2EB067B}"/>
              </a:ext>
            </a:extLst>
          </p:cNvPr>
          <p:cNvSpPr txBox="1"/>
          <p:nvPr/>
        </p:nvSpPr>
        <p:spPr>
          <a:xfrm>
            <a:off x="7933504" y="167088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C4F78E-C888-4720-97AE-F2B2C221AE07}"/>
              </a:ext>
            </a:extLst>
          </p:cNvPr>
          <p:cNvSpPr txBox="1"/>
          <p:nvPr/>
        </p:nvSpPr>
        <p:spPr>
          <a:xfrm>
            <a:off x="11400992" y="5259072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8168B05-4879-4D13-96AD-74C4AD69053A}"/>
              </a:ext>
            </a:extLst>
          </p:cNvPr>
          <p:cNvSpPr/>
          <p:nvPr/>
        </p:nvSpPr>
        <p:spPr>
          <a:xfrm>
            <a:off x="7524750" y="1254144"/>
            <a:ext cx="4457700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AE504AA-3D32-4EBD-930B-B1C1BBF7493F}"/>
              </a:ext>
            </a:extLst>
          </p:cNvPr>
          <p:cNvSpPr/>
          <p:nvPr/>
        </p:nvSpPr>
        <p:spPr>
          <a:xfrm>
            <a:off x="333698" y="1247775"/>
            <a:ext cx="6562402" cy="5475236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256CE8-F361-5EF6-1757-65CBC258BB0B}"/>
                  </a:ext>
                </a:extLst>
              </p:cNvPr>
              <p:cNvSpPr txBox="1"/>
              <p:nvPr/>
            </p:nvSpPr>
            <p:spPr>
              <a:xfrm>
                <a:off x="5505793" y="4567634"/>
                <a:ext cx="1099567" cy="730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2256CE8-F361-5EF6-1757-65CBC258B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793" y="4567634"/>
                <a:ext cx="1099567" cy="730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0EE18A-45EC-EDBA-4511-BC9618180B0F}"/>
                  </a:ext>
                </a:extLst>
              </p:cNvPr>
              <p:cNvSpPr txBox="1"/>
              <p:nvPr/>
            </p:nvSpPr>
            <p:spPr>
              <a:xfrm>
                <a:off x="5621718" y="3507444"/>
                <a:ext cx="899284" cy="4929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0EE18A-45EC-EDBA-4511-BC9618180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1718" y="3507444"/>
                <a:ext cx="899284" cy="49295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93042C-E22E-0C43-FD28-116657E8EF2D}"/>
                  </a:ext>
                </a:extLst>
              </p:cNvPr>
              <p:cNvSpPr txBox="1"/>
              <p:nvPr/>
            </p:nvSpPr>
            <p:spPr>
              <a:xfrm>
                <a:off x="5589520" y="1867091"/>
                <a:ext cx="899284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3.0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E93042C-E22E-0C43-FD28-116657E8E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9520" y="1867091"/>
                <a:ext cx="899284" cy="276999"/>
              </a:xfrm>
              <a:prstGeom prst="rect">
                <a:avLst/>
              </a:prstGeom>
              <a:blipFill>
                <a:blip r:embed="rId5"/>
                <a:stretch>
                  <a:fillRect l="-5442" b="-652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3BCC52-7798-955F-E81E-BA3D3F126402}"/>
                  </a:ext>
                </a:extLst>
              </p:cNvPr>
              <p:cNvSpPr txBox="1"/>
              <p:nvPr/>
            </p:nvSpPr>
            <p:spPr>
              <a:xfrm>
                <a:off x="5514249" y="5667720"/>
                <a:ext cx="1099567" cy="730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1.1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03BCC52-7798-955F-E81E-BA3D3F126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49" y="5667720"/>
                <a:ext cx="1099567" cy="730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Line 74">
            <a:extLst>
              <a:ext uri="{FF2B5EF4-FFF2-40B4-BE49-F238E27FC236}">
                <a16:creationId xmlns:a16="http://schemas.microsoft.com/office/drawing/2014/main" id="{2D409944-4EBB-1D75-A7CD-961696B48D3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1704" y="4017053"/>
            <a:ext cx="1758479" cy="16853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37" name="Oval 85">
            <a:extLst>
              <a:ext uri="{FF2B5EF4-FFF2-40B4-BE49-F238E27FC236}">
                <a16:creationId xmlns:a16="http://schemas.microsoft.com/office/drawing/2014/main" id="{4C455695-1CE9-B3C8-ADF2-C545D80A2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74904" y="3904970"/>
            <a:ext cx="187325" cy="174625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38" name="Oval 85">
            <a:extLst>
              <a:ext uri="{FF2B5EF4-FFF2-40B4-BE49-F238E27FC236}">
                <a16:creationId xmlns:a16="http://schemas.microsoft.com/office/drawing/2014/main" id="{13F76061-5EA3-DA60-FAF7-D54080DBD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4584" y="4368708"/>
            <a:ext cx="187325" cy="174625"/>
          </a:xfrm>
          <a:prstGeom prst="ellipse">
            <a:avLst/>
          </a:prstGeom>
          <a:solidFill>
            <a:srgbClr val="FF66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0" name="Oval 85">
            <a:extLst>
              <a:ext uri="{FF2B5EF4-FFF2-40B4-BE49-F238E27FC236}">
                <a16:creationId xmlns:a16="http://schemas.microsoft.com/office/drawing/2014/main" id="{C6D43750-3E53-6049-3BAC-D42EB2193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2030" y="5473424"/>
            <a:ext cx="187325" cy="174625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12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D448-05FD-412F-90EA-1176B8D49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24" y="187237"/>
            <a:ext cx="10515600" cy="744052"/>
          </a:xfrm>
        </p:spPr>
        <p:txBody>
          <a:bodyPr/>
          <a:lstStyle/>
          <a:p>
            <a:r>
              <a:rPr lang="en-US" dirty="0"/>
              <a:t>Adding and subtracting vectors in space</a:t>
            </a:r>
            <a:endParaRPr lang="en-NL" dirty="0"/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8FF97399-6E2F-4EA6-A8B8-852EE7BB6220}"/>
              </a:ext>
            </a:extLst>
          </p:cNvPr>
          <p:cNvGrpSpPr>
            <a:grpSpLocks/>
          </p:cNvGrpSpPr>
          <p:nvPr/>
        </p:nvGrpSpPr>
        <p:grpSpPr bwMode="auto">
          <a:xfrm>
            <a:off x="8078496" y="3164750"/>
            <a:ext cx="2984500" cy="80963"/>
            <a:chOff x="1510" y="3510"/>
            <a:chExt cx="2522" cy="59"/>
          </a:xfrm>
        </p:grpSpPr>
        <p:sp>
          <p:nvSpPr>
            <p:cNvPr id="5" name="Line 8">
              <a:extLst>
                <a:ext uri="{FF2B5EF4-FFF2-40B4-BE49-F238E27FC236}">
                  <a16:creationId xmlns:a16="http://schemas.microsoft.com/office/drawing/2014/main" id="{8AD07996-8C53-478A-9925-CD59CFC2B1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64"/>
              <a:ext cx="2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9DAB9AB9-6BF2-40B3-9AC0-6CD54071E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52C08627-B5DA-42A4-9915-8CCD7F93E1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84CF9633-ACBB-4B3D-A3EE-E4C56998F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3510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9" name="Group 39">
            <a:extLst>
              <a:ext uri="{FF2B5EF4-FFF2-40B4-BE49-F238E27FC236}">
                <a16:creationId xmlns:a16="http://schemas.microsoft.com/office/drawing/2014/main" id="{C0F09CFE-1FC2-4A7D-A5B5-B237BC35B85B}"/>
              </a:ext>
            </a:extLst>
          </p:cNvPr>
          <p:cNvGrpSpPr>
            <a:grpSpLocks/>
          </p:cNvGrpSpPr>
          <p:nvPr/>
        </p:nvGrpSpPr>
        <p:grpSpPr bwMode="auto">
          <a:xfrm>
            <a:off x="8074864" y="1870936"/>
            <a:ext cx="85726" cy="1358902"/>
            <a:chOff x="573" y="2372"/>
            <a:chExt cx="43" cy="1220"/>
          </a:xfrm>
        </p:grpSpPr>
        <p:sp>
          <p:nvSpPr>
            <p:cNvPr id="10" name="Line 14">
              <a:extLst>
                <a:ext uri="{FF2B5EF4-FFF2-40B4-BE49-F238E27FC236}">
                  <a16:creationId xmlns:a16="http://schemas.microsoft.com/office/drawing/2014/main" id="{D94CEB04-D8D3-40EF-A2A3-D549B66D32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" y="2372"/>
              <a:ext cx="0" cy="1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1" name="Line 15">
              <a:extLst>
                <a:ext uri="{FF2B5EF4-FFF2-40B4-BE49-F238E27FC236}">
                  <a16:creationId xmlns:a16="http://schemas.microsoft.com/office/drawing/2014/main" id="{69F96754-1FFC-484E-8AC2-0170BB0E51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3153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2" name="Line 16">
              <a:extLst>
                <a:ext uri="{FF2B5EF4-FFF2-40B4-BE49-F238E27FC236}">
                  <a16:creationId xmlns:a16="http://schemas.microsoft.com/office/drawing/2014/main" id="{244D121A-00AB-4789-B145-CD650C2348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2708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D410AD5-C17B-470C-8766-1B71768008F7}"/>
              </a:ext>
            </a:extLst>
          </p:cNvPr>
          <p:cNvSpPr txBox="1"/>
          <p:nvPr/>
        </p:nvSpPr>
        <p:spPr>
          <a:xfrm>
            <a:off x="11101972" y="3045172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AC16AB-72AC-4081-A042-3F835977E1F8}"/>
              </a:ext>
            </a:extLst>
          </p:cNvPr>
          <p:cNvSpPr txBox="1"/>
          <p:nvPr/>
        </p:nvSpPr>
        <p:spPr>
          <a:xfrm>
            <a:off x="7657100" y="1969521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8BC591-BD27-4E65-8F20-B8B37E020DAA}"/>
              </a:ext>
            </a:extLst>
          </p:cNvPr>
          <p:cNvSpPr txBox="1"/>
          <p:nvPr/>
        </p:nvSpPr>
        <p:spPr>
          <a:xfrm>
            <a:off x="7851917" y="31169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18" name="Oval 84">
            <a:extLst>
              <a:ext uri="{FF2B5EF4-FFF2-40B4-BE49-F238E27FC236}">
                <a16:creationId xmlns:a16="http://schemas.microsoft.com/office/drawing/2014/main" id="{39685C94-0A43-42B5-A63A-BFB918378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74128" y="2674157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19" name="Oval 84">
            <a:extLst>
              <a:ext uri="{FF2B5EF4-FFF2-40B4-BE49-F238E27FC236}">
                <a16:creationId xmlns:a16="http://schemas.microsoft.com/office/drawing/2014/main" id="{86EC33AF-6450-4A20-B574-20CDDF7C8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07736" y="2169385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2932B4F-9F9B-4AF6-A985-748FF1502377}"/>
              </a:ext>
            </a:extLst>
          </p:cNvPr>
          <p:cNvCxnSpPr>
            <a:cxnSpLocks/>
          </p:cNvCxnSpPr>
          <p:nvPr/>
        </p:nvCxnSpPr>
        <p:spPr>
          <a:xfrm flipV="1">
            <a:off x="8078496" y="2786868"/>
            <a:ext cx="1295632" cy="449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16B58E-1A8A-48F7-9B51-075530BD80EC}"/>
              </a:ext>
            </a:extLst>
          </p:cNvPr>
          <p:cNvCxnSpPr>
            <a:cxnSpLocks/>
          </p:cNvCxnSpPr>
          <p:nvPr/>
        </p:nvCxnSpPr>
        <p:spPr>
          <a:xfrm flipV="1">
            <a:off x="8074864" y="2318200"/>
            <a:ext cx="647816" cy="910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" name="Group 7">
            <a:extLst>
              <a:ext uri="{FF2B5EF4-FFF2-40B4-BE49-F238E27FC236}">
                <a16:creationId xmlns:a16="http://schemas.microsoft.com/office/drawing/2014/main" id="{D5061C31-B088-4DE0-9EB1-36D6097E4807}"/>
              </a:ext>
            </a:extLst>
          </p:cNvPr>
          <p:cNvGrpSpPr>
            <a:grpSpLocks/>
          </p:cNvGrpSpPr>
          <p:nvPr/>
        </p:nvGrpSpPr>
        <p:grpSpPr bwMode="auto">
          <a:xfrm>
            <a:off x="8289044" y="5371629"/>
            <a:ext cx="2984500" cy="80963"/>
            <a:chOff x="1510" y="3510"/>
            <a:chExt cx="2522" cy="59"/>
          </a:xfrm>
        </p:grpSpPr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B51FC530-D188-4EE6-9A0E-BB8860D28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64"/>
              <a:ext cx="2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FDBDC17E-148F-44B8-B53D-1599266C9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FA5A1796-1A08-4722-8E1D-80314FFE3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01416224-85AE-417E-88E2-629B195C0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3510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27" name="Group 39">
            <a:extLst>
              <a:ext uri="{FF2B5EF4-FFF2-40B4-BE49-F238E27FC236}">
                <a16:creationId xmlns:a16="http://schemas.microsoft.com/office/drawing/2014/main" id="{5A545AF5-003E-4FB7-BF5D-45F5027D356D}"/>
              </a:ext>
            </a:extLst>
          </p:cNvPr>
          <p:cNvGrpSpPr>
            <a:grpSpLocks/>
          </p:cNvGrpSpPr>
          <p:nvPr/>
        </p:nvGrpSpPr>
        <p:grpSpPr bwMode="auto">
          <a:xfrm>
            <a:off x="8949440" y="4077815"/>
            <a:ext cx="85726" cy="1358902"/>
            <a:chOff x="573" y="2372"/>
            <a:chExt cx="43" cy="1220"/>
          </a:xfrm>
        </p:grpSpPr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D03B90F2-56DD-400F-8917-B4E0D4107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" y="2372"/>
              <a:ext cx="0" cy="1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D32BF9FD-B6E4-48CE-8BE0-BADE0478F5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3153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8D73B4D9-F5F4-46BD-9909-40A7091856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2708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5C7A047-BE03-4AB1-BC9B-E6185BF947BA}"/>
              </a:ext>
            </a:extLst>
          </p:cNvPr>
          <p:cNvSpPr txBox="1"/>
          <p:nvPr/>
        </p:nvSpPr>
        <p:spPr>
          <a:xfrm>
            <a:off x="11312520" y="5252051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283B76-E36E-47EF-B875-9B273D2941DD}"/>
              </a:ext>
            </a:extLst>
          </p:cNvPr>
          <p:cNvSpPr txBox="1"/>
          <p:nvPr/>
        </p:nvSpPr>
        <p:spPr>
          <a:xfrm>
            <a:off x="7867648" y="417640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645A7D-E502-4079-8A8C-3E296E467046}"/>
              </a:ext>
            </a:extLst>
          </p:cNvPr>
          <p:cNvSpPr txBox="1"/>
          <p:nvPr/>
        </p:nvSpPr>
        <p:spPr>
          <a:xfrm>
            <a:off x="8808565" y="545284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36" name="Oval 84">
            <a:extLst>
              <a:ext uri="{FF2B5EF4-FFF2-40B4-BE49-F238E27FC236}">
                <a16:creationId xmlns:a16="http://schemas.microsoft.com/office/drawing/2014/main" id="{14A8AE8E-74AA-41EB-B38A-6E4903C7E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5796" y="4891922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37" name="Oval 84">
            <a:extLst>
              <a:ext uri="{FF2B5EF4-FFF2-40B4-BE49-F238E27FC236}">
                <a16:creationId xmlns:a16="http://schemas.microsoft.com/office/drawing/2014/main" id="{28E5D373-E0EC-45F5-AD63-F75DC2824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60544" y="4387150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E94219-B75E-491D-BE9D-03D3BCC07769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963957" y="4979235"/>
            <a:ext cx="1371839" cy="463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EC04228-AD10-447B-AFEB-4361AD0CE74E}"/>
              </a:ext>
            </a:extLst>
          </p:cNvPr>
          <p:cNvCxnSpPr>
            <a:cxnSpLocks/>
          </p:cNvCxnSpPr>
          <p:nvPr/>
        </p:nvCxnSpPr>
        <p:spPr>
          <a:xfrm flipV="1">
            <a:off x="8960325" y="4525079"/>
            <a:ext cx="647816" cy="910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858DCC7-B6A3-471B-94DC-888F0597EAB9}"/>
              </a:ext>
            </a:extLst>
          </p:cNvPr>
          <p:cNvCxnSpPr>
            <a:cxnSpLocks/>
          </p:cNvCxnSpPr>
          <p:nvPr/>
        </p:nvCxnSpPr>
        <p:spPr>
          <a:xfrm flipV="1">
            <a:off x="9522668" y="1795682"/>
            <a:ext cx="647816" cy="91091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6E46C43-CA6D-4670-9256-2397D5789220}"/>
              </a:ext>
            </a:extLst>
          </p:cNvPr>
          <p:cNvCxnSpPr>
            <a:cxnSpLocks/>
          </p:cNvCxnSpPr>
          <p:nvPr/>
        </p:nvCxnSpPr>
        <p:spPr>
          <a:xfrm flipV="1">
            <a:off x="8894924" y="1752724"/>
            <a:ext cx="1295632" cy="44925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84">
            <a:extLst>
              <a:ext uri="{FF2B5EF4-FFF2-40B4-BE49-F238E27FC236}">
                <a16:creationId xmlns:a16="http://schemas.microsoft.com/office/drawing/2014/main" id="{ED83D0DA-8568-40C8-BA01-C9FC0C7BF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2919" y="1647545"/>
            <a:ext cx="187325" cy="174625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6FCA29-CE55-4992-9A0D-D5968F03E3F5}"/>
                  </a:ext>
                </a:extLst>
              </p:cNvPr>
              <p:cNvSpPr txBox="1"/>
              <p:nvPr/>
            </p:nvSpPr>
            <p:spPr>
              <a:xfrm>
                <a:off x="396761" y="2264031"/>
                <a:ext cx="2950948" cy="6572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6FCA29-CE55-4992-9A0D-D5968F03E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61" y="2264031"/>
                <a:ext cx="2950948" cy="6572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F3012-157F-4796-B77D-4AF5A5C5B6AF}"/>
                  </a:ext>
                </a:extLst>
              </p:cNvPr>
              <p:cNvSpPr txBox="1"/>
              <p:nvPr/>
            </p:nvSpPr>
            <p:spPr>
              <a:xfrm>
                <a:off x="3139274" y="2264031"/>
                <a:ext cx="2950948" cy="6572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F3012-157F-4796-B77D-4AF5A5C5B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274" y="2264031"/>
                <a:ext cx="2950948" cy="6572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84">
            <a:extLst>
              <a:ext uri="{FF2B5EF4-FFF2-40B4-BE49-F238E27FC236}">
                <a16:creationId xmlns:a16="http://schemas.microsoft.com/office/drawing/2014/main" id="{BCAF3C75-E50F-463D-B534-6B393C5E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0888" y="2964031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46" name="Oval 84">
            <a:extLst>
              <a:ext uri="{FF2B5EF4-FFF2-40B4-BE49-F238E27FC236}">
                <a16:creationId xmlns:a16="http://schemas.microsoft.com/office/drawing/2014/main" id="{998BDCE2-4AC6-4203-9A1F-BD24EF0F6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085" y="2964030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47" name="Oval 84">
            <a:extLst>
              <a:ext uri="{FF2B5EF4-FFF2-40B4-BE49-F238E27FC236}">
                <a16:creationId xmlns:a16="http://schemas.microsoft.com/office/drawing/2014/main" id="{474EBB52-A0F1-4FBB-BE7E-3E1AABF1C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4358" y="2964031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48" name="Oval 84">
            <a:extLst>
              <a:ext uri="{FF2B5EF4-FFF2-40B4-BE49-F238E27FC236}">
                <a16:creationId xmlns:a16="http://schemas.microsoft.com/office/drawing/2014/main" id="{99EF252C-B37D-40D7-AF43-C4A285FFC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615" y="2964030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49" name="Oval 84">
            <a:extLst>
              <a:ext uri="{FF2B5EF4-FFF2-40B4-BE49-F238E27FC236}">
                <a16:creationId xmlns:a16="http://schemas.microsoft.com/office/drawing/2014/main" id="{D265A374-94CA-47E2-9577-740D322EC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6512" y="2964030"/>
            <a:ext cx="187325" cy="174625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50" name="Oval 84">
            <a:extLst>
              <a:ext uri="{FF2B5EF4-FFF2-40B4-BE49-F238E27FC236}">
                <a16:creationId xmlns:a16="http://schemas.microsoft.com/office/drawing/2014/main" id="{D53F3741-14DB-45F5-B423-2F33D25B7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2290" y="2964029"/>
            <a:ext cx="187325" cy="174625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769C60-2F9B-471E-ADE3-3DB3E7BCEC65}"/>
              </a:ext>
            </a:extLst>
          </p:cNvPr>
          <p:cNvCxnSpPr>
            <a:cxnSpLocks/>
          </p:cNvCxnSpPr>
          <p:nvPr/>
        </p:nvCxnSpPr>
        <p:spPr>
          <a:xfrm flipV="1">
            <a:off x="8289044" y="4532870"/>
            <a:ext cx="1295044" cy="42563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84">
            <a:extLst>
              <a:ext uri="{FF2B5EF4-FFF2-40B4-BE49-F238E27FC236}">
                <a16:creationId xmlns:a16="http://schemas.microsoft.com/office/drawing/2014/main" id="{A2E70360-D6FC-463B-937C-36084770CE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7339" y="4891922"/>
            <a:ext cx="187325" cy="174625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8743F39-A0D2-4A27-880C-513E9ACA8D57}"/>
              </a:ext>
            </a:extLst>
          </p:cNvPr>
          <p:cNvCxnSpPr>
            <a:cxnSpLocks/>
          </p:cNvCxnSpPr>
          <p:nvPr/>
        </p:nvCxnSpPr>
        <p:spPr>
          <a:xfrm flipV="1">
            <a:off x="9714890" y="5067770"/>
            <a:ext cx="647816" cy="91091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84">
            <a:extLst>
              <a:ext uri="{FF2B5EF4-FFF2-40B4-BE49-F238E27FC236}">
                <a16:creationId xmlns:a16="http://schemas.microsoft.com/office/drawing/2014/main" id="{9184ECFC-8048-4C55-81B3-2E344C32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84697" y="5970662"/>
            <a:ext cx="187325" cy="174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80D786-38E8-405C-8766-DB2E1FA304AE}"/>
                  </a:ext>
                </a:extLst>
              </p:cNvPr>
              <p:cNvSpPr txBox="1"/>
              <p:nvPr/>
            </p:nvSpPr>
            <p:spPr>
              <a:xfrm>
                <a:off x="472787" y="4521661"/>
                <a:ext cx="2950948" cy="61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80D786-38E8-405C-8766-DB2E1FA304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787" y="4521661"/>
                <a:ext cx="2950948" cy="6134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19F0F6-8DAD-4CC5-BE93-16572BD6D119}"/>
                  </a:ext>
                </a:extLst>
              </p:cNvPr>
              <p:cNvSpPr txBox="1"/>
              <p:nvPr/>
            </p:nvSpPr>
            <p:spPr>
              <a:xfrm>
                <a:off x="3215300" y="4521661"/>
                <a:ext cx="2950948" cy="61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119F0F6-8DAD-4CC5-BE93-16572BD6D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300" y="4521661"/>
                <a:ext cx="2950948" cy="6134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84">
            <a:extLst>
              <a:ext uri="{FF2B5EF4-FFF2-40B4-BE49-F238E27FC236}">
                <a16:creationId xmlns:a16="http://schemas.microsoft.com/office/drawing/2014/main" id="{4DAF6978-7384-4831-A436-32A8E3CBDD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69" y="5212859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1" name="Oval 84">
            <a:extLst>
              <a:ext uri="{FF2B5EF4-FFF2-40B4-BE49-F238E27FC236}">
                <a16:creationId xmlns:a16="http://schemas.microsoft.com/office/drawing/2014/main" id="{C2E325C4-8C7A-485F-9D49-5DD6E3DC3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066" y="5212858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2" name="Oval 84">
            <a:extLst>
              <a:ext uri="{FF2B5EF4-FFF2-40B4-BE49-F238E27FC236}">
                <a16:creationId xmlns:a16="http://schemas.microsoft.com/office/drawing/2014/main" id="{107F467E-FF3F-4B23-A0EA-6F3D147DA5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339" y="5212859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3" name="Oval 84">
            <a:extLst>
              <a:ext uri="{FF2B5EF4-FFF2-40B4-BE49-F238E27FC236}">
                <a16:creationId xmlns:a16="http://schemas.microsoft.com/office/drawing/2014/main" id="{5765473D-CF70-4C85-B67F-57AA68208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596" y="5212858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4" name="Oval 84">
            <a:extLst>
              <a:ext uri="{FF2B5EF4-FFF2-40B4-BE49-F238E27FC236}">
                <a16:creationId xmlns:a16="http://schemas.microsoft.com/office/drawing/2014/main" id="{672B00AE-E10A-4460-BC1F-C9DBA12AB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476" y="5219814"/>
            <a:ext cx="187325" cy="174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5" name="Oval 84">
            <a:extLst>
              <a:ext uri="{FF2B5EF4-FFF2-40B4-BE49-F238E27FC236}">
                <a16:creationId xmlns:a16="http://schemas.microsoft.com/office/drawing/2014/main" id="{F862B49A-98B1-46BD-9F19-F44F6561F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947" y="5212857"/>
            <a:ext cx="187325" cy="174625"/>
          </a:xfrm>
          <a:prstGeom prst="ellipse">
            <a:avLst/>
          </a:prstGeom>
          <a:solidFill>
            <a:srgbClr val="00B05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A6B3258-9BE8-4BC5-A9E0-EFDEAFDDD841}"/>
              </a:ext>
            </a:extLst>
          </p:cNvPr>
          <p:cNvSpPr/>
          <p:nvPr/>
        </p:nvSpPr>
        <p:spPr>
          <a:xfrm>
            <a:off x="7510684" y="1361880"/>
            <a:ext cx="4304501" cy="500082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145DD89-4424-455A-8172-68EE3266C781}"/>
              </a:ext>
            </a:extLst>
          </p:cNvPr>
          <p:cNvSpPr/>
          <p:nvPr/>
        </p:nvSpPr>
        <p:spPr>
          <a:xfrm>
            <a:off x="472787" y="1361880"/>
            <a:ext cx="5821150" cy="500082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41153D-8435-456C-B808-BDF650A9C8C4}"/>
              </a:ext>
            </a:extLst>
          </p:cNvPr>
          <p:cNvSpPr txBox="1"/>
          <p:nvPr/>
        </p:nvSpPr>
        <p:spPr>
          <a:xfrm>
            <a:off x="869956" y="1686270"/>
            <a:ext cx="20360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Adding vectors</a:t>
            </a:r>
            <a:endParaRPr lang="en-NL" sz="2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D31179C-7998-4B56-A1F2-9AA1446A1D0E}"/>
              </a:ext>
            </a:extLst>
          </p:cNvPr>
          <p:cNvSpPr txBox="1"/>
          <p:nvPr/>
        </p:nvSpPr>
        <p:spPr>
          <a:xfrm>
            <a:off x="873391" y="3975281"/>
            <a:ext cx="2581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Subtracting vectors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4177869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8C53C-0A31-4ADE-9686-DFE091C8B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26559"/>
            <a:ext cx="10134600" cy="706246"/>
          </a:xfrm>
        </p:spPr>
        <p:txBody>
          <a:bodyPr/>
          <a:lstStyle/>
          <a:p>
            <a:r>
              <a:rPr lang="en-US" dirty="0"/>
              <a:t>Adding / subtracting vectors in data analysis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C71FE-D336-4AEA-975D-BAC91EF9E6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1001" y="1825625"/>
                <a:ext cx="6400800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sz="2400" dirty="0"/>
                  <a:t> will be predicted from </a:t>
                </a:r>
                <a:r>
                  <a:rPr lang="en-US" sz="2400" b="1" dirty="0"/>
                  <a:t>X</a:t>
                </a:r>
              </a:p>
              <a:p>
                <a:r>
                  <a:rPr lang="en-US" sz="2400" dirty="0"/>
                  <a:t>The prediction is called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</m:oMath>
                </a14:m>
                <a:endParaRPr lang="en-US" sz="2400" dirty="0"/>
              </a:p>
              <a:p>
                <a:r>
                  <a:rPr lang="en-US" sz="2400" dirty="0"/>
                  <a:t>The part not predicted is residual </a:t>
                </a:r>
                <a:r>
                  <a:rPr lang="en-US" sz="2400" b="1" dirty="0"/>
                  <a:t>e</a:t>
                </a:r>
              </a:p>
              <a:p>
                <a:r>
                  <a:rPr lang="en-US" sz="2400" b="1" dirty="0"/>
                  <a:t>Adding / subtracting vectors can ONLY be done if they have the same size!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Mean centering:</a:t>
                </a:r>
              </a:p>
              <a:p>
                <a:pPr lvl="1"/>
                <a:r>
                  <a:rPr lang="en-US" sz="2000" dirty="0"/>
                  <a:t>The variation between values is often represented by their mean-centered value.</a:t>
                </a:r>
              </a:p>
              <a:p>
                <a:pPr lvl="1"/>
                <a:r>
                  <a:rPr lang="en-US" sz="2000" dirty="0"/>
                  <a:t>The mean of the vector is subtracted from all elements.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N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5C71FE-D336-4AEA-975D-BAC91EF9E6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1" y="1825625"/>
                <a:ext cx="6400800" cy="4351338"/>
              </a:xfrm>
              <a:blipFill>
                <a:blip r:embed="rId3"/>
                <a:stretch>
                  <a:fillRect l="-1333" t="-1961" r="-1333" b="-28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049BB5-7BA5-499C-A761-F110B0DFA1BF}"/>
                  </a:ext>
                </a:extLst>
              </p:cNvPr>
              <p:cNvSpPr txBox="1"/>
              <p:nvPr/>
            </p:nvSpPr>
            <p:spPr>
              <a:xfrm>
                <a:off x="8696325" y="1758434"/>
                <a:ext cx="300037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𝐞</m:t>
                      </m:r>
                    </m:oMath>
                  </m:oMathPara>
                </a14:m>
                <a:endParaRPr lang="en-US" sz="28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𝐞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 −</m:t>
                      </m:r>
                      <m:acc>
                        <m:accPr>
                          <m:chr m:val="̂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049BB5-7BA5-499C-A761-F110B0DFA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6325" y="1758434"/>
                <a:ext cx="3000375" cy="95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0FA346-03E0-4D20-A519-BD2F98AB5140}"/>
                  </a:ext>
                </a:extLst>
              </p:cNvPr>
              <p:cNvSpPr txBox="1"/>
              <p:nvPr/>
            </p:nvSpPr>
            <p:spPr>
              <a:xfrm>
                <a:off x="8751195" y="3429000"/>
                <a:ext cx="624349" cy="976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0FA346-03E0-4D20-A519-BD2F98AB5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1195" y="3429000"/>
                <a:ext cx="624349" cy="97661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50558B-D03F-41B0-8D22-45D072EDFE1C}"/>
                  </a:ext>
                </a:extLst>
              </p:cNvPr>
              <p:cNvSpPr txBox="1"/>
              <p:nvPr/>
            </p:nvSpPr>
            <p:spPr>
              <a:xfrm>
                <a:off x="9855762" y="3429000"/>
                <a:ext cx="624349" cy="976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4.7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250558B-D03F-41B0-8D22-45D072EDF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762" y="3429000"/>
                <a:ext cx="624349" cy="97661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2EDF7-8A21-4C7C-99EC-B9811F165741}"/>
                  </a:ext>
                </a:extLst>
              </p:cNvPr>
              <p:cNvSpPr txBox="1"/>
              <p:nvPr/>
            </p:nvSpPr>
            <p:spPr>
              <a:xfrm>
                <a:off x="10986626" y="3429000"/>
                <a:ext cx="624349" cy="976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−0.2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252EDF7-8A21-4C7C-99EC-B9811F1657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26" y="3429000"/>
                <a:ext cx="624349" cy="976614"/>
              </a:xfrm>
              <a:prstGeom prst="rect">
                <a:avLst/>
              </a:prstGeom>
              <a:blipFill>
                <a:blip r:embed="rId7"/>
                <a:stretch>
                  <a:fillRect r="-3398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EFA29E-D239-4DFA-8DD8-0723BD0612B3}"/>
                  </a:ext>
                </a:extLst>
              </p:cNvPr>
              <p:cNvSpPr txBox="1"/>
              <p:nvPr/>
            </p:nvSpPr>
            <p:spPr>
              <a:xfrm>
                <a:off x="9267361" y="3766603"/>
                <a:ext cx="4095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8EFA29E-D239-4DFA-8DD8-0723BD0612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7361" y="3766603"/>
                <a:ext cx="409575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5C060B-CCC9-469E-847E-A3462EAC21E0}"/>
                  </a:ext>
                </a:extLst>
              </p:cNvPr>
              <p:cNvSpPr txBox="1"/>
              <p:nvPr/>
            </p:nvSpPr>
            <p:spPr>
              <a:xfrm>
                <a:off x="10490481" y="3766603"/>
                <a:ext cx="4095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35C060B-CCC9-469E-847E-A3462EAC2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0481" y="3766603"/>
                <a:ext cx="409575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93989C-F1BA-494A-A5B2-56FEE682ECE8}"/>
                  </a:ext>
                </a:extLst>
              </p:cNvPr>
              <p:cNvSpPr txBox="1"/>
              <p:nvPr/>
            </p:nvSpPr>
            <p:spPr>
              <a:xfrm>
                <a:off x="8702835" y="4971369"/>
                <a:ext cx="624349" cy="976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393989C-F1BA-494A-A5B2-56FEE682E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835" y="4971369"/>
                <a:ext cx="624349" cy="97661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8AA58E-1157-479E-AF03-08ECDBFB614F}"/>
                  </a:ext>
                </a:extLst>
              </p:cNvPr>
              <p:cNvSpPr txBox="1"/>
              <p:nvPr/>
            </p:nvSpPr>
            <p:spPr>
              <a:xfrm>
                <a:off x="9835442" y="4993640"/>
                <a:ext cx="624349" cy="976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18AA58E-1157-479E-AF03-08ECDBFB6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442" y="4993640"/>
                <a:ext cx="624349" cy="9766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A76669-33A0-4D6C-95B6-B3338100D9D2}"/>
                  </a:ext>
                </a:extLst>
              </p:cNvPr>
              <p:cNvSpPr txBox="1"/>
              <p:nvPr/>
            </p:nvSpPr>
            <p:spPr>
              <a:xfrm>
                <a:off x="10966306" y="4993640"/>
                <a:ext cx="624349" cy="9766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A76669-33A0-4D6C-95B6-B3338100D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306" y="4993640"/>
                <a:ext cx="624349" cy="9766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AAAD69-35F1-41C2-9340-92FE6956A96C}"/>
                  </a:ext>
                </a:extLst>
              </p:cNvPr>
              <p:cNvSpPr txBox="1"/>
              <p:nvPr/>
            </p:nvSpPr>
            <p:spPr>
              <a:xfrm>
                <a:off x="9339297" y="5297281"/>
                <a:ext cx="4095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6AAAD69-35F1-41C2-9340-92FE6956A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9297" y="5297281"/>
                <a:ext cx="40957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9FD184-5ED9-4E78-B4F3-1B16B1E40B26}"/>
                  </a:ext>
                </a:extLst>
              </p:cNvPr>
              <p:cNvSpPr txBox="1"/>
              <p:nvPr/>
            </p:nvSpPr>
            <p:spPr>
              <a:xfrm>
                <a:off x="10470161" y="5331243"/>
                <a:ext cx="4095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59FD184-5ED9-4E78-B4F3-1B16B1E40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0161" y="5331243"/>
                <a:ext cx="409575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AA0E708-2438-4156-9A87-3C5923E1CB60}"/>
              </a:ext>
            </a:extLst>
          </p:cNvPr>
          <p:cNvSpPr/>
          <p:nvPr/>
        </p:nvSpPr>
        <p:spPr>
          <a:xfrm>
            <a:off x="8343900" y="1552575"/>
            <a:ext cx="3638550" cy="481012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82ECF22-7B1C-47B1-A2A9-8264449F70E9}"/>
              </a:ext>
            </a:extLst>
          </p:cNvPr>
          <p:cNvSpPr/>
          <p:nvPr/>
        </p:nvSpPr>
        <p:spPr>
          <a:xfrm>
            <a:off x="202174" y="1546206"/>
            <a:ext cx="6693926" cy="481012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80164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DD448-05FD-412F-90EA-1176B8D49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24" y="187237"/>
            <a:ext cx="10515600" cy="744052"/>
          </a:xfrm>
        </p:spPr>
        <p:txBody>
          <a:bodyPr>
            <a:normAutofit/>
          </a:bodyPr>
          <a:lstStyle/>
          <a:p>
            <a:r>
              <a:rPr lang="en-US" dirty="0"/>
              <a:t>Multiplying vectors with a constant</a:t>
            </a:r>
            <a:endParaRPr lang="en-NL" dirty="0"/>
          </a:p>
        </p:txBody>
      </p:sp>
      <p:grpSp>
        <p:nvGrpSpPr>
          <p:cNvPr id="22" name="Group 7">
            <a:extLst>
              <a:ext uri="{FF2B5EF4-FFF2-40B4-BE49-F238E27FC236}">
                <a16:creationId xmlns:a16="http://schemas.microsoft.com/office/drawing/2014/main" id="{D5061C31-B088-4DE0-9EB1-36D6097E4807}"/>
              </a:ext>
            </a:extLst>
          </p:cNvPr>
          <p:cNvGrpSpPr>
            <a:grpSpLocks/>
          </p:cNvGrpSpPr>
          <p:nvPr/>
        </p:nvGrpSpPr>
        <p:grpSpPr bwMode="auto">
          <a:xfrm>
            <a:off x="7623882" y="3894318"/>
            <a:ext cx="2984500" cy="80963"/>
            <a:chOff x="1510" y="3510"/>
            <a:chExt cx="2522" cy="59"/>
          </a:xfrm>
        </p:grpSpPr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B51FC530-D188-4EE6-9A0E-BB8860D284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64"/>
              <a:ext cx="2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FDBDC17E-148F-44B8-B53D-1599266C9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FA5A1796-1A08-4722-8E1D-80314FFE37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01416224-85AE-417E-88E2-629B195C0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3510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27" name="Group 39">
            <a:extLst>
              <a:ext uri="{FF2B5EF4-FFF2-40B4-BE49-F238E27FC236}">
                <a16:creationId xmlns:a16="http://schemas.microsoft.com/office/drawing/2014/main" id="{5A545AF5-003E-4FB7-BF5D-45F5027D356D}"/>
              </a:ext>
            </a:extLst>
          </p:cNvPr>
          <p:cNvGrpSpPr>
            <a:grpSpLocks/>
          </p:cNvGrpSpPr>
          <p:nvPr/>
        </p:nvGrpSpPr>
        <p:grpSpPr bwMode="auto">
          <a:xfrm>
            <a:off x="8284278" y="2600504"/>
            <a:ext cx="85726" cy="1358902"/>
            <a:chOff x="573" y="2372"/>
            <a:chExt cx="43" cy="1220"/>
          </a:xfrm>
        </p:grpSpPr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D03B90F2-56DD-400F-8917-B4E0D41071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" y="2372"/>
              <a:ext cx="0" cy="1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D32BF9FD-B6E4-48CE-8BE0-BADE0478F50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3153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8D73B4D9-F5F4-46BD-9909-40A7091856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2708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5C7A047-BE03-4AB1-BC9B-E6185BF947BA}"/>
              </a:ext>
            </a:extLst>
          </p:cNvPr>
          <p:cNvSpPr txBox="1"/>
          <p:nvPr/>
        </p:nvSpPr>
        <p:spPr>
          <a:xfrm>
            <a:off x="10647358" y="377474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283B76-E36E-47EF-B875-9B273D2941DD}"/>
              </a:ext>
            </a:extLst>
          </p:cNvPr>
          <p:cNvSpPr txBox="1"/>
          <p:nvPr/>
        </p:nvSpPr>
        <p:spPr>
          <a:xfrm>
            <a:off x="7876759" y="2585975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645A7D-E502-4079-8A8C-3E296E467046}"/>
              </a:ext>
            </a:extLst>
          </p:cNvPr>
          <p:cNvSpPr txBox="1"/>
          <p:nvPr/>
        </p:nvSpPr>
        <p:spPr>
          <a:xfrm>
            <a:off x="8143403" y="397553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36" name="Oval 84">
            <a:extLst>
              <a:ext uri="{FF2B5EF4-FFF2-40B4-BE49-F238E27FC236}">
                <a16:creationId xmlns:a16="http://schemas.microsoft.com/office/drawing/2014/main" id="{14A8AE8E-74AA-41EB-B38A-6E4903C7E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634" y="3414611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2E94219-B75E-491D-BE9D-03D3BCC07769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8298795" y="3501924"/>
            <a:ext cx="1371839" cy="4637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6FCA29-CE55-4992-9A0D-D5968F03E3F5}"/>
                  </a:ext>
                </a:extLst>
              </p:cNvPr>
              <p:cNvSpPr txBox="1"/>
              <p:nvPr/>
            </p:nvSpPr>
            <p:spPr>
              <a:xfrm>
                <a:off x="396761" y="2883156"/>
                <a:ext cx="2950948" cy="61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∗2=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6FCA29-CE55-4992-9A0D-D5968F03E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61" y="2883156"/>
                <a:ext cx="2950948" cy="613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F3012-157F-4796-B77D-4AF5A5C5B6AF}"/>
                  </a:ext>
                </a:extLst>
              </p:cNvPr>
              <p:cNvSpPr txBox="1"/>
              <p:nvPr/>
            </p:nvSpPr>
            <p:spPr>
              <a:xfrm>
                <a:off x="3139274" y="2883156"/>
                <a:ext cx="2950948" cy="6572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∗−0.5=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4FF3012-157F-4796-B77D-4AF5A5C5B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274" y="2883156"/>
                <a:ext cx="2950948" cy="6572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val 84">
            <a:extLst>
              <a:ext uri="{FF2B5EF4-FFF2-40B4-BE49-F238E27FC236}">
                <a16:creationId xmlns:a16="http://schemas.microsoft.com/office/drawing/2014/main" id="{BCAF3C75-E50F-463D-B534-6B393C5ED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4439" y="3574354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46" name="Oval 84">
            <a:extLst>
              <a:ext uri="{FF2B5EF4-FFF2-40B4-BE49-F238E27FC236}">
                <a16:creationId xmlns:a16="http://schemas.microsoft.com/office/drawing/2014/main" id="{998BDCE2-4AC6-4203-9A1F-BD24EF0F6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3735" y="3583154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50" name="Oval 84">
            <a:extLst>
              <a:ext uri="{FF2B5EF4-FFF2-40B4-BE49-F238E27FC236}">
                <a16:creationId xmlns:a16="http://schemas.microsoft.com/office/drawing/2014/main" id="{D53F3741-14DB-45F5-B423-2F33D25B79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9806" y="3574122"/>
            <a:ext cx="187325" cy="174625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EF769C60-2F9B-471E-ADE3-3DB3E7BCEC65}"/>
              </a:ext>
            </a:extLst>
          </p:cNvPr>
          <p:cNvCxnSpPr>
            <a:cxnSpLocks/>
          </p:cNvCxnSpPr>
          <p:nvPr/>
        </p:nvCxnSpPr>
        <p:spPr>
          <a:xfrm flipV="1">
            <a:off x="7641741" y="3962033"/>
            <a:ext cx="638920" cy="24408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Oval 84">
            <a:extLst>
              <a:ext uri="{FF2B5EF4-FFF2-40B4-BE49-F238E27FC236}">
                <a16:creationId xmlns:a16="http://schemas.microsoft.com/office/drawing/2014/main" id="{9184ECFC-8048-4C55-81B3-2E344C32F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6141" y="4188179"/>
            <a:ext cx="187325" cy="174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A6B3258-9BE8-4BC5-A9E0-EFDEAFDDD841}"/>
              </a:ext>
            </a:extLst>
          </p:cNvPr>
          <p:cNvSpPr/>
          <p:nvPr/>
        </p:nvSpPr>
        <p:spPr>
          <a:xfrm>
            <a:off x="7167784" y="1733549"/>
            <a:ext cx="4304501" cy="329565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D145DD89-4424-455A-8172-68EE3266C781}"/>
              </a:ext>
            </a:extLst>
          </p:cNvPr>
          <p:cNvSpPr/>
          <p:nvPr/>
        </p:nvSpPr>
        <p:spPr>
          <a:xfrm>
            <a:off x="472787" y="1733549"/>
            <a:ext cx="5821150" cy="329565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" name="Oval 84">
            <a:extLst>
              <a:ext uri="{FF2B5EF4-FFF2-40B4-BE49-F238E27FC236}">
                <a16:creationId xmlns:a16="http://schemas.microsoft.com/office/drawing/2014/main" id="{105AB552-522D-4CC5-6655-1D5EA4ECB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594" y="3587654"/>
            <a:ext cx="187325" cy="174625"/>
          </a:xfrm>
          <a:prstGeom prst="ellipse">
            <a:avLst/>
          </a:prstGeom>
          <a:solidFill>
            <a:srgbClr val="FF0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6523AD-C54E-1889-BDA3-0F060B59DB41}"/>
              </a:ext>
            </a:extLst>
          </p:cNvPr>
          <p:cNvCxnSpPr>
            <a:cxnSpLocks/>
          </p:cNvCxnSpPr>
          <p:nvPr/>
        </p:nvCxnSpPr>
        <p:spPr>
          <a:xfrm flipV="1">
            <a:off x="9712369" y="3034854"/>
            <a:ext cx="1371839" cy="46376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84">
            <a:extLst>
              <a:ext uri="{FF2B5EF4-FFF2-40B4-BE49-F238E27FC236}">
                <a16:creationId xmlns:a16="http://schemas.microsoft.com/office/drawing/2014/main" id="{0DCB3211-83B8-5C12-65D4-64D7A1D94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5943" y="2908609"/>
            <a:ext cx="187325" cy="174625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3387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84033-52E1-4A89-A616-484FD8B4B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2172"/>
            <a:ext cx="10515600" cy="61930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matrix </a:t>
            </a:r>
            <a:r>
              <a:rPr lang="en-US" b="1" dirty="0"/>
              <a:t>X</a:t>
            </a:r>
            <a:r>
              <a:rPr lang="en-US" dirty="0"/>
              <a:t>: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5A838-96E0-4F78-853C-4D2F5DA9F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8" y="1232452"/>
            <a:ext cx="7398226" cy="534559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X</a:t>
            </a:r>
            <a:r>
              <a:rPr lang="en-US" dirty="0"/>
              <a:t>: Data Matrix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I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rows</a:t>
            </a:r>
            <a:r>
              <a:rPr lang="en-US" dirty="0"/>
              <a:t> (</a:t>
            </a:r>
            <a:r>
              <a:rPr lang="en-US" i="1" dirty="0"/>
              <a:t>i</a:t>
            </a:r>
            <a:r>
              <a:rPr lang="en-US" dirty="0"/>
              <a:t> = 1,…,</a:t>
            </a:r>
            <a:r>
              <a:rPr lang="en-US" i="1" dirty="0"/>
              <a:t>I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0070C0"/>
                </a:solidFill>
              </a:rPr>
              <a:t>row</a:t>
            </a:r>
            <a:r>
              <a:rPr lang="en-US" dirty="0"/>
              <a:t> </a:t>
            </a:r>
            <a:r>
              <a:rPr lang="en-US" b="1" dirty="0" err="1"/>
              <a:t>x</a:t>
            </a:r>
            <a:r>
              <a:rPr lang="en-US" i="1" baseline="-25000" dirty="0" err="1"/>
              <a:t>i.</a:t>
            </a:r>
            <a:r>
              <a:rPr lang="en-US" baseline="30000" dirty="0" err="1"/>
              <a:t>T</a:t>
            </a:r>
            <a:r>
              <a:rPr lang="en-US" dirty="0"/>
              <a:t> contains all </a:t>
            </a:r>
            <a:r>
              <a:rPr lang="en-US" i="1" dirty="0"/>
              <a:t>J</a:t>
            </a:r>
            <a:r>
              <a:rPr lang="en-US" dirty="0"/>
              <a:t> features for row </a:t>
            </a:r>
            <a:r>
              <a:rPr lang="en-US" i="1" dirty="0"/>
              <a:t>i </a:t>
            </a:r>
          </a:p>
          <a:p>
            <a:pPr lvl="1"/>
            <a:r>
              <a:rPr lang="en-US" dirty="0"/>
              <a:t>We call these: samples, subjects, individuals, …</a:t>
            </a:r>
          </a:p>
          <a:p>
            <a:pPr lvl="1"/>
            <a:r>
              <a:rPr lang="en-US" dirty="0"/>
              <a:t>e.g. [ 5 g/l, 7 mmol/cm</a:t>
            </a:r>
            <a:r>
              <a:rPr lang="en-US" baseline="30000" dirty="0"/>
              <a:t>3</a:t>
            </a:r>
            <a:r>
              <a:rPr lang="en-US" dirty="0"/>
              <a:t>, 1103 counts, … ]</a:t>
            </a:r>
            <a:endParaRPr lang="en-US" baseline="30000" dirty="0"/>
          </a:p>
          <a:p>
            <a:pPr lvl="1"/>
            <a:endParaRPr lang="en-US" dirty="0"/>
          </a:p>
          <a:p>
            <a:pPr lvl="1"/>
            <a:r>
              <a:rPr lang="en-US" i="1" dirty="0"/>
              <a:t>J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columns</a:t>
            </a:r>
            <a:r>
              <a:rPr lang="en-US" dirty="0"/>
              <a:t> (</a:t>
            </a:r>
            <a:r>
              <a:rPr lang="en-US" i="1" dirty="0"/>
              <a:t>j</a:t>
            </a:r>
            <a:r>
              <a:rPr lang="en-US" dirty="0"/>
              <a:t> = 1, …, </a:t>
            </a:r>
            <a:r>
              <a:rPr lang="en-US" i="1" dirty="0"/>
              <a:t>J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column</a:t>
            </a:r>
            <a:r>
              <a:rPr lang="en-US" dirty="0"/>
              <a:t> </a:t>
            </a:r>
            <a:r>
              <a:rPr lang="en-US" b="1" dirty="0" err="1"/>
              <a:t>x</a:t>
            </a:r>
            <a:r>
              <a:rPr lang="en-US" baseline="-25000" dirty="0" err="1"/>
              <a:t>.</a:t>
            </a:r>
            <a:r>
              <a:rPr lang="en-US" i="1" baseline="-25000" dirty="0" err="1"/>
              <a:t>j</a:t>
            </a:r>
            <a:r>
              <a:rPr lang="en-US" dirty="0"/>
              <a:t> contains feature </a:t>
            </a:r>
            <a:r>
              <a:rPr lang="en-US" i="1" dirty="0"/>
              <a:t>j</a:t>
            </a:r>
            <a:r>
              <a:rPr lang="en-US" dirty="0"/>
              <a:t> for all </a:t>
            </a:r>
            <a:r>
              <a:rPr lang="en-US" i="1" dirty="0"/>
              <a:t>I</a:t>
            </a:r>
            <a:r>
              <a:rPr lang="en-US" dirty="0"/>
              <a:t> subjects </a:t>
            </a:r>
          </a:p>
          <a:p>
            <a:pPr lvl="1"/>
            <a:r>
              <a:rPr lang="en-US" dirty="0"/>
              <a:t>We call these: </a:t>
            </a:r>
          </a:p>
          <a:p>
            <a:pPr lvl="2"/>
            <a:r>
              <a:rPr lang="en-US" dirty="0"/>
              <a:t>Features: unknown identity</a:t>
            </a:r>
          </a:p>
          <a:p>
            <a:pPr lvl="2"/>
            <a:r>
              <a:rPr lang="en-US" dirty="0"/>
              <a:t>Variables: (metabolites, genes, …)</a:t>
            </a:r>
          </a:p>
          <a:p>
            <a:pPr lvl="2"/>
            <a:r>
              <a:rPr lang="en-US" dirty="0"/>
              <a:t>Factors: experimental setting (categorical)</a:t>
            </a:r>
          </a:p>
          <a:p>
            <a:pPr lvl="2"/>
            <a:r>
              <a:rPr lang="en-US" dirty="0"/>
              <a:t>Cofactors: additional info on samples (quantitative)</a:t>
            </a:r>
          </a:p>
          <a:p>
            <a:pPr lvl="1"/>
            <a:endParaRPr lang="en-N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08DE01-5160-495A-8BFA-1586FC3DD072}"/>
              </a:ext>
            </a:extLst>
          </p:cNvPr>
          <p:cNvSpPr/>
          <p:nvPr/>
        </p:nvSpPr>
        <p:spPr>
          <a:xfrm>
            <a:off x="9352968" y="2205038"/>
            <a:ext cx="1548921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FD2AA7-29BB-4CAD-85CC-1ECC8F415E0D}"/>
              </a:ext>
            </a:extLst>
          </p:cNvPr>
          <p:cNvCxnSpPr/>
          <p:nvPr/>
        </p:nvCxnSpPr>
        <p:spPr>
          <a:xfrm>
            <a:off x="9342761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F68B090-46FC-4AA4-BA40-911D00D85214}"/>
              </a:ext>
            </a:extLst>
          </p:cNvPr>
          <p:cNvCxnSpPr>
            <a:cxnSpLocks/>
          </p:cNvCxnSpPr>
          <p:nvPr/>
        </p:nvCxnSpPr>
        <p:spPr>
          <a:xfrm flipH="1">
            <a:off x="9332280" y="3675899"/>
            <a:ext cx="161194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81858B-D5A9-4F13-AEB4-2C385316F0DA}"/>
              </a:ext>
            </a:extLst>
          </p:cNvPr>
          <p:cNvCxnSpPr>
            <a:cxnSpLocks/>
          </p:cNvCxnSpPr>
          <p:nvPr/>
        </p:nvCxnSpPr>
        <p:spPr>
          <a:xfrm flipH="1">
            <a:off x="9332280" y="3812424"/>
            <a:ext cx="161194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22F70A-67F5-4FA0-AF7B-1D9D09B6D160}"/>
              </a:ext>
            </a:extLst>
          </p:cNvPr>
          <p:cNvCxnSpPr>
            <a:cxnSpLocks/>
          </p:cNvCxnSpPr>
          <p:nvPr/>
        </p:nvCxnSpPr>
        <p:spPr>
          <a:xfrm flipH="1">
            <a:off x="9332280" y="3942599"/>
            <a:ext cx="161194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0E4B7-5211-4AA2-8FD0-5805EEB936A6}"/>
              </a:ext>
            </a:extLst>
          </p:cNvPr>
          <p:cNvCxnSpPr>
            <a:cxnSpLocks/>
          </p:cNvCxnSpPr>
          <p:nvPr/>
        </p:nvCxnSpPr>
        <p:spPr>
          <a:xfrm flipH="1">
            <a:off x="9332280" y="4072774"/>
            <a:ext cx="161194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E7BB5E0-2210-4AE9-AC33-D3064AE5587A}"/>
              </a:ext>
            </a:extLst>
          </p:cNvPr>
          <p:cNvCxnSpPr>
            <a:cxnSpLocks/>
          </p:cNvCxnSpPr>
          <p:nvPr/>
        </p:nvCxnSpPr>
        <p:spPr>
          <a:xfrm flipH="1">
            <a:off x="9332280" y="4209299"/>
            <a:ext cx="161194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0F82BF1-592F-46FF-8182-3C614C18D4D2}"/>
              </a:ext>
            </a:extLst>
          </p:cNvPr>
          <p:cNvCxnSpPr/>
          <p:nvPr/>
        </p:nvCxnSpPr>
        <p:spPr>
          <a:xfrm>
            <a:off x="9491986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6397B8-D08C-4039-9FD5-04B7EEBB2227}"/>
              </a:ext>
            </a:extLst>
          </p:cNvPr>
          <p:cNvCxnSpPr/>
          <p:nvPr/>
        </p:nvCxnSpPr>
        <p:spPr>
          <a:xfrm>
            <a:off x="9666611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095E7C-C4E0-4C3C-ADB4-BE8B8AAEE24A}"/>
              </a:ext>
            </a:extLst>
          </p:cNvPr>
          <p:cNvCxnSpPr/>
          <p:nvPr/>
        </p:nvCxnSpPr>
        <p:spPr>
          <a:xfrm>
            <a:off x="9815836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1E461D6-2EB1-4205-A592-0228223DEDDF}"/>
              </a:ext>
            </a:extLst>
          </p:cNvPr>
          <p:cNvCxnSpPr/>
          <p:nvPr/>
        </p:nvCxnSpPr>
        <p:spPr>
          <a:xfrm>
            <a:off x="9996811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63D017-743B-4E93-A917-36B73E923674}"/>
              </a:ext>
            </a:extLst>
          </p:cNvPr>
          <p:cNvCxnSpPr/>
          <p:nvPr/>
        </p:nvCxnSpPr>
        <p:spPr>
          <a:xfrm>
            <a:off x="10146036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0140DF-C1F4-47E6-BD34-AE703AFB72DB}"/>
              </a:ext>
            </a:extLst>
          </p:cNvPr>
          <p:cNvCxnSpPr/>
          <p:nvPr/>
        </p:nvCxnSpPr>
        <p:spPr>
          <a:xfrm>
            <a:off x="10320661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9ABC123-CD5A-4873-820C-0732D6AFB738}"/>
              </a:ext>
            </a:extLst>
          </p:cNvPr>
          <p:cNvCxnSpPr/>
          <p:nvPr/>
        </p:nvCxnSpPr>
        <p:spPr>
          <a:xfrm>
            <a:off x="10469886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B390CF8-AA48-4F24-B529-49A6AC674F2E}"/>
              </a:ext>
            </a:extLst>
          </p:cNvPr>
          <p:cNvCxnSpPr/>
          <p:nvPr/>
        </p:nvCxnSpPr>
        <p:spPr>
          <a:xfrm>
            <a:off x="10622286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23C5BE9-FF22-4706-B52E-E4260548EC9C}"/>
              </a:ext>
            </a:extLst>
          </p:cNvPr>
          <p:cNvCxnSpPr/>
          <p:nvPr/>
        </p:nvCxnSpPr>
        <p:spPr>
          <a:xfrm>
            <a:off x="10771511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09FED3C-CC24-47A7-9254-04876D2163F3}"/>
              </a:ext>
            </a:extLst>
          </p:cNvPr>
          <p:cNvCxnSpPr/>
          <p:nvPr/>
        </p:nvCxnSpPr>
        <p:spPr>
          <a:xfrm>
            <a:off x="10920735" y="485976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92131AE-A45A-4B33-A9CE-A7C712E4EAC6}"/>
              </a:ext>
            </a:extLst>
          </p:cNvPr>
          <p:cNvCxnSpPr>
            <a:cxnSpLocks/>
          </p:cNvCxnSpPr>
          <p:nvPr/>
        </p:nvCxnSpPr>
        <p:spPr>
          <a:xfrm flipH="1">
            <a:off x="9332280" y="3557366"/>
            <a:ext cx="161194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736CE00-8DB5-40A0-B23F-717760853BA2}"/>
              </a:ext>
            </a:extLst>
          </p:cNvPr>
          <p:cNvSpPr/>
          <p:nvPr/>
        </p:nvSpPr>
        <p:spPr>
          <a:xfrm>
            <a:off x="8820150" y="1134145"/>
            <a:ext cx="2695575" cy="522855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A6FF966-1225-40C7-89E5-70C8DBAF3362}"/>
              </a:ext>
            </a:extLst>
          </p:cNvPr>
          <p:cNvSpPr/>
          <p:nvPr/>
        </p:nvSpPr>
        <p:spPr>
          <a:xfrm>
            <a:off x="202174" y="1113184"/>
            <a:ext cx="7778822" cy="524314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1879A-EE82-4408-9DD8-35BD2DD660D7}"/>
              </a:ext>
            </a:extLst>
          </p:cNvPr>
          <p:cNvSpPr txBox="1"/>
          <p:nvPr/>
        </p:nvSpPr>
        <p:spPr>
          <a:xfrm>
            <a:off x="9139368" y="2884468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C43516-5F3A-432B-BD41-B0CB78D4FFF5}"/>
              </a:ext>
            </a:extLst>
          </p:cNvPr>
          <p:cNvSpPr txBox="1"/>
          <p:nvPr/>
        </p:nvSpPr>
        <p:spPr>
          <a:xfrm>
            <a:off x="10944224" y="3197045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C61F57-2638-402F-8B41-44B3FED708FF}"/>
              </a:ext>
            </a:extLst>
          </p:cNvPr>
          <p:cNvSpPr txBox="1"/>
          <p:nvPr/>
        </p:nvSpPr>
        <p:spPr>
          <a:xfrm>
            <a:off x="9139368" y="4069263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40B6B-3B33-4298-A8C6-51AA3D812D49}"/>
              </a:ext>
            </a:extLst>
          </p:cNvPr>
          <p:cNvSpPr txBox="1"/>
          <p:nvPr/>
        </p:nvSpPr>
        <p:spPr>
          <a:xfrm>
            <a:off x="10944224" y="4549211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9F51A2-6FB9-4847-B44F-6384999B9B15}"/>
              </a:ext>
            </a:extLst>
          </p:cNvPr>
          <p:cNvSpPr txBox="1"/>
          <p:nvPr/>
        </p:nvSpPr>
        <p:spPr>
          <a:xfrm>
            <a:off x="9139368" y="5421429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707437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A036-9B26-4AE5-80E1-E6705529D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11" y="134989"/>
            <a:ext cx="10515600" cy="850460"/>
          </a:xfrm>
        </p:spPr>
        <p:txBody>
          <a:bodyPr/>
          <a:lstStyle/>
          <a:p>
            <a:r>
              <a:rPr lang="en-US" dirty="0"/>
              <a:t>Matrix: Multiple points in space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06552-1C09-4D90-851A-732A4E427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74" y="1497389"/>
            <a:ext cx="4264705" cy="1674373"/>
          </a:xfrm>
        </p:spPr>
        <p:txBody>
          <a:bodyPr>
            <a:noAutofit/>
          </a:bodyPr>
          <a:lstStyle/>
          <a:p>
            <a:endParaRPr lang="en-US" sz="2000" dirty="0"/>
          </a:p>
          <a:p>
            <a:r>
              <a:rPr lang="en-US" sz="2000" dirty="0"/>
              <a:t>A 3 x 2 matrix represents 3 points on a 2-dimensional space (plane)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same matrix can also be represented as 2 points in a 3-dimensional space.</a:t>
            </a:r>
          </a:p>
          <a:p>
            <a:endParaRPr lang="en-US" sz="2000" dirty="0"/>
          </a:p>
          <a:p>
            <a:r>
              <a:rPr lang="en-US" sz="2000" dirty="0"/>
              <a:t>Dimensions become meaningful when you add their meanings: </a:t>
            </a:r>
          </a:p>
          <a:p>
            <a:pPr lvl="1"/>
            <a:r>
              <a:rPr lang="en-US" sz="1600" dirty="0"/>
              <a:t>Samples, time points, replicates</a:t>
            </a:r>
          </a:p>
          <a:p>
            <a:pPr lvl="1"/>
            <a:r>
              <a:rPr lang="en-US" sz="1600" dirty="0"/>
              <a:t>Variables, metabolites, peak-areas</a:t>
            </a:r>
          </a:p>
        </p:txBody>
      </p:sp>
      <p:grpSp>
        <p:nvGrpSpPr>
          <p:cNvPr id="4" name="Group 90">
            <a:extLst>
              <a:ext uri="{FF2B5EF4-FFF2-40B4-BE49-F238E27FC236}">
                <a16:creationId xmlns:a16="http://schemas.microsoft.com/office/drawing/2014/main" id="{5EFB12A9-8723-4AD9-A75E-088C79E8AF9C}"/>
              </a:ext>
            </a:extLst>
          </p:cNvPr>
          <p:cNvGrpSpPr>
            <a:grpSpLocks/>
          </p:cNvGrpSpPr>
          <p:nvPr/>
        </p:nvGrpSpPr>
        <p:grpSpPr bwMode="auto">
          <a:xfrm>
            <a:off x="8245761" y="4844812"/>
            <a:ext cx="3038475" cy="866775"/>
            <a:chOff x="3417" y="2598"/>
            <a:chExt cx="1914" cy="546"/>
          </a:xfrm>
        </p:grpSpPr>
        <p:sp>
          <p:nvSpPr>
            <p:cNvPr id="5" name="Line 49">
              <a:extLst>
                <a:ext uri="{FF2B5EF4-FFF2-40B4-BE49-F238E27FC236}">
                  <a16:creationId xmlns:a16="http://schemas.microsoft.com/office/drawing/2014/main" id="{A052743B-AF2F-4764-995D-F5459F43C5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598"/>
              <a:ext cx="1914" cy="5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6" name="Line 58">
              <a:extLst>
                <a:ext uri="{FF2B5EF4-FFF2-40B4-BE49-F238E27FC236}">
                  <a16:creationId xmlns:a16="http://schemas.microsoft.com/office/drawing/2014/main" id="{D9258D9B-4A2B-4930-9347-9F5F5241F7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21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D65A381C-8F25-4B03-B00D-4FD5CCFD7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7" y="2922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" name="Line 60">
              <a:extLst>
                <a:ext uri="{FF2B5EF4-FFF2-40B4-BE49-F238E27FC236}">
                  <a16:creationId xmlns:a16="http://schemas.microsoft.com/office/drawing/2014/main" id="{6885DD7C-2E73-4192-A911-7E74E69AF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2805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9" name="Line 61">
              <a:extLst>
                <a:ext uri="{FF2B5EF4-FFF2-40B4-BE49-F238E27FC236}">
                  <a16:creationId xmlns:a16="http://schemas.microsoft.com/office/drawing/2014/main" id="{87DBE7C3-7A76-4A29-B202-CF5548D25E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3021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10" name="Group 89">
            <a:extLst>
              <a:ext uri="{FF2B5EF4-FFF2-40B4-BE49-F238E27FC236}">
                <a16:creationId xmlns:a16="http://schemas.microsoft.com/office/drawing/2014/main" id="{56E76EFE-0B6C-4DC1-9D90-8D2628D918F7}"/>
              </a:ext>
            </a:extLst>
          </p:cNvPr>
          <p:cNvGrpSpPr>
            <a:grpSpLocks/>
          </p:cNvGrpSpPr>
          <p:nvPr/>
        </p:nvGrpSpPr>
        <p:grpSpPr bwMode="auto">
          <a:xfrm>
            <a:off x="8247052" y="4064672"/>
            <a:ext cx="76040" cy="1646913"/>
            <a:chOff x="3417" y="1848"/>
            <a:chExt cx="54" cy="1296"/>
          </a:xfrm>
        </p:grpSpPr>
        <p:sp>
          <p:nvSpPr>
            <p:cNvPr id="11" name="Line 48">
              <a:extLst>
                <a:ext uri="{FF2B5EF4-FFF2-40B4-BE49-F238E27FC236}">
                  <a16:creationId xmlns:a16="http://schemas.microsoft.com/office/drawing/2014/main" id="{1AF04A53-D838-42D1-A664-8D9626DE6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184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E34487C0-FAF7-4727-BCE3-41DDF16BA6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772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8B1F07B8-46C2-4666-8FCB-BCA4243718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439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B91A1E2A-105D-4912-85CA-731FEB2136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103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15" name="Group 88">
            <a:extLst>
              <a:ext uri="{FF2B5EF4-FFF2-40B4-BE49-F238E27FC236}">
                <a16:creationId xmlns:a16="http://schemas.microsoft.com/office/drawing/2014/main" id="{2368EA23-C6DC-487A-AE9F-11622975D228}"/>
              </a:ext>
            </a:extLst>
          </p:cNvPr>
          <p:cNvGrpSpPr>
            <a:grpSpLocks/>
          </p:cNvGrpSpPr>
          <p:nvPr/>
        </p:nvGrpSpPr>
        <p:grpSpPr bwMode="auto">
          <a:xfrm>
            <a:off x="8245761" y="5628701"/>
            <a:ext cx="3612541" cy="82886"/>
            <a:chOff x="3417" y="3090"/>
            <a:chExt cx="2046" cy="54"/>
          </a:xfrm>
        </p:grpSpPr>
        <p:sp>
          <p:nvSpPr>
            <p:cNvPr id="16" name="Line 47">
              <a:extLst>
                <a:ext uri="{FF2B5EF4-FFF2-40B4-BE49-F238E27FC236}">
                  <a16:creationId xmlns:a16="http://schemas.microsoft.com/office/drawing/2014/main" id="{CA4CB235-2ED7-42F2-B4FC-2C4C390DA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144"/>
              <a:ext cx="20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" name="Line 56">
              <a:extLst>
                <a:ext uri="{FF2B5EF4-FFF2-40B4-BE49-F238E27FC236}">
                  <a16:creationId xmlns:a16="http://schemas.microsoft.com/office/drawing/2014/main" id="{EC75E3E3-DC16-49B1-B5FF-E976BDBFF1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5" y="309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8" name="Line 57">
              <a:extLst>
                <a:ext uri="{FF2B5EF4-FFF2-40B4-BE49-F238E27FC236}">
                  <a16:creationId xmlns:a16="http://schemas.microsoft.com/office/drawing/2014/main" id="{C27FE378-CC7D-4739-B50E-CDC84D2150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3" y="3090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" name="Line 69">
              <a:extLst>
                <a:ext uri="{FF2B5EF4-FFF2-40B4-BE49-F238E27FC236}">
                  <a16:creationId xmlns:a16="http://schemas.microsoft.com/office/drawing/2014/main" id="{739AE687-BB19-4181-9FD5-A4ABEEA275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1" y="3094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1" name="Line 74">
            <a:extLst>
              <a:ext uri="{FF2B5EF4-FFF2-40B4-BE49-F238E27FC236}">
                <a16:creationId xmlns:a16="http://schemas.microsoft.com/office/drawing/2014/main" id="{5BE6AD55-D0CA-44B2-B881-96C74A4DB6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51710" y="4661224"/>
            <a:ext cx="2532387" cy="104718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grpSp>
        <p:nvGrpSpPr>
          <p:cNvPr id="27" name="Group 7">
            <a:extLst>
              <a:ext uri="{FF2B5EF4-FFF2-40B4-BE49-F238E27FC236}">
                <a16:creationId xmlns:a16="http://schemas.microsoft.com/office/drawing/2014/main" id="{D06D8079-0F87-4396-994F-575B456CE147}"/>
              </a:ext>
            </a:extLst>
          </p:cNvPr>
          <p:cNvGrpSpPr>
            <a:grpSpLocks/>
          </p:cNvGrpSpPr>
          <p:nvPr/>
        </p:nvGrpSpPr>
        <p:grpSpPr bwMode="auto">
          <a:xfrm>
            <a:off x="8245761" y="3164750"/>
            <a:ext cx="2984500" cy="80963"/>
            <a:chOff x="1510" y="3510"/>
            <a:chExt cx="2522" cy="59"/>
          </a:xfrm>
        </p:grpSpPr>
        <p:sp>
          <p:nvSpPr>
            <p:cNvPr id="28" name="Line 8">
              <a:extLst>
                <a:ext uri="{FF2B5EF4-FFF2-40B4-BE49-F238E27FC236}">
                  <a16:creationId xmlns:a16="http://schemas.microsoft.com/office/drawing/2014/main" id="{370C02F6-4A83-4D38-8257-4BA8F64A5A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64"/>
              <a:ext cx="2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9" name="Line 9">
              <a:extLst>
                <a:ext uri="{FF2B5EF4-FFF2-40B4-BE49-F238E27FC236}">
                  <a16:creationId xmlns:a16="http://schemas.microsoft.com/office/drawing/2014/main" id="{DC71F3D3-3F24-4038-B3CF-74DE31DB9F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0" name="Line 10">
              <a:extLst>
                <a:ext uri="{FF2B5EF4-FFF2-40B4-BE49-F238E27FC236}">
                  <a16:creationId xmlns:a16="http://schemas.microsoft.com/office/drawing/2014/main" id="{8DA910A1-B37F-4BD0-87C9-CA6EBAAEC4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1" name="Line 11">
              <a:extLst>
                <a:ext uri="{FF2B5EF4-FFF2-40B4-BE49-F238E27FC236}">
                  <a16:creationId xmlns:a16="http://schemas.microsoft.com/office/drawing/2014/main" id="{B9A397DC-7344-4D92-B694-795C471D1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3510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32" name="Group 39">
            <a:extLst>
              <a:ext uri="{FF2B5EF4-FFF2-40B4-BE49-F238E27FC236}">
                <a16:creationId xmlns:a16="http://schemas.microsoft.com/office/drawing/2014/main" id="{150162D6-DBD0-4801-9504-F9D6F2A7E977}"/>
              </a:ext>
            </a:extLst>
          </p:cNvPr>
          <p:cNvGrpSpPr>
            <a:grpSpLocks/>
          </p:cNvGrpSpPr>
          <p:nvPr/>
        </p:nvGrpSpPr>
        <p:grpSpPr bwMode="auto">
          <a:xfrm>
            <a:off x="8242129" y="1870936"/>
            <a:ext cx="85726" cy="1358902"/>
            <a:chOff x="573" y="2372"/>
            <a:chExt cx="43" cy="1220"/>
          </a:xfrm>
        </p:grpSpPr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D2FD60E9-CB0D-4CEA-B3BE-1889A7CECB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" y="2372"/>
              <a:ext cx="0" cy="1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325A9A4E-1875-40EE-8860-43F8515310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3153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5" name="Line 16">
              <a:extLst>
                <a:ext uri="{FF2B5EF4-FFF2-40B4-BE49-F238E27FC236}">
                  <a16:creationId xmlns:a16="http://schemas.microsoft.com/office/drawing/2014/main" id="{C9DF1E16-8675-4C54-98EF-BAEF2DB3BF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2708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9" name="Oval 84">
            <a:extLst>
              <a:ext uri="{FF2B5EF4-FFF2-40B4-BE49-F238E27FC236}">
                <a16:creationId xmlns:a16="http://schemas.microsoft.com/office/drawing/2014/main" id="{75B749CB-935C-4C93-8B96-77C30CA80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2056" y="1950975"/>
            <a:ext cx="187325" cy="174625"/>
          </a:xfrm>
          <a:prstGeom prst="ellipse">
            <a:avLst/>
          </a:prstGeom>
          <a:solidFill>
            <a:srgbClr val="FF66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52664EB-415D-48B8-AE0F-5DC1CBD0D0DB}"/>
              </a:ext>
            </a:extLst>
          </p:cNvPr>
          <p:cNvCxnSpPr/>
          <p:nvPr/>
        </p:nvCxnSpPr>
        <p:spPr>
          <a:xfrm flipV="1">
            <a:off x="8245761" y="2096874"/>
            <a:ext cx="2096295" cy="11329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961C20AF-019A-4DA0-B2B5-089CDAFA19B1}"/>
              </a:ext>
            </a:extLst>
          </p:cNvPr>
          <p:cNvSpPr txBox="1"/>
          <p:nvPr/>
        </p:nvSpPr>
        <p:spPr>
          <a:xfrm>
            <a:off x="11269237" y="3045172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91BF327-962E-4854-9720-C22E0AE0BD84}"/>
              </a:ext>
            </a:extLst>
          </p:cNvPr>
          <p:cNvSpPr txBox="1"/>
          <p:nvPr/>
        </p:nvSpPr>
        <p:spPr>
          <a:xfrm>
            <a:off x="7824365" y="1969521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280CADC-8F7A-4553-9E69-0A6DF0FF7D3F}"/>
              </a:ext>
            </a:extLst>
          </p:cNvPr>
          <p:cNvSpPr txBox="1"/>
          <p:nvPr/>
        </p:nvSpPr>
        <p:spPr>
          <a:xfrm>
            <a:off x="7818615" y="4124173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E1143A-37EE-49EB-83ED-FD15DE962AB3}"/>
              </a:ext>
            </a:extLst>
          </p:cNvPr>
          <p:cNvSpPr txBox="1"/>
          <p:nvPr/>
        </p:nvSpPr>
        <p:spPr>
          <a:xfrm>
            <a:off x="10806747" y="4889740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3</a:t>
            </a:r>
            <a:endParaRPr lang="en-NL" sz="2000" baseline="-25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D77495-6C49-4249-A7CE-903CE38A5075}"/>
              </a:ext>
            </a:extLst>
          </p:cNvPr>
          <p:cNvSpPr txBox="1"/>
          <p:nvPr/>
        </p:nvSpPr>
        <p:spPr>
          <a:xfrm>
            <a:off x="7997045" y="557130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792F0F-4862-4059-923A-087F2E6043B3}"/>
              </a:ext>
            </a:extLst>
          </p:cNvPr>
          <p:cNvSpPr txBox="1"/>
          <p:nvPr/>
        </p:nvSpPr>
        <p:spPr>
          <a:xfrm>
            <a:off x="8019182" y="31169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C4F78E-C888-4720-97AE-F2B2C221AE07}"/>
              </a:ext>
            </a:extLst>
          </p:cNvPr>
          <p:cNvSpPr txBox="1"/>
          <p:nvPr/>
        </p:nvSpPr>
        <p:spPr>
          <a:xfrm>
            <a:off x="11400992" y="5259072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8168B05-4879-4D13-96AD-74C4AD69053A}"/>
              </a:ext>
            </a:extLst>
          </p:cNvPr>
          <p:cNvSpPr/>
          <p:nvPr/>
        </p:nvSpPr>
        <p:spPr>
          <a:xfrm>
            <a:off x="7524750" y="1254144"/>
            <a:ext cx="4457700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AE504AA-3D32-4EBD-930B-B1C1BBF7493F}"/>
              </a:ext>
            </a:extLst>
          </p:cNvPr>
          <p:cNvSpPr/>
          <p:nvPr/>
        </p:nvSpPr>
        <p:spPr>
          <a:xfrm>
            <a:off x="333698" y="1247775"/>
            <a:ext cx="6562402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322D07-979E-46F0-821D-0836661355CB}"/>
                  </a:ext>
                </a:extLst>
              </p:cNvPr>
              <p:cNvSpPr txBox="1"/>
              <p:nvPr/>
            </p:nvSpPr>
            <p:spPr>
              <a:xfrm>
                <a:off x="5243613" y="2240279"/>
                <a:ext cx="1124859" cy="11365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NL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NL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L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D322D07-979E-46F0-821D-083666135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613" y="2240279"/>
                <a:ext cx="1124859" cy="113659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Oval 84">
            <a:extLst>
              <a:ext uri="{FF2B5EF4-FFF2-40B4-BE49-F238E27FC236}">
                <a16:creationId xmlns:a16="http://schemas.microsoft.com/office/drawing/2014/main" id="{F871976C-9DE0-42A2-9E0E-A86A00410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1393" y="2674157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0" name="Oval 84">
            <a:extLst>
              <a:ext uri="{FF2B5EF4-FFF2-40B4-BE49-F238E27FC236}">
                <a16:creationId xmlns:a16="http://schemas.microsoft.com/office/drawing/2014/main" id="{86866E56-FF90-4EB6-B269-3EEEEE2AE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5001" y="2169385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7FAC00E-70B1-41D5-BA76-BF421201A386}"/>
              </a:ext>
            </a:extLst>
          </p:cNvPr>
          <p:cNvCxnSpPr>
            <a:cxnSpLocks/>
          </p:cNvCxnSpPr>
          <p:nvPr/>
        </p:nvCxnSpPr>
        <p:spPr>
          <a:xfrm flipV="1">
            <a:off x="8245761" y="2786868"/>
            <a:ext cx="1295632" cy="449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2856989-358F-4511-9DE3-DAE33822BC71}"/>
              </a:ext>
            </a:extLst>
          </p:cNvPr>
          <p:cNvCxnSpPr>
            <a:cxnSpLocks/>
          </p:cNvCxnSpPr>
          <p:nvPr/>
        </p:nvCxnSpPr>
        <p:spPr>
          <a:xfrm flipV="1">
            <a:off x="8242129" y="2318200"/>
            <a:ext cx="647816" cy="910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84">
            <a:extLst>
              <a:ext uri="{FF2B5EF4-FFF2-40B4-BE49-F238E27FC236}">
                <a16:creationId xmlns:a16="http://schemas.microsoft.com/office/drawing/2014/main" id="{A4A013CE-A001-4766-897E-319AFD60F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800" y="3167465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7" name="Oval 84">
            <a:extLst>
              <a:ext uri="{FF2B5EF4-FFF2-40B4-BE49-F238E27FC236}">
                <a16:creationId xmlns:a16="http://schemas.microsoft.com/office/drawing/2014/main" id="{215CED1C-49FE-47FE-A57A-263E6FEFD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058" y="2752999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68" name="Oval 84">
            <a:extLst>
              <a:ext uri="{FF2B5EF4-FFF2-40B4-BE49-F238E27FC236}">
                <a16:creationId xmlns:a16="http://schemas.microsoft.com/office/drawing/2014/main" id="{6D7CAAC6-E185-4336-AD83-5F6E4A8B06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058" y="2338533"/>
            <a:ext cx="187325" cy="174625"/>
          </a:xfrm>
          <a:prstGeom prst="ellipse">
            <a:avLst/>
          </a:prstGeom>
          <a:solidFill>
            <a:srgbClr val="FF66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1CC1A4-77C9-436A-B54E-771F0E9CD0B3}"/>
              </a:ext>
            </a:extLst>
          </p:cNvPr>
          <p:cNvSpPr/>
          <p:nvPr/>
        </p:nvSpPr>
        <p:spPr>
          <a:xfrm>
            <a:off x="5425643" y="1966283"/>
            <a:ext cx="169334" cy="17689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9C7EB47-A53B-4CF7-9106-16AA4D224645}"/>
              </a:ext>
            </a:extLst>
          </p:cNvPr>
          <p:cNvSpPr/>
          <p:nvPr/>
        </p:nvSpPr>
        <p:spPr>
          <a:xfrm>
            <a:off x="10908248" y="4495017"/>
            <a:ext cx="169334" cy="17689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60D736A-65B1-4177-80A5-0FE9D7442CDA}"/>
              </a:ext>
            </a:extLst>
          </p:cNvPr>
          <p:cNvSpPr/>
          <p:nvPr/>
        </p:nvSpPr>
        <p:spPr>
          <a:xfrm>
            <a:off x="5999777" y="1970068"/>
            <a:ext cx="169334" cy="17689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D0B02BF-01C6-489A-9E1D-037F17DFFA39}"/>
              </a:ext>
            </a:extLst>
          </p:cNvPr>
          <p:cNvSpPr/>
          <p:nvPr/>
        </p:nvSpPr>
        <p:spPr>
          <a:xfrm>
            <a:off x="9414846" y="4930282"/>
            <a:ext cx="169334" cy="17689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2" name="Line 74">
            <a:extLst>
              <a:ext uri="{FF2B5EF4-FFF2-40B4-BE49-F238E27FC236}">
                <a16:creationId xmlns:a16="http://schemas.microsoft.com/office/drawing/2014/main" id="{791975F6-C11C-4A02-AB51-3C89BE61C5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5761" y="5085657"/>
            <a:ext cx="1121494" cy="61671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5621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52" y="90266"/>
            <a:ext cx="10515600" cy="750051"/>
          </a:xfrm>
        </p:spPr>
        <p:txBody>
          <a:bodyPr>
            <a:normAutofit/>
          </a:bodyPr>
          <a:lstStyle/>
          <a:p>
            <a:r>
              <a:rPr lang="en-US" dirty="0"/>
              <a:t>Matrix: row-space, column-space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124" y="1524000"/>
            <a:ext cx="5978563" cy="44466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matrix </a:t>
            </a:r>
            <a:r>
              <a:rPr lang="en-US" b="1" dirty="0"/>
              <a:t>X </a:t>
            </a:r>
            <a:r>
              <a:rPr lang="en-US" dirty="0"/>
              <a:t>(</a:t>
            </a:r>
            <a:r>
              <a:rPr lang="en-US" i="1" dirty="0"/>
              <a:t>I</a:t>
            </a:r>
            <a:r>
              <a:rPr lang="en-US" dirty="0"/>
              <a:t> x </a:t>
            </a:r>
            <a:r>
              <a:rPr lang="en-US" i="1" dirty="0"/>
              <a:t>J</a:t>
            </a:r>
            <a:r>
              <a:rPr lang="en-US" dirty="0"/>
              <a:t>), represents</a:t>
            </a:r>
          </a:p>
          <a:p>
            <a:endParaRPr lang="en-US" dirty="0"/>
          </a:p>
          <a:p>
            <a:pPr lvl="1"/>
            <a:r>
              <a:rPr lang="en-US" sz="2600" i="1" dirty="0"/>
              <a:t>I</a:t>
            </a:r>
            <a:r>
              <a:rPr lang="en-US" sz="2600" dirty="0"/>
              <a:t> rows of each </a:t>
            </a:r>
            <a:r>
              <a:rPr lang="en-US" sz="2600" i="1" dirty="0"/>
              <a:t>J</a:t>
            </a:r>
            <a:r>
              <a:rPr lang="en-US" sz="2600" dirty="0"/>
              <a:t> values</a:t>
            </a:r>
          </a:p>
          <a:p>
            <a:pPr lvl="1"/>
            <a:r>
              <a:rPr lang="en-US" sz="2600" i="1" dirty="0"/>
              <a:t>I</a:t>
            </a:r>
            <a:r>
              <a:rPr lang="en-US" sz="2600" dirty="0"/>
              <a:t> points in R</a:t>
            </a:r>
            <a:r>
              <a:rPr lang="en-US" sz="2600" i="1" baseline="30000" dirty="0"/>
              <a:t>J</a:t>
            </a:r>
            <a:r>
              <a:rPr lang="en-US" sz="2600" dirty="0"/>
              <a:t> (</a:t>
            </a:r>
            <a:r>
              <a:rPr lang="en-US" sz="2600" i="1" dirty="0"/>
              <a:t>J</a:t>
            </a:r>
            <a:r>
              <a:rPr lang="en-US" sz="2600" dirty="0"/>
              <a:t>-dimensional space)</a:t>
            </a:r>
          </a:p>
          <a:p>
            <a:pPr lvl="1"/>
            <a:r>
              <a:rPr lang="en-US" sz="2600" b="1" dirty="0"/>
              <a:t>Row-space </a:t>
            </a:r>
            <a:r>
              <a:rPr lang="en-US" sz="2600" dirty="0"/>
              <a:t>(R</a:t>
            </a:r>
            <a:r>
              <a:rPr lang="en-US" sz="2600" i="1" baseline="30000" dirty="0"/>
              <a:t>J</a:t>
            </a:r>
            <a:r>
              <a:rPr lang="en-US" sz="2600" dirty="0"/>
              <a:t>), a row has </a:t>
            </a:r>
            <a:r>
              <a:rPr lang="en-US" sz="2600" i="1" dirty="0"/>
              <a:t>J</a:t>
            </a:r>
            <a:r>
              <a:rPr lang="en-US" sz="2600" dirty="0"/>
              <a:t> values</a:t>
            </a:r>
          </a:p>
          <a:p>
            <a:pPr lvl="1"/>
            <a:r>
              <a:rPr lang="en-US" sz="2600" dirty="0"/>
              <a:t>Red lines represent the </a:t>
            </a:r>
            <a:r>
              <a:rPr lang="en-US" sz="2600" i="1" dirty="0"/>
              <a:t>J</a:t>
            </a:r>
            <a:r>
              <a:rPr lang="en-US" sz="2600" dirty="0"/>
              <a:t> dimensions</a:t>
            </a:r>
          </a:p>
          <a:p>
            <a:pPr lvl="1"/>
            <a:r>
              <a:rPr lang="en-US" sz="2600" dirty="0"/>
              <a:t>Blue dots represent </a:t>
            </a:r>
            <a:r>
              <a:rPr lang="en-US" sz="2600" i="1" dirty="0"/>
              <a:t>I</a:t>
            </a:r>
            <a:r>
              <a:rPr lang="en-US" sz="2600" dirty="0"/>
              <a:t> subjects</a:t>
            </a:r>
          </a:p>
          <a:p>
            <a:pPr lvl="1"/>
            <a:endParaRPr lang="en-US" sz="2600" dirty="0"/>
          </a:p>
          <a:p>
            <a:pPr lvl="1"/>
            <a:r>
              <a:rPr lang="en-US" sz="2600" i="1" dirty="0"/>
              <a:t>J</a:t>
            </a:r>
            <a:r>
              <a:rPr lang="en-US" sz="2600" dirty="0"/>
              <a:t> columns of each </a:t>
            </a:r>
            <a:r>
              <a:rPr lang="en-US" sz="2600" i="1" dirty="0"/>
              <a:t>I</a:t>
            </a:r>
            <a:r>
              <a:rPr lang="en-US" sz="2600" dirty="0"/>
              <a:t> values</a:t>
            </a:r>
          </a:p>
          <a:p>
            <a:pPr lvl="1"/>
            <a:r>
              <a:rPr lang="en-US" sz="2600" i="1" dirty="0"/>
              <a:t>J</a:t>
            </a:r>
            <a:r>
              <a:rPr lang="en-US" sz="2600" dirty="0"/>
              <a:t> points in R</a:t>
            </a:r>
            <a:r>
              <a:rPr lang="en-US" sz="2600" i="1" baseline="30000" dirty="0"/>
              <a:t>I</a:t>
            </a:r>
            <a:r>
              <a:rPr lang="en-US" sz="2600" dirty="0"/>
              <a:t> (</a:t>
            </a:r>
            <a:r>
              <a:rPr lang="en-US" sz="2600" i="1" dirty="0"/>
              <a:t>I</a:t>
            </a:r>
            <a:r>
              <a:rPr lang="en-US" sz="2600" dirty="0"/>
              <a:t>-dimensional space)</a:t>
            </a:r>
          </a:p>
          <a:p>
            <a:pPr lvl="1"/>
            <a:r>
              <a:rPr lang="en-US" sz="2600" b="1" dirty="0"/>
              <a:t>Column-space</a:t>
            </a:r>
            <a:r>
              <a:rPr lang="en-US" sz="2600" dirty="0"/>
              <a:t> (R</a:t>
            </a:r>
            <a:r>
              <a:rPr lang="en-US" sz="2600" i="1" baseline="30000" dirty="0"/>
              <a:t>I</a:t>
            </a:r>
            <a:r>
              <a:rPr lang="en-US" sz="2600" dirty="0"/>
              <a:t>) a column has </a:t>
            </a:r>
            <a:r>
              <a:rPr lang="en-US" sz="2600" i="1" dirty="0"/>
              <a:t>I</a:t>
            </a:r>
            <a:r>
              <a:rPr lang="en-US" sz="2600" dirty="0"/>
              <a:t> values</a:t>
            </a:r>
          </a:p>
          <a:p>
            <a:pPr lvl="1"/>
            <a:r>
              <a:rPr lang="en-US" sz="2600" dirty="0"/>
              <a:t>Blue lines represent the </a:t>
            </a:r>
            <a:r>
              <a:rPr lang="en-US" sz="2600" i="1" dirty="0"/>
              <a:t>I</a:t>
            </a:r>
            <a:r>
              <a:rPr lang="en-US" sz="2600" dirty="0"/>
              <a:t> dimensions</a:t>
            </a:r>
          </a:p>
          <a:p>
            <a:pPr lvl="1"/>
            <a:r>
              <a:rPr lang="en-US" sz="2600" dirty="0"/>
              <a:t>Red dots represent the </a:t>
            </a:r>
            <a:r>
              <a:rPr lang="en-US" sz="2600" i="1" dirty="0"/>
              <a:t>J</a:t>
            </a:r>
            <a:r>
              <a:rPr lang="en-US" sz="2600" dirty="0"/>
              <a:t> features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083264" y="216789"/>
            <a:ext cx="1635950" cy="69285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>
            <a:cxnSpLocks/>
          </p:cNvCxnSpPr>
          <p:nvPr/>
        </p:nvCxnSpPr>
        <p:spPr>
          <a:xfrm>
            <a:off x="10617934" y="216789"/>
            <a:ext cx="10058" cy="69285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0083264" y="511513"/>
            <a:ext cx="1635950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173956" y="456809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907373" y="655651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53539" y="-29695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J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D164BD8-1E67-4404-987D-A6D88BA8282C}"/>
              </a:ext>
            </a:extLst>
          </p:cNvPr>
          <p:cNvCxnSpPr/>
          <p:nvPr/>
        </p:nvCxnSpPr>
        <p:spPr>
          <a:xfrm>
            <a:off x="7953375" y="3529013"/>
            <a:ext cx="311467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FC4BCBE-D4F9-41A7-A66A-8E191C516B82}"/>
              </a:ext>
            </a:extLst>
          </p:cNvPr>
          <p:cNvCxnSpPr/>
          <p:nvPr/>
        </p:nvCxnSpPr>
        <p:spPr>
          <a:xfrm flipH="1" flipV="1">
            <a:off x="7924800" y="1809750"/>
            <a:ext cx="38100" cy="1728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10B87E5-08EA-4219-982F-8540C1889304}"/>
              </a:ext>
            </a:extLst>
          </p:cNvPr>
          <p:cNvCxnSpPr/>
          <p:nvPr/>
        </p:nvCxnSpPr>
        <p:spPr>
          <a:xfrm flipV="1">
            <a:off x="7953375" y="2581275"/>
            <a:ext cx="1933575" cy="9477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5209CBD9-7E24-4DE0-A6CA-DDD419F3CCA2}"/>
              </a:ext>
            </a:extLst>
          </p:cNvPr>
          <p:cNvSpPr/>
          <p:nvPr/>
        </p:nvSpPr>
        <p:spPr>
          <a:xfrm>
            <a:off x="9086850" y="2114550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E6DDE4A-E996-4BAD-8C3F-7966F7CBC459}"/>
              </a:ext>
            </a:extLst>
          </p:cNvPr>
          <p:cNvSpPr/>
          <p:nvPr/>
        </p:nvSpPr>
        <p:spPr>
          <a:xfrm>
            <a:off x="9239250" y="2266950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B531948-50BE-4158-A753-7128B191867E}"/>
              </a:ext>
            </a:extLst>
          </p:cNvPr>
          <p:cNvSpPr/>
          <p:nvPr/>
        </p:nvSpPr>
        <p:spPr>
          <a:xfrm>
            <a:off x="9391650" y="2419350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915A13-DCF8-4C45-8979-D6F6EECFCDB3}"/>
              </a:ext>
            </a:extLst>
          </p:cNvPr>
          <p:cNvSpPr/>
          <p:nvPr/>
        </p:nvSpPr>
        <p:spPr>
          <a:xfrm>
            <a:off x="9544050" y="2571750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ACF8D1D-C0C5-4FC2-965C-C58A08EB4E0E}"/>
              </a:ext>
            </a:extLst>
          </p:cNvPr>
          <p:cNvSpPr/>
          <p:nvPr/>
        </p:nvSpPr>
        <p:spPr>
          <a:xfrm>
            <a:off x="9696450" y="2724150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F79A0163-E421-4CD8-BCB3-AABC4436A913}"/>
              </a:ext>
            </a:extLst>
          </p:cNvPr>
          <p:cNvSpPr/>
          <p:nvPr/>
        </p:nvSpPr>
        <p:spPr>
          <a:xfrm>
            <a:off x="9848850" y="2876550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9A51D64-7144-4AAF-B3CC-86B8AC59F15A}"/>
              </a:ext>
            </a:extLst>
          </p:cNvPr>
          <p:cNvSpPr/>
          <p:nvPr/>
        </p:nvSpPr>
        <p:spPr>
          <a:xfrm>
            <a:off x="9248775" y="242887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01F7B2F-D516-4FB1-9D37-5665ECE6B7C5}"/>
              </a:ext>
            </a:extLst>
          </p:cNvPr>
          <p:cNvSpPr/>
          <p:nvPr/>
        </p:nvSpPr>
        <p:spPr>
          <a:xfrm>
            <a:off x="9267825" y="258127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EF7E21BD-DF2D-4DB2-8025-72DA35D705D2}"/>
              </a:ext>
            </a:extLst>
          </p:cNvPr>
          <p:cNvSpPr/>
          <p:nvPr/>
        </p:nvSpPr>
        <p:spPr>
          <a:xfrm>
            <a:off x="9420225" y="273367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D02C8AE-816A-42E7-A8E4-25AAEE4260B4}"/>
              </a:ext>
            </a:extLst>
          </p:cNvPr>
          <p:cNvSpPr/>
          <p:nvPr/>
        </p:nvSpPr>
        <p:spPr>
          <a:xfrm>
            <a:off x="9572625" y="288607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1759CC4-F988-4351-A567-DFA25A98FE55}"/>
              </a:ext>
            </a:extLst>
          </p:cNvPr>
          <p:cNvSpPr/>
          <p:nvPr/>
        </p:nvSpPr>
        <p:spPr>
          <a:xfrm>
            <a:off x="9496425" y="223837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1919D94B-082B-451B-9C40-B5CB751821D0}"/>
              </a:ext>
            </a:extLst>
          </p:cNvPr>
          <p:cNvSpPr/>
          <p:nvPr/>
        </p:nvSpPr>
        <p:spPr>
          <a:xfrm>
            <a:off x="9648825" y="239077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95967A47-9E02-43DA-9855-13410C77CE21}"/>
              </a:ext>
            </a:extLst>
          </p:cNvPr>
          <p:cNvSpPr/>
          <p:nvPr/>
        </p:nvSpPr>
        <p:spPr>
          <a:xfrm>
            <a:off x="9791700" y="2647950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197E26C8-50DC-4E01-BB06-A22651A17A5F}"/>
              </a:ext>
            </a:extLst>
          </p:cNvPr>
          <p:cNvSpPr/>
          <p:nvPr/>
        </p:nvSpPr>
        <p:spPr>
          <a:xfrm>
            <a:off x="9953625" y="269557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63CE35F-EE0F-4737-BA9B-FD3794E023E4}"/>
              </a:ext>
            </a:extLst>
          </p:cNvPr>
          <p:cNvSpPr/>
          <p:nvPr/>
        </p:nvSpPr>
        <p:spPr>
          <a:xfrm>
            <a:off x="10972569" y="3353873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7A83932-70C8-4AD2-B0FC-6614AE4167D9}"/>
              </a:ext>
            </a:extLst>
          </p:cNvPr>
          <p:cNvSpPr/>
          <p:nvPr/>
        </p:nvSpPr>
        <p:spPr>
          <a:xfrm>
            <a:off x="7511359" y="1745218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2AC6E64-1ABE-4250-BFB9-38B92886CDE9}"/>
              </a:ext>
            </a:extLst>
          </p:cNvPr>
          <p:cNvSpPr/>
          <p:nvPr/>
        </p:nvSpPr>
        <p:spPr>
          <a:xfrm>
            <a:off x="9801225" y="2295525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313C8DF-E920-41CA-9627-01991640C6FA}"/>
              </a:ext>
            </a:extLst>
          </p:cNvPr>
          <p:cNvCxnSpPr>
            <a:endCxn id="58" idx="3"/>
          </p:cNvCxnSpPr>
          <p:nvPr/>
        </p:nvCxnSpPr>
        <p:spPr>
          <a:xfrm flipV="1">
            <a:off x="7962900" y="2526436"/>
            <a:ext cx="1299824" cy="100257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085571C8-2023-406C-B1B0-09CD3C08B4B0}"/>
              </a:ext>
            </a:extLst>
          </p:cNvPr>
          <p:cNvCxnSpPr/>
          <p:nvPr/>
        </p:nvCxnSpPr>
        <p:spPr>
          <a:xfrm flipV="1">
            <a:off x="7962900" y="2476500"/>
            <a:ext cx="1083638" cy="106203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09280579-360D-4B35-A864-90D71779D830}"/>
              </a:ext>
            </a:extLst>
          </p:cNvPr>
          <p:cNvCxnSpPr/>
          <p:nvPr/>
        </p:nvCxnSpPr>
        <p:spPr>
          <a:xfrm flipV="1">
            <a:off x="7962900" y="2447925"/>
            <a:ext cx="882169" cy="109061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8441EBD-2619-4EB9-8340-4D026972216C}"/>
              </a:ext>
            </a:extLst>
          </p:cNvPr>
          <p:cNvCxnSpPr/>
          <p:nvPr/>
        </p:nvCxnSpPr>
        <p:spPr>
          <a:xfrm flipV="1">
            <a:off x="7991475" y="2495550"/>
            <a:ext cx="624994" cy="102393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055081B-407E-40AA-BEC7-BE9AB9007851}"/>
              </a:ext>
            </a:extLst>
          </p:cNvPr>
          <p:cNvSpPr/>
          <p:nvPr/>
        </p:nvSpPr>
        <p:spPr>
          <a:xfrm>
            <a:off x="8296182" y="2171700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i="1" baseline="-25000" dirty="0"/>
              <a:t>J</a:t>
            </a:r>
            <a:endParaRPr lang="en-US" i="1" baseline="-25000" dirty="0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06D86642-1BEE-4962-BBE5-4D931037FE98}"/>
              </a:ext>
            </a:extLst>
          </p:cNvPr>
          <p:cNvCxnSpPr/>
          <p:nvPr/>
        </p:nvCxnSpPr>
        <p:spPr>
          <a:xfrm>
            <a:off x="7912100" y="6176963"/>
            <a:ext cx="311467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FD2B0E79-861A-465B-957C-DD85E728C7BE}"/>
              </a:ext>
            </a:extLst>
          </p:cNvPr>
          <p:cNvCxnSpPr/>
          <p:nvPr/>
        </p:nvCxnSpPr>
        <p:spPr>
          <a:xfrm flipH="1" flipV="1">
            <a:off x="7883525" y="4457700"/>
            <a:ext cx="38100" cy="172878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3132524-F2C4-4336-8E53-BF928A5AF897}"/>
              </a:ext>
            </a:extLst>
          </p:cNvPr>
          <p:cNvCxnSpPr/>
          <p:nvPr/>
        </p:nvCxnSpPr>
        <p:spPr>
          <a:xfrm flipV="1">
            <a:off x="7912100" y="5229225"/>
            <a:ext cx="1933575" cy="94773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Oval 89">
            <a:extLst>
              <a:ext uri="{FF2B5EF4-FFF2-40B4-BE49-F238E27FC236}">
                <a16:creationId xmlns:a16="http://schemas.microsoft.com/office/drawing/2014/main" id="{B1265D42-F18D-40F4-9341-4982B2482BA3}"/>
              </a:ext>
            </a:extLst>
          </p:cNvPr>
          <p:cNvSpPr/>
          <p:nvPr/>
        </p:nvSpPr>
        <p:spPr>
          <a:xfrm>
            <a:off x="9045575" y="4762500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D9B26E87-600E-475D-A1A2-6489184D997B}"/>
              </a:ext>
            </a:extLst>
          </p:cNvPr>
          <p:cNvSpPr/>
          <p:nvPr/>
        </p:nvSpPr>
        <p:spPr>
          <a:xfrm>
            <a:off x="9197975" y="4914900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A38E9E33-509E-4E92-A345-7CC626A93723}"/>
              </a:ext>
            </a:extLst>
          </p:cNvPr>
          <p:cNvSpPr/>
          <p:nvPr/>
        </p:nvSpPr>
        <p:spPr>
          <a:xfrm>
            <a:off x="9350375" y="5067300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E642F9DE-D204-43F1-9127-2B1D48B3BCC9}"/>
              </a:ext>
            </a:extLst>
          </p:cNvPr>
          <p:cNvSpPr/>
          <p:nvPr/>
        </p:nvSpPr>
        <p:spPr>
          <a:xfrm>
            <a:off x="8909050" y="4876800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8BA655D5-61F3-4421-928A-6669E0ADC641}"/>
              </a:ext>
            </a:extLst>
          </p:cNvPr>
          <p:cNvSpPr/>
          <p:nvPr/>
        </p:nvSpPr>
        <p:spPr>
          <a:xfrm>
            <a:off x="9655175" y="5372100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63C644C4-FCAE-406B-B51E-679AF061CB96}"/>
              </a:ext>
            </a:extLst>
          </p:cNvPr>
          <p:cNvSpPr/>
          <p:nvPr/>
        </p:nvSpPr>
        <p:spPr>
          <a:xfrm>
            <a:off x="9919663" y="564832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BB89C2F6-26FB-48CC-95FB-75BB81636A52}"/>
              </a:ext>
            </a:extLst>
          </p:cNvPr>
          <p:cNvSpPr/>
          <p:nvPr/>
        </p:nvSpPr>
        <p:spPr>
          <a:xfrm>
            <a:off x="9207500" y="507682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3A92B295-0F52-405A-AE22-2E5D20DB88C5}"/>
              </a:ext>
            </a:extLst>
          </p:cNvPr>
          <p:cNvSpPr/>
          <p:nvPr/>
        </p:nvSpPr>
        <p:spPr>
          <a:xfrm>
            <a:off x="9226550" y="522922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B9D3AC05-FE84-4D98-BB90-CB43005EF725}"/>
              </a:ext>
            </a:extLst>
          </p:cNvPr>
          <p:cNvSpPr/>
          <p:nvPr/>
        </p:nvSpPr>
        <p:spPr>
          <a:xfrm>
            <a:off x="9369425" y="553402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C989197-2EB7-4B29-A540-AF9D71D8E6C2}"/>
              </a:ext>
            </a:extLst>
          </p:cNvPr>
          <p:cNvSpPr/>
          <p:nvPr/>
        </p:nvSpPr>
        <p:spPr>
          <a:xfrm>
            <a:off x="9531350" y="553402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94F541B-2D93-44A3-AAC7-880B2E5B20EE}"/>
              </a:ext>
            </a:extLst>
          </p:cNvPr>
          <p:cNvSpPr/>
          <p:nvPr/>
        </p:nvSpPr>
        <p:spPr>
          <a:xfrm>
            <a:off x="9455150" y="488632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1ED60014-E0B2-47D8-AF87-B14D22D6620F}"/>
              </a:ext>
            </a:extLst>
          </p:cNvPr>
          <p:cNvSpPr/>
          <p:nvPr/>
        </p:nvSpPr>
        <p:spPr>
          <a:xfrm>
            <a:off x="9607550" y="503872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A3B2314D-D277-4C59-8428-2F0530D320EE}"/>
              </a:ext>
            </a:extLst>
          </p:cNvPr>
          <p:cNvSpPr/>
          <p:nvPr/>
        </p:nvSpPr>
        <p:spPr>
          <a:xfrm>
            <a:off x="9750425" y="5295900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69F6CE77-92C7-434C-9845-E9A527BF6FAB}"/>
              </a:ext>
            </a:extLst>
          </p:cNvPr>
          <p:cNvSpPr/>
          <p:nvPr/>
        </p:nvSpPr>
        <p:spPr>
          <a:xfrm>
            <a:off x="9695935" y="5727145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AFFF8F9F-4E74-4524-8B40-DBB91AAD097D}"/>
              </a:ext>
            </a:extLst>
          </p:cNvPr>
          <p:cNvSpPr/>
          <p:nvPr/>
        </p:nvSpPr>
        <p:spPr>
          <a:xfrm>
            <a:off x="10931294" y="6001823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487A34F5-E834-43B7-9022-3116BA53076E}"/>
              </a:ext>
            </a:extLst>
          </p:cNvPr>
          <p:cNvSpPr/>
          <p:nvPr/>
        </p:nvSpPr>
        <p:spPr>
          <a:xfrm>
            <a:off x="7470084" y="4393168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CDDE75C-ED2F-4469-ADCE-D79665C28255}"/>
              </a:ext>
            </a:extLst>
          </p:cNvPr>
          <p:cNvSpPr/>
          <p:nvPr/>
        </p:nvSpPr>
        <p:spPr>
          <a:xfrm>
            <a:off x="9759950" y="4943475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7E5BCEE6-668A-4664-83C9-57C337C79494}"/>
              </a:ext>
            </a:extLst>
          </p:cNvPr>
          <p:cNvCxnSpPr>
            <a:endCxn id="96" idx="3"/>
          </p:cNvCxnSpPr>
          <p:nvPr/>
        </p:nvCxnSpPr>
        <p:spPr>
          <a:xfrm flipV="1">
            <a:off x="7921625" y="5174386"/>
            <a:ext cx="1299824" cy="1002576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EB80DDB0-6384-4E6B-A3FD-70689EC89DB2}"/>
              </a:ext>
            </a:extLst>
          </p:cNvPr>
          <p:cNvCxnSpPr/>
          <p:nvPr/>
        </p:nvCxnSpPr>
        <p:spPr>
          <a:xfrm flipV="1">
            <a:off x="7950200" y="5143500"/>
            <a:ext cx="624994" cy="1023938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9484582-A908-430E-B9CC-FBF1B8B054A4}"/>
              </a:ext>
            </a:extLst>
          </p:cNvPr>
          <p:cNvSpPr/>
          <p:nvPr/>
        </p:nvSpPr>
        <p:spPr>
          <a:xfrm>
            <a:off x="8254907" y="4819650"/>
            <a:ext cx="352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i="1" baseline="-25000" dirty="0"/>
              <a:t>I</a:t>
            </a:r>
            <a:endParaRPr lang="en-US" i="1" baseline="-25000" dirty="0"/>
          </a:p>
        </p:txBody>
      </p:sp>
      <p:sp>
        <p:nvSpPr>
          <p:cNvPr id="110" name="Rectangle: Rounded Corners 109">
            <a:extLst>
              <a:ext uri="{FF2B5EF4-FFF2-40B4-BE49-F238E27FC236}">
                <a16:creationId xmlns:a16="http://schemas.microsoft.com/office/drawing/2014/main" id="{D1E316EC-F2D8-4733-B671-DD6FBC00B9CD}"/>
              </a:ext>
            </a:extLst>
          </p:cNvPr>
          <p:cNvSpPr/>
          <p:nvPr/>
        </p:nvSpPr>
        <p:spPr>
          <a:xfrm>
            <a:off x="7401827" y="1254144"/>
            <a:ext cx="4580623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79A948C7-757D-4EAF-851B-E33B947207A1}"/>
              </a:ext>
            </a:extLst>
          </p:cNvPr>
          <p:cNvSpPr/>
          <p:nvPr/>
        </p:nvSpPr>
        <p:spPr>
          <a:xfrm>
            <a:off x="285558" y="1132406"/>
            <a:ext cx="6562402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D26A7ED-793F-4C74-BD55-60E7F6544274}"/>
              </a:ext>
            </a:extLst>
          </p:cNvPr>
          <p:cNvSpPr txBox="1"/>
          <p:nvPr/>
        </p:nvSpPr>
        <p:spPr>
          <a:xfrm>
            <a:off x="9582150" y="1397375"/>
            <a:ext cx="21147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Row space (R</a:t>
            </a:r>
            <a:r>
              <a:rPr lang="en-US" sz="2400" i="1" baseline="30000" dirty="0"/>
              <a:t>J</a:t>
            </a:r>
            <a:r>
              <a:rPr lang="en-US" sz="2400" dirty="0"/>
              <a:t>) </a:t>
            </a:r>
            <a:endParaRPr lang="en-NL" sz="24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573EE6F-A138-49E9-B35B-FDFDBD6DAFE9}"/>
              </a:ext>
            </a:extLst>
          </p:cNvPr>
          <p:cNvSpPr txBox="1"/>
          <p:nvPr/>
        </p:nvSpPr>
        <p:spPr>
          <a:xfrm>
            <a:off x="9496425" y="4162335"/>
            <a:ext cx="24100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Column space (R</a:t>
            </a:r>
            <a:r>
              <a:rPr lang="en-US" sz="2400" i="1" baseline="30000" dirty="0"/>
              <a:t>I</a:t>
            </a:r>
            <a:r>
              <a:rPr lang="en-US" sz="2400" dirty="0"/>
              <a:t>) 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128900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291D-21FD-409D-AB1F-A146490B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97" y="136525"/>
            <a:ext cx="7685197" cy="776573"/>
          </a:xfrm>
        </p:spPr>
        <p:txBody>
          <a:bodyPr>
            <a:normAutofit/>
          </a:bodyPr>
          <a:lstStyle/>
          <a:p>
            <a:r>
              <a:rPr lang="en-US" dirty="0">
                <a:cs typeface="Calibri Light" panose="020F0302020204030204" pitchFamily="34" charset="0"/>
              </a:rPr>
              <a:t>Dot</a:t>
            </a:r>
            <a:r>
              <a:rPr lang="en-US" dirty="0">
                <a:cs typeface="Calibri" panose="020F0502020204030204" pitchFamily="34" charset="0"/>
              </a:rPr>
              <a:t> product (inner product)</a:t>
            </a:r>
            <a:endParaRPr lang="en-NL" dirty="0"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09285-B61B-47AA-8C99-7444135963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15725" y="6514896"/>
            <a:ext cx="676275" cy="343104"/>
          </a:xfrm>
        </p:spPr>
        <p:txBody>
          <a:bodyPr/>
          <a:lstStyle/>
          <a:p>
            <a:pPr>
              <a:defRPr/>
            </a:pPr>
            <a:fld id="{EA21FEF2-2F74-4B8A-A431-427A5AAFAF9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F71936-DD0C-487B-9830-60DFA40C9E7B}"/>
                  </a:ext>
                </a:extLst>
              </p:cNvPr>
              <p:cNvSpPr txBox="1"/>
              <p:nvPr/>
            </p:nvSpPr>
            <p:spPr>
              <a:xfrm>
                <a:off x="1179946" y="1427932"/>
                <a:ext cx="5419882" cy="724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𝐚</m:t>
                    </m:r>
                    <m:r>
                      <a:rPr 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𝐛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d>
                      <m:dPr>
                        <m:begChr m:val="⟨"/>
                        <m:endChr m:val="⟩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‖"/>
                        <m:endChr m:val="‖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begChr m:val="‖"/>
                        <m:endChr m:val="‖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𝐛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2000" dirty="0">
                  <a:ea typeface="Cambria Math" panose="02040503050406030204" pitchFamily="18" charset="0"/>
                </a:endParaRPr>
              </a:p>
              <a:p>
                <a:r>
                  <a:rPr lang="en-US" sz="2000" b="1" dirty="0" err="1"/>
                  <a:t>a</a:t>
                </a:r>
                <a:r>
                  <a:rPr lang="en-US" sz="2000" baseline="30000" dirty="0" err="1"/>
                  <a:t>T</a:t>
                </a:r>
                <a:r>
                  <a:rPr lang="en-US" sz="2000" b="1" dirty="0" err="1"/>
                  <a:t>b</a:t>
                </a:r>
                <a:r>
                  <a:rPr lang="en-US" sz="2000" b="1" dirty="0"/>
                  <a:t> </a:t>
                </a:r>
                <a:r>
                  <a:rPr lang="en-US" sz="2000" dirty="0"/>
                  <a:t>= </a:t>
                </a:r>
                <a:r>
                  <a:rPr lang="en-US" sz="2000" b="1" dirty="0" err="1"/>
                  <a:t>b</a:t>
                </a:r>
                <a:r>
                  <a:rPr lang="en-US" sz="2000" baseline="30000" dirty="0" err="1"/>
                  <a:t>T</a:t>
                </a:r>
                <a:r>
                  <a:rPr lang="en-US" sz="2000" b="1" dirty="0" err="1"/>
                  <a:t>a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0F71936-DD0C-487B-9830-60DFA40C9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46" y="1427932"/>
                <a:ext cx="5419882" cy="724750"/>
              </a:xfrm>
              <a:prstGeom prst="rect">
                <a:avLst/>
              </a:prstGeom>
              <a:blipFill>
                <a:blip r:embed="rId3"/>
                <a:stretch>
                  <a:fillRect l="-1237" t="-65546" b="-5882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D6866C-69E9-4DEC-B7DD-C81D1446BB5A}"/>
                  </a:ext>
                </a:extLst>
              </p:cNvPr>
              <p:cNvSpPr txBox="1"/>
              <p:nvPr/>
            </p:nvSpPr>
            <p:spPr>
              <a:xfrm>
                <a:off x="1143000" y="2392090"/>
                <a:ext cx="6096000" cy="7728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𝐚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+…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en-US" sz="2000" dirty="0"/>
                  <a:t>= norm (length) of </a:t>
                </a:r>
                <a:r>
                  <a:rPr lang="en-US" sz="2000" b="1" dirty="0"/>
                  <a:t>a</a:t>
                </a:r>
              </a:p>
              <a:p>
                <a:r>
                  <a:rPr lang="en-US" sz="2000" b="1" dirty="0" err="1"/>
                  <a:t>a</a:t>
                </a:r>
                <a:r>
                  <a:rPr lang="en-US" sz="2000" baseline="30000" dirty="0" err="1"/>
                  <a:t>T</a:t>
                </a:r>
                <a:r>
                  <a:rPr lang="en-US" sz="2000" b="1" dirty="0" err="1"/>
                  <a:t>a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2D6866C-69E9-4DEC-B7DD-C81D1446B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2392090"/>
                <a:ext cx="6096000" cy="772840"/>
              </a:xfrm>
              <a:prstGeom prst="rect">
                <a:avLst/>
              </a:prstGeom>
              <a:blipFill>
                <a:blip r:embed="rId4"/>
                <a:stretch>
                  <a:fillRect l="-1100" b="-1338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520E35-A4C8-4864-AE35-8BD5CDA4D21D}"/>
                  </a:ext>
                </a:extLst>
              </p:cNvPr>
              <p:cNvSpPr txBox="1"/>
              <p:nvPr/>
            </p:nvSpPr>
            <p:spPr>
              <a:xfrm>
                <a:off x="1179946" y="3272445"/>
                <a:ext cx="796115" cy="492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1520E35-A4C8-4864-AE35-8BD5CDA4D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946" y="3272445"/>
                <a:ext cx="796115" cy="49295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C481C0-9A1D-4A74-BEA8-B6059238AB9C}"/>
                  </a:ext>
                </a:extLst>
              </p:cNvPr>
              <p:cNvSpPr txBox="1"/>
              <p:nvPr/>
            </p:nvSpPr>
            <p:spPr>
              <a:xfrm>
                <a:off x="2149319" y="3288858"/>
                <a:ext cx="786048" cy="4601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C481C0-9A1D-4A74-BEA8-B6059238AB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319" y="3288858"/>
                <a:ext cx="786048" cy="4601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7734F7-8631-42E9-93F8-F6B1AD3ADA71}"/>
                  </a:ext>
                </a:extLst>
              </p:cNvPr>
              <p:cNvSpPr txBox="1"/>
              <p:nvPr/>
            </p:nvSpPr>
            <p:spPr>
              <a:xfrm>
                <a:off x="3292320" y="3380422"/>
                <a:ext cx="26850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3∗2+0∗1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7734F7-8631-42E9-93F8-F6B1AD3AD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320" y="3380422"/>
                <a:ext cx="2685029" cy="276999"/>
              </a:xfrm>
              <a:prstGeom prst="rect">
                <a:avLst/>
              </a:prstGeom>
              <a:blipFill>
                <a:blip r:embed="rId7"/>
                <a:stretch>
                  <a:fillRect t="-2222" r="-1587" b="-8889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CCE5140-081B-4DD1-B4DE-DDCBED6A79F0}"/>
                  </a:ext>
                </a:extLst>
              </p:cNvPr>
              <p:cNvSpPr txBox="1"/>
              <p:nvPr/>
            </p:nvSpPr>
            <p:spPr>
              <a:xfrm>
                <a:off x="485041" y="4102155"/>
                <a:ext cx="666119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𝐚</m:t>
                        </m:r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0">
                            <a:latin typeface="Cambria Math" panose="02040503050406030204" pitchFamily="18" charset="0"/>
                          </a:rPr>
                          <m:t>𝐛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‖"/>
                        <m:endChr m:val="‖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𝐚</m:t>
                        </m:r>
                      </m:e>
                    </m:d>
                  </m:oMath>
                </a14:m>
                <a:r>
                  <a:rPr lang="en-US" sz="2000" i="1" dirty="0"/>
                  <a:t> * </a:t>
                </a:r>
                <a:r>
                  <a:rPr lang="en-US" sz="2000" dirty="0">
                    <a:solidFill>
                      <a:srgbClr val="3333FF"/>
                    </a:solidFill>
                  </a:rPr>
                  <a:t>||orthogonal projection of </a:t>
                </a:r>
                <a:r>
                  <a:rPr lang="en-US" sz="2000" b="1" dirty="0">
                    <a:solidFill>
                      <a:srgbClr val="3333FF"/>
                    </a:solidFill>
                  </a:rPr>
                  <a:t>b</a:t>
                </a:r>
                <a:r>
                  <a:rPr lang="en-US" sz="2000" dirty="0">
                    <a:solidFill>
                      <a:srgbClr val="3333FF"/>
                    </a:solidFill>
                  </a:rPr>
                  <a:t> on </a:t>
                </a:r>
                <a:r>
                  <a:rPr lang="en-US" sz="2000" b="1" dirty="0">
                    <a:solidFill>
                      <a:srgbClr val="3333FF"/>
                    </a:solidFill>
                  </a:rPr>
                  <a:t>a</a:t>
                </a:r>
                <a:r>
                  <a:rPr lang="en-US" sz="2000" dirty="0">
                    <a:solidFill>
                      <a:srgbClr val="3333FF"/>
                    </a:solidFill>
                  </a:rPr>
                  <a:t>||</a:t>
                </a:r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FF0000"/>
                    </a:solidFill>
                  </a:rPr>
                  <a:t>3 </a:t>
                </a:r>
                <a:r>
                  <a:rPr lang="en-US" sz="2000" dirty="0"/>
                  <a:t>* </a:t>
                </a:r>
                <a:r>
                  <a:rPr lang="en-US" sz="2000" dirty="0">
                    <a:solidFill>
                      <a:srgbClr val="3333FF"/>
                    </a:solidFill>
                  </a:rPr>
                  <a:t>2</a:t>
                </a:r>
                <a:r>
                  <a:rPr lang="en-US" sz="2000" dirty="0"/>
                  <a:t> = 6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CCE5140-081B-4DD1-B4DE-DDCBED6A7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41" y="4102155"/>
                <a:ext cx="6661194" cy="400110"/>
              </a:xfrm>
              <a:prstGeom prst="rect">
                <a:avLst/>
              </a:prstGeom>
              <a:blipFill>
                <a:blip r:embed="rId8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7DF3FD1-2CF9-497F-9BDC-DFAF2DD6C0E1}"/>
              </a:ext>
            </a:extLst>
          </p:cNvPr>
          <p:cNvSpPr/>
          <p:nvPr/>
        </p:nvSpPr>
        <p:spPr>
          <a:xfrm>
            <a:off x="7980114" y="1101744"/>
            <a:ext cx="3535611" cy="509585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24C8E0-7FDB-4D2C-AC87-D2740F85BA4A}"/>
              </a:ext>
            </a:extLst>
          </p:cNvPr>
          <p:cNvSpPr/>
          <p:nvPr/>
        </p:nvSpPr>
        <p:spPr>
          <a:xfrm>
            <a:off x="333698" y="1123950"/>
            <a:ext cx="7026327" cy="507426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7E7418-908A-475E-9A1D-4F7060C5746F}"/>
              </a:ext>
            </a:extLst>
          </p:cNvPr>
          <p:cNvSpPr txBox="1"/>
          <p:nvPr/>
        </p:nvSpPr>
        <p:spPr>
          <a:xfrm>
            <a:off x="1143000" y="4783737"/>
            <a:ext cx="541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Dot product is a measure of how much 2 vectors go in the same direction.</a:t>
            </a:r>
          </a:p>
          <a:p>
            <a:endParaRPr lang="en-US" dirty="0"/>
          </a:p>
          <a:p>
            <a:r>
              <a:rPr lang="en-US" b="1" dirty="0"/>
              <a:t>If</a:t>
            </a:r>
            <a:r>
              <a:rPr lang="en-US" dirty="0"/>
              <a:t> </a:t>
            </a:r>
            <a:r>
              <a:rPr lang="en-US" sz="1800" b="1" dirty="0" err="1"/>
              <a:t>a</a:t>
            </a:r>
            <a:r>
              <a:rPr lang="en-US" sz="1800" baseline="30000" dirty="0" err="1"/>
              <a:t>T</a:t>
            </a:r>
            <a:r>
              <a:rPr lang="en-US" sz="1800" b="1" dirty="0" err="1"/>
              <a:t>b</a:t>
            </a:r>
            <a:r>
              <a:rPr lang="en-US" sz="1800" b="1" dirty="0"/>
              <a:t> = 0: a and b are orthogonal</a:t>
            </a:r>
            <a:endParaRPr lang="en-NL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DA143C-1D99-8DFF-12E1-425A8C433E42}"/>
              </a:ext>
            </a:extLst>
          </p:cNvPr>
          <p:cNvGrpSpPr/>
          <p:nvPr/>
        </p:nvGrpSpPr>
        <p:grpSpPr>
          <a:xfrm>
            <a:off x="8470878" y="1774266"/>
            <a:ext cx="2457595" cy="1458905"/>
            <a:chOff x="8470878" y="1774266"/>
            <a:chExt cx="2457595" cy="1458905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CAD39C7B-AC4A-4D1B-810E-0C386325CA69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700514" y="2114513"/>
              <a:ext cx="1219200" cy="685800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2CE255F-6DA9-4348-9EA1-203655B1C61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700514" y="2800313"/>
              <a:ext cx="19812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856C0DF-D081-4DCB-836C-68C83F39BBB1}"/>
                </a:ext>
              </a:extLst>
            </p:cNvPr>
            <p:cNvSpPr txBox="1"/>
            <p:nvPr/>
          </p:nvSpPr>
          <p:spPr>
            <a:xfrm>
              <a:off x="10620375" y="2440925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a</a:t>
              </a:r>
              <a:endParaRPr lang="en-NL" sz="2000" dirty="0">
                <a:solidFill>
                  <a:srgbClr val="FF0000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6FF4EB8-B568-40E5-A59A-2B91B2AE59C4}"/>
                </a:ext>
              </a:extLst>
            </p:cNvPr>
            <p:cNvSpPr txBox="1"/>
            <p:nvPr/>
          </p:nvSpPr>
          <p:spPr>
            <a:xfrm>
              <a:off x="9487372" y="1774266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3333FF"/>
                  </a:solidFill>
                </a:rPr>
                <a:t>b</a:t>
              </a:r>
              <a:endParaRPr lang="en-NL" sz="2000" dirty="0">
                <a:solidFill>
                  <a:srgbClr val="3333FF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557B89A-510F-4317-8A6D-46161DC4D622}"/>
                </a:ext>
              </a:extLst>
            </p:cNvPr>
            <p:cNvCxnSpPr/>
            <p:nvPr/>
          </p:nvCxnSpPr>
          <p:spPr bwMode="auto">
            <a:xfrm>
              <a:off x="9919714" y="2114513"/>
              <a:ext cx="0" cy="68580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4" name="Left Brace 23">
              <a:extLst>
                <a:ext uri="{FF2B5EF4-FFF2-40B4-BE49-F238E27FC236}">
                  <a16:creationId xmlns:a16="http://schemas.microsoft.com/office/drawing/2014/main" id="{CE1EA4BE-54E5-4CAB-9AAD-A2206FC5D9A1}"/>
                </a:ext>
              </a:extLst>
            </p:cNvPr>
            <p:cNvSpPr/>
            <p:nvPr/>
          </p:nvSpPr>
          <p:spPr bwMode="auto">
            <a:xfrm rot="16200000">
              <a:off x="9233235" y="2344664"/>
              <a:ext cx="153761" cy="1219200"/>
            </a:xfrm>
            <a:prstGeom prst="leftBrace">
              <a:avLst/>
            </a:prstGeom>
            <a:noFill/>
            <a:ln w="28575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NL" sz="2400">
                <a:latin typeface="Times New Roman" pitchFamily="18" charset="0"/>
              </a:endParaRPr>
            </a:p>
          </p:txBody>
        </p:sp>
        <p:sp>
          <p:nvSpPr>
            <p:cNvPr id="25" name="Left Brace 24">
              <a:extLst>
                <a:ext uri="{FF2B5EF4-FFF2-40B4-BE49-F238E27FC236}">
                  <a16:creationId xmlns:a16="http://schemas.microsoft.com/office/drawing/2014/main" id="{412FBA77-25AF-4F9F-9A84-BDB8564E9BAE}"/>
                </a:ext>
              </a:extLst>
            </p:cNvPr>
            <p:cNvSpPr/>
            <p:nvPr/>
          </p:nvSpPr>
          <p:spPr bwMode="auto">
            <a:xfrm rot="16200000">
              <a:off x="9614237" y="2165692"/>
              <a:ext cx="153756" cy="1981201"/>
            </a:xfrm>
            <a:prstGeom prst="leftBrac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NL" sz="2400">
                <a:latin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15C8C8B-4D2B-4864-BC0C-701431E13282}"/>
                    </a:ext>
                  </a:extLst>
                </p:cNvPr>
                <p:cNvSpPr txBox="1"/>
                <p:nvPr/>
              </p:nvSpPr>
              <p:spPr>
                <a:xfrm>
                  <a:off x="8470878" y="2375421"/>
                  <a:ext cx="50838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15C8C8B-4D2B-4864-BC0C-701431E132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0878" y="2375421"/>
                  <a:ext cx="50838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3B2B9AD-0133-19A3-4014-86E1108A421B}"/>
              </a:ext>
            </a:extLst>
          </p:cNvPr>
          <p:cNvGrpSpPr/>
          <p:nvPr/>
        </p:nvGrpSpPr>
        <p:grpSpPr>
          <a:xfrm>
            <a:off x="8646920" y="4095450"/>
            <a:ext cx="2281553" cy="1804721"/>
            <a:chOff x="8646920" y="4095450"/>
            <a:chExt cx="2281553" cy="1804721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6FBC733D-4C5C-4CE7-B268-BF97D2B0F1C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8700514" y="4102155"/>
              <a:ext cx="0" cy="1365158"/>
            </a:xfrm>
            <a:prstGeom prst="straightConnector1">
              <a:avLst/>
            </a:prstGeom>
            <a:ln w="28575"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550BE81-2316-40BD-ACA3-913FFA0DBBB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700514" y="5467313"/>
              <a:ext cx="1981200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headEnd type="none" w="med" len="med"/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A8BB1B4-8DA3-4EAD-83AE-9D1079C90431}"/>
                </a:ext>
              </a:extLst>
            </p:cNvPr>
            <p:cNvSpPr txBox="1"/>
            <p:nvPr/>
          </p:nvSpPr>
          <p:spPr>
            <a:xfrm>
              <a:off x="10620375" y="5107925"/>
              <a:ext cx="3080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a</a:t>
              </a:r>
              <a:endParaRPr lang="en-NL" sz="2000" dirty="0">
                <a:solidFill>
                  <a:srgbClr val="FF000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E64FE2-4B01-4AF1-BEF6-25BD03DA2ACB}"/>
                </a:ext>
              </a:extLst>
            </p:cNvPr>
            <p:cNvSpPr txBox="1"/>
            <p:nvPr/>
          </p:nvSpPr>
          <p:spPr>
            <a:xfrm>
              <a:off x="8700514" y="4095450"/>
              <a:ext cx="31931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3333FF"/>
                  </a:solidFill>
                </a:rPr>
                <a:t>b</a:t>
              </a:r>
              <a:endParaRPr lang="en-NL" sz="2000" dirty="0">
                <a:solidFill>
                  <a:srgbClr val="3333FF"/>
                </a:solidFill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1C775D59-3B68-44C7-802F-6B66C73E3169}"/>
                </a:ext>
              </a:extLst>
            </p:cNvPr>
            <p:cNvCxnSpPr/>
            <p:nvPr/>
          </p:nvCxnSpPr>
          <p:spPr bwMode="auto">
            <a:xfrm>
              <a:off x="8700514" y="4441266"/>
              <a:ext cx="0" cy="1026047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triangle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3" name="Left Brace 32">
              <a:extLst>
                <a:ext uri="{FF2B5EF4-FFF2-40B4-BE49-F238E27FC236}">
                  <a16:creationId xmlns:a16="http://schemas.microsoft.com/office/drawing/2014/main" id="{F6CBD9D5-A0B3-435C-8F01-02840DBC2D83}"/>
                </a:ext>
              </a:extLst>
            </p:cNvPr>
            <p:cNvSpPr/>
            <p:nvPr/>
          </p:nvSpPr>
          <p:spPr bwMode="auto">
            <a:xfrm rot="16200000">
              <a:off x="8628779" y="5601840"/>
              <a:ext cx="146864" cy="45719"/>
            </a:xfrm>
            <a:prstGeom prst="leftBrace">
              <a:avLst/>
            </a:prstGeom>
            <a:noFill/>
            <a:ln w="28575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NL" sz="2400">
                <a:latin typeface="Times New Roman" pitchFamily="18" charset="0"/>
              </a:endParaRPr>
            </a:p>
          </p:txBody>
        </p:sp>
        <p:sp>
          <p:nvSpPr>
            <p:cNvPr id="34" name="Left Brace 33">
              <a:extLst>
                <a:ext uri="{FF2B5EF4-FFF2-40B4-BE49-F238E27FC236}">
                  <a16:creationId xmlns:a16="http://schemas.microsoft.com/office/drawing/2014/main" id="{A73F75E4-2689-40BA-880C-2335BD8D9D03}"/>
                </a:ext>
              </a:extLst>
            </p:cNvPr>
            <p:cNvSpPr/>
            <p:nvPr/>
          </p:nvSpPr>
          <p:spPr bwMode="auto">
            <a:xfrm rot="16200000">
              <a:off x="9614237" y="4832692"/>
              <a:ext cx="153756" cy="1981201"/>
            </a:xfrm>
            <a:prstGeom prst="leftBrac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NL" sz="2400">
                <a:latin typeface="Times New Roman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1296632-AC23-4A84-A881-36058ECE9069}"/>
                    </a:ext>
                  </a:extLst>
                </p:cNvPr>
                <p:cNvSpPr txBox="1"/>
                <p:nvPr/>
              </p:nvSpPr>
              <p:spPr>
                <a:xfrm>
                  <a:off x="8646920" y="5057260"/>
                  <a:ext cx="50838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71296632-AC23-4A84-A881-36058ECE90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6920" y="5057260"/>
                  <a:ext cx="508385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CDA7CE2-EA31-49AB-8AC7-48BB86011A93}"/>
                </a:ext>
              </a:extLst>
            </p:cNvPr>
            <p:cNvCxnSpPr>
              <a:cxnSpLocks/>
            </p:cNvCxnSpPr>
            <p:nvPr/>
          </p:nvCxnSpPr>
          <p:spPr>
            <a:xfrm>
              <a:off x="8763059" y="5246150"/>
              <a:ext cx="0" cy="16478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03029C8-2E5E-4A9D-90D2-6F95D1D7FB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8297" y="5402137"/>
              <a:ext cx="14281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9001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71A9-C586-E9FB-5008-6B2AEEDE0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065809-4FC7-DA10-9123-5D1C03FDD155}"/>
                  </a:ext>
                </a:extLst>
              </p:cNvPr>
              <p:cNvSpPr txBox="1"/>
              <p:nvPr/>
            </p:nvSpPr>
            <p:spPr>
              <a:xfrm>
                <a:off x="1034143" y="1861457"/>
                <a:ext cx="6235425" cy="35718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Find a vector orthogonal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,</a:t>
                </a:r>
              </a:p>
              <a:p>
                <a:r>
                  <a:rPr lang="en-US" sz="2000" dirty="0"/>
                  <a:t>How many vectors can you find that are orthogonal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000" dirty="0"/>
                  <a:t>?  </a:t>
                </a:r>
              </a:p>
              <a:p>
                <a:r>
                  <a:rPr lang="en-US" sz="2000" dirty="0"/>
                  <a:t>What do they have in common?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Find a vector orthogonal 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,</a:t>
                </a:r>
              </a:p>
              <a:p>
                <a:r>
                  <a:rPr lang="en-US" sz="2000" dirty="0"/>
                  <a:t>How many vectors can you find that are orthogonal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000" dirty="0"/>
                  <a:t>?  </a:t>
                </a:r>
              </a:p>
              <a:p>
                <a:r>
                  <a:rPr lang="en-US" sz="2000" dirty="0"/>
                  <a:t>What do they have in common?</a:t>
                </a:r>
              </a:p>
              <a:p>
                <a:endParaRPr lang="en-US" sz="2000" dirty="0"/>
              </a:p>
              <a:p>
                <a:endParaRPr lang="en-NL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065809-4FC7-DA10-9123-5D1C03FDD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143" y="1861457"/>
                <a:ext cx="6235425" cy="3571812"/>
              </a:xfrm>
              <a:prstGeom prst="rect">
                <a:avLst/>
              </a:prstGeom>
              <a:blipFill>
                <a:blip r:embed="rId3"/>
                <a:stretch>
                  <a:fillRect l="-107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84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E0E45-E3FF-9D05-C4C6-87F12153A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91" y="19287"/>
            <a:ext cx="10515600" cy="1325563"/>
          </a:xfrm>
        </p:spPr>
        <p:txBody>
          <a:bodyPr/>
          <a:lstStyle/>
          <a:p>
            <a:r>
              <a:rPr lang="en-US" dirty="0"/>
              <a:t>Distance between vectors:</a:t>
            </a:r>
            <a:br>
              <a:rPr lang="en-US" dirty="0"/>
            </a:br>
            <a:r>
              <a:rPr lang="en-US" dirty="0"/>
              <a:t>Application in clustering</a:t>
            </a:r>
            <a:endParaRPr lang="en-NL" dirty="0"/>
          </a:p>
        </p:txBody>
      </p:sp>
      <p:grpSp>
        <p:nvGrpSpPr>
          <p:cNvPr id="22" name="Group 7">
            <a:extLst>
              <a:ext uri="{FF2B5EF4-FFF2-40B4-BE49-F238E27FC236}">
                <a16:creationId xmlns:a16="http://schemas.microsoft.com/office/drawing/2014/main" id="{7F7DF8FF-0640-D80A-FD3A-00CA191E9B22}"/>
              </a:ext>
            </a:extLst>
          </p:cNvPr>
          <p:cNvGrpSpPr>
            <a:grpSpLocks/>
          </p:cNvGrpSpPr>
          <p:nvPr/>
        </p:nvGrpSpPr>
        <p:grpSpPr bwMode="auto">
          <a:xfrm>
            <a:off x="8383296" y="3460025"/>
            <a:ext cx="2984500" cy="80963"/>
            <a:chOff x="1510" y="3510"/>
            <a:chExt cx="2522" cy="59"/>
          </a:xfrm>
        </p:grpSpPr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60C012B1-4D95-44DC-8A1A-A2AC0DA34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0" y="3564"/>
              <a:ext cx="252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FC0051B1-A491-48D0-641B-79D8AA078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472F3109-8A2A-F4F6-084F-BBD1D46616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4" y="3518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00FF29EB-F8C4-F32A-7521-68F641D743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3" y="3510"/>
              <a:ext cx="0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27" name="Group 39">
            <a:extLst>
              <a:ext uri="{FF2B5EF4-FFF2-40B4-BE49-F238E27FC236}">
                <a16:creationId xmlns:a16="http://schemas.microsoft.com/office/drawing/2014/main" id="{E800D12F-5559-5634-41DC-B01875E70F1F}"/>
              </a:ext>
            </a:extLst>
          </p:cNvPr>
          <p:cNvGrpSpPr>
            <a:grpSpLocks/>
          </p:cNvGrpSpPr>
          <p:nvPr/>
        </p:nvGrpSpPr>
        <p:grpSpPr bwMode="auto">
          <a:xfrm>
            <a:off x="8379664" y="2166211"/>
            <a:ext cx="85726" cy="1358902"/>
            <a:chOff x="573" y="2372"/>
            <a:chExt cx="43" cy="1220"/>
          </a:xfrm>
        </p:grpSpPr>
        <p:sp>
          <p:nvSpPr>
            <p:cNvPr id="28" name="Line 14">
              <a:extLst>
                <a:ext uri="{FF2B5EF4-FFF2-40B4-BE49-F238E27FC236}">
                  <a16:creationId xmlns:a16="http://schemas.microsoft.com/office/drawing/2014/main" id="{42922D11-5368-B0A6-A006-85FC40EEF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3" y="2372"/>
              <a:ext cx="0" cy="1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9" name="Line 15">
              <a:extLst>
                <a:ext uri="{FF2B5EF4-FFF2-40B4-BE49-F238E27FC236}">
                  <a16:creationId xmlns:a16="http://schemas.microsoft.com/office/drawing/2014/main" id="{F1418953-245B-9C81-8521-A0428027AE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3153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0" name="Line 16">
              <a:extLst>
                <a:ext uri="{FF2B5EF4-FFF2-40B4-BE49-F238E27FC236}">
                  <a16:creationId xmlns:a16="http://schemas.microsoft.com/office/drawing/2014/main" id="{2590E071-0F8D-A18A-58D5-10F9F50A7DB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97" y="2708"/>
              <a:ext cx="0" cy="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0E4F13E-B0CA-ED30-222E-1582AB9F7519}"/>
              </a:ext>
            </a:extLst>
          </p:cNvPr>
          <p:cNvSpPr txBox="1"/>
          <p:nvPr/>
        </p:nvSpPr>
        <p:spPr>
          <a:xfrm>
            <a:off x="11406772" y="3340447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21E207-2B81-5A01-525E-222B2D99AC38}"/>
              </a:ext>
            </a:extLst>
          </p:cNvPr>
          <p:cNvSpPr txBox="1"/>
          <p:nvPr/>
        </p:nvSpPr>
        <p:spPr>
          <a:xfrm>
            <a:off x="7961900" y="2264796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3D5E64-0527-90DA-F770-DF777FCBDDA9}"/>
              </a:ext>
            </a:extLst>
          </p:cNvPr>
          <p:cNvSpPr txBox="1"/>
          <p:nvPr/>
        </p:nvSpPr>
        <p:spPr>
          <a:xfrm>
            <a:off x="8156717" y="34121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  <a:endParaRPr lang="en-NL" dirty="0"/>
          </a:p>
        </p:txBody>
      </p:sp>
      <p:sp>
        <p:nvSpPr>
          <p:cNvPr id="34" name="Oval 84">
            <a:extLst>
              <a:ext uri="{FF2B5EF4-FFF2-40B4-BE49-F238E27FC236}">
                <a16:creationId xmlns:a16="http://schemas.microsoft.com/office/drawing/2014/main" id="{9E7238C1-16AA-D253-7D2F-EB6193C6CF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8928" y="2969432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35" name="Oval 84">
            <a:extLst>
              <a:ext uri="{FF2B5EF4-FFF2-40B4-BE49-F238E27FC236}">
                <a16:creationId xmlns:a16="http://schemas.microsoft.com/office/drawing/2014/main" id="{3B967C81-2786-3C7B-F2B9-2474AADE2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2536" y="2464660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CF88728-B066-040D-EE92-F53B4A6E83AA}"/>
              </a:ext>
            </a:extLst>
          </p:cNvPr>
          <p:cNvCxnSpPr>
            <a:cxnSpLocks/>
          </p:cNvCxnSpPr>
          <p:nvPr/>
        </p:nvCxnSpPr>
        <p:spPr>
          <a:xfrm flipV="1">
            <a:off x="8383296" y="3082143"/>
            <a:ext cx="1295632" cy="449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B462CD4-48AE-1801-BFA2-07B372206531}"/>
              </a:ext>
            </a:extLst>
          </p:cNvPr>
          <p:cNvCxnSpPr>
            <a:cxnSpLocks/>
          </p:cNvCxnSpPr>
          <p:nvPr/>
        </p:nvCxnSpPr>
        <p:spPr>
          <a:xfrm flipV="1">
            <a:off x="8379664" y="2613475"/>
            <a:ext cx="647816" cy="9109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C2431E5-2F9B-AB71-6A11-0848297124A5}"/>
                  </a:ext>
                </a:extLst>
              </p:cNvPr>
              <p:cNvSpPr txBox="1"/>
              <p:nvPr/>
            </p:nvSpPr>
            <p:spPr>
              <a:xfrm>
                <a:off x="606137" y="2480149"/>
                <a:ext cx="2950948" cy="6134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C2431E5-2F9B-AB71-6A11-084829712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137" y="2480149"/>
                <a:ext cx="2950948" cy="6134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F8CEFB1-3A06-583A-F7CB-47F08BF89949}"/>
                  </a:ext>
                </a:extLst>
              </p:cNvPr>
              <p:cNvSpPr txBox="1"/>
              <p:nvPr/>
            </p:nvSpPr>
            <p:spPr>
              <a:xfrm>
                <a:off x="911491" y="1938552"/>
                <a:ext cx="5187254" cy="31248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Distance between samples     and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Euclidean distance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(−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Angle between samples     and</a:t>
                </a:r>
                <a:endParaRPr lang="en-NL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F8CEFB1-3A06-583A-F7CB-47F08BF89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91" y="1938552"/>
                <a:ext cx="5187254" cy="3124894"/>
              </a:xfrm>
              <a:prstGeom prst="rect">
                <a:avLst/>
              </a:prstGeom>
              <a:blipFill>
                <a:blip r:embed="rId4"/>
                <a:stretch>
                  <a:fillRect l="-1882" t="-1559" b="-331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84">
            <a:extLst>
              <a:ext uri="{FF2B5EF4-FFF2-40B4-BE49-F238E27FC236}">
                <a16:creationId xmlns:a16="http://schemas.microsoft.com/office/drawing/2014/main" id="{AE9EA4AF-82A5-6AF3-40A3-E7909FBD2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2870" y="2082071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44" name="Oval 84">
            <a:extLst>
              <a:ext uri="{FF2B5EF4-FFF2-40B4-BE49-F238E27FC236}">
                <a16:creationId xmlns:a16="http://schemas.microsoft.com/office/drawing/2014/main" id="{EEC43E43-8B1B-C96F-2D52-BAC0D0905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180" y="2094087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02E9DD7-E39E-9178-92CE-D45E73BC0D12}"/>
                  </a:ext>
                </a:extLst>
              </p:cNvPr>
              <p:cNvSpPr txBox="1"/>
              <p:nvPr/>
            </p:nvSpPr>
            <p:spPr>
              <a:xfrm>
                <a:off x="911491" y="5119372"/>
                <a:ext cx="6546584" cy="11194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𝐚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𝐛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𝐚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US" sz="2000" dirty="0"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d>
                            <m:dPr>
                              <m:begChr m:val="‖"/>
                              <m:endChr m:val="‖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𝐛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2∗1+1∗2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ra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sz="2000" b="0" dirty="0">
                  <a:ea typeface="Cambria Math" panose="02040503050406030204" pitchFamily="18" charset="0"/>
                </a:endParaRPr>
              </a:p>
              <a:p>
                <a:r>
                  <a:rPr lang="en-US" sz="2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=0.64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=36.9° </m:t>
                    </m:r>
                  </m:oMath>
                </a14:m>
                <a:endParaRPr lang="en-US" sz="2000" baseline="300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02E9DD7-E39E-9178-92CE-D45E73BC0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491" y="5119372"/>
                <a:ext cx="6546584" cy="111947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Oval 84">
            <a:extLst>
              <a:ext uri="{FF2B5EF4-FFF2-40B4-BE49-F238E27FC236}">
                <a16:creationId xmlns:a16="http://schemas.microsoft.com/office/drawing/2014/main" id="{24758A59-AA4C-71FB-8643-3117B3A6A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0920" y="4710971"/>
            <a:ext cx="187325" cy="174625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p:sp>
        <p:nvSpPr>
          <p:cNvPr id="48" name="Oval 84">
            <a:extLst>
              <a:ext uri="{FF2B5EF4-FFF2-40B4-BE49-F238E27FC236}">
                <a16:creationId xmlns:a16="http://schemas.microsoft.com/office/drawing/2014/main" id="{C1A314F5-DCA1-3E51-1B02-F07B64843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230" y="4722987"/>
            <a:ext cx="187325" cy="17462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A1FA65-F07D-DF07-E80F-E31AFE1ACBEC}"/>
                  </a:ext>
                </a:extLst>
              </p:cNvPr>
              <p:cNvSpPr txBox="1"/>
              <p:nvPr/>
            </p:nvSpPr>
            <p:spPr>
              <a:xfrm>
                <a:off x="8602612" y="3075283"/>
                <a:ext cx="2489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5A1FA65-F07D-DF07-E80F-E31AFE1AC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2612" y="3075283"/>
                <a:ext cx="248939" cy="369332"/>
              </a:xfrm>
              <a:prstGeom prst="rect">
                <a:avLst/>
              </a:prstGeom>
              <a:blipFill>
                <a:blip r:embed="rId6"/>
                <a:stretch>
                  <a:fillRect r="-2195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E833ADDD-710D-708A-1FA5-216271A29C65}"/>
              </a:ext>
            </a:extLst>
          </p:cNvPr>
          <p:cNvSpPr/>
          <p:nvPr/>
        </p:nvSpPr>
        <p:spPr>
          <a:xfrm>
            <a:off x="7803618" y="1738626"/>
            <a:ext cx="4067066" cy="467857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6EFE525A-03E6-745B-4221-E318174546BE}"/>
              </a:ext>
            </a:extLst>
          </p:cNvPr>
          <p:cNvSpPr/>
          <p:nvPr/>
        </p:nvSpPr>
        <p:spPr>
          <a:xfrm>
            <a:off x="333698" y="1738627"/>
            <a:ext cx="7026327" cy="474789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8E6C734-EE53-91A3-F868-88EEB21029EC}"/>
              </a:ext>
            </a:extLst>
          </p:cNvPr>
          <p:cNvCxnSpPr>
            <a:cxnSpLocks/>
            <a:stCxn id="35" idx="5"/>
            <a:endCxn id="34" idx="1"/>
          </p:cNvCxnSpPr>
          <p:nvPr/>
        </p:nvCxnSpPr>
        <p:spPr>
          <a:xfrm>
            <a:off x="9172428" y="2613712"/>
            <a:ext cx="533933" cy="3812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BBECAC-BC57-937C-8FAC-732A91EA9C68}"/>
                  </a:ext>
                </a:extLst>
              </p:cNvPr>
              <p:cNvSpPr txBox="1"/>
              <p:nvPr/>
            </p:nvSpPr>
            <p:spPr>
              <a:xfrm>
                <a:off x="9381712" y="2431064"/>
                <a:ext cx="523606" cy="40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BBECAC-BC57-937C-8FAC-732A91EA9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1712" y="2431064"/>
                <a:ext cx="523606" cy="401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912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06552-1C09-4D90-851A-732A4E427D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325" y="1543050"/>
                <a:ext cx="5871556" cy="1628712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en-US" sz="2000" b="1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NL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sz="2000" dirty="0"/>
                  <a:t> both are (</a:t>
                </a:r>
                <a:r>
                  <a:rPr lang="en-US" sz="2000" i="1" dirty="0"/>
                  <a:t>J</a:t>
                </a:r>
                <a:r>
                  <a:rPr lang="en-US" sz="2000" dirty="0"/>
                  <a:t>x1)</a:t>
                </a:r>
              </a:p>
              <a:p>
                <a:r>
                  <a:rPr lang="en-US" sz="2000" dirty="0"/>
                  <a:t>The prediction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), = the length of </a:t>
                </a:r>
                <a:r>
                  <a:rPr lang="en-US" sz="2000" b="1" dirty="0"/>
                  <a:t>b</a:t>
                </a:r>
                <a:r>
                  <a:rPr lang="en-US" sz="2000" dirty="0"/>
                  <a:t> * length of projection of </a:t>
                </a:r>
                <a:r>
                  <a:rPr lang="en-US" sz="2000" b="1" dirty="0"/>
                  <a:t>x</a:t>
                </a:r>
                <a:r>
                  <a:rPr lang="en-US" sz="2000" i="1" baseline="-25000" dirty="0"/>
                  <a:t>i</a:t>
                </a:r>
                <a:r>
                  <a:rPr lang="en-US" sz="2000" dirty="0"/>
                  <a:t> on </a:t>
                </a:r>
                <a:r>
                  <a:rPr lang="en-US" sz="2000" b="1" dirty="0"/>
                  <a:t>b</a:t>
                </a:r>
                <a:endParaRPr lang="en-NL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006552-1C09-4D90-851A-732A4E427D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325" y="1543050"/>
                <a:ext cx="5871556" cy="1628712"/>
              </a:xfrm>
              <a:blipFill>
                <a:blip r:embed="rId3"/>
                <a:stretch>
                  <a:fillRect l="-935" t="-224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18168B05-4879-4D13-96AD-74C4AD69053A}"/>
              </a:ext>
            </a:extLst>
          </p:cNvPr>
          <p:cNvSpPr/>
          <p:nvPr/>
        </p:nvSpPr>
        <p:spPr>
          <a:xfrm>
            <a:off x="8496300" y="1254144"/>
            <a:ext cx="3486150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7AE504AA-3D32-4EBD-930B-B1C1BBF7493F}"/>
              </a:ext>
            </a:extLst>
          </p:cNvPr>
          <p:cNvSpPr/>
          <p:nvPr/>
        </p:nvSpPr>
        <p:spPr>
          <a:xfrm>
            <a:off x="333697" y="1247775"/>
            <a:ext cx="7010077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4" name="Title 1">
            <a:extLst>
              <a:ext uri="{FF2B5EF4-FFF2-40B4-BE49-F238E27FC236}">
                <a16:creationId xmlns:a16="http://schemas.microsoft.com/office/drawing/2014/main" id="{9FD0AE5A-F64F-4FDD-87C7-5F5081C929EA}"/>
              </a:ext>
            </a:extLst>
          </p:cNvPr>
          <p:cNvSpPr txBox="1">
            <a:spLocks/>
          </p:cNvSpPr>
          <p:nvPr/>
        </p:nvSpPr>
        <p:spPr>
          <a:xfrm>
            <a:off x="228600" y="136525"/>
            <a:ext cx="10515600" cy="796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Dot product applied in regression</a:t>
            </a:r>
            <a:endParaRPr lang="en-NL" dirty="0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68D5F54C-7D1B-462C-8C5E-8ED28213C00B}"/>
              </a:ext>
            </a:extLst>
          </p:cNvPr>
          <p:cNvCxnSpPr>
            <a:cxnSpLocks/>
          </p:cNvCxnSpPr>
          <p:nvPr/>
        </p:nvCxnSpPr>
        <p:spPr bwMode="auto">
          <a:xfrm rot="20400317" flipV="1">
            <a:off x="8882638" y="2356244"/>
            <a:ext cx="1219200" cy="685800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8E8D42D5-37FD-4BAC-A403-B90168581CBB}"/>
              </a:ext>
            </a:extLst>
          </p:cNvPr>
          <p:cNvCxnSpPr>
            <a:cxnSpLocks/>
          </p:cNvCxnSpPr>
          <p:nvPr/>
        </p:nvCxnSpPr>
        <p:spPr bwMode="auto">
          <a:xfrm rot="20400317">
            <a:off x="8971630" y="2902741"/>
            <a:ext cx="1981200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6B44141D-CCA2-4C64-8F78-1A59343B92E7}"/>
              </a:ext>
            </a:extLst>
          </p:cNvPr>
          <p:cNvSpPr txBox="1"/>
          <p:nvPr/>
        </p:nvSpPr>
        <p:spPr>
          <a:xfrm>
            <a:off x="10771374" y="2180619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</a:t>
            </a:r>
            <a:endParaRPr lang="en-NL" sz="2000" dirty="0">
              <a:solidFill>
                <a:srgbClr val="FF000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39E47C-7A29-44A4-BC3D-E1EDB3FAA52E}"/>
              </a:ext>
            </a:extLst>
          </p:cNvPr>
          <p:cNvSpPr txBox="1"/>
          <p:nvPr/>
        </p:nvSpPr>
        <p:spPr>
          <a:xfrm>
            <a:off x="9478276" y="1939088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33FF"/>
                </a:solidFill>
              </a:rPr>
              <a:t>x</a:t>
            </a:r>
            <a:r>
              <a:rPr lang="en-US" sz="2000" baseline="-25000" dirty="0">
                <a:solidFill>
                  <a:srgbClr val="3333FF"/>
                </a:solidFill>
              </a:rPr>
              <a:t>i</a:t>
            </a:r>
            <a:endParaRPr lang="en-NL" sz="2000" baseline="-25000" dirty="0">
              <a:solidFill>
                <a:srgbClr val="3333FF"/>
              </a:solidFill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C864F61-A14B-4230-B143-CDB8C8C91C49}"/>
              </a:ext>
            </a:extLst>
          </p:cNvPr>
          <p:cNvCxnSpPr/>
          <p:nvPr/>
        </p:nvCxnSpPr>
        <p:spPr bwMode="auto">
          <a:xfrm rot="20400317">
            <a:off x="10059801" y="2159444"/>
            <a:ext cx="0" cy="6858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8" name="Left Brace 67">
            <a:extLst>
              <a:ext uri="{FF2B5EF4-FFF2-40B4-BE49-F238E27FC236}">
                <a16:creationId xmlns:a16="http://schemas.microsoft.com/office/drawing/2014/main" id="{8F08EC7B-D5CD-401F-BECA-91BCCBB96822}"/>
              </a:ext>
            </a:extLst>
          </p:cNvPr>
          <p:cNvSpPr/>
          <p:nvPr/>
        </p:nvSpPr>
        <p:spPr bwMode="auto">
          <a:xfrm rot="15000317">
            <a:off x="9579957" y="2568089"/>
            <a:ext cx="153761" cy="1219200"/>
          </a:xfrm>
          <a:prstGeom prst="leftBrace">
            <a:avLst/>
          </a:prstGeom>
          <a:noFill/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sz="2400">
              <a:latin typeface="Times New Roman" pitchFamily="18" charset="0"/>
            </a:endParaRPr>
          </a:p>
        </p:txBody>
      </p:sp>
      <p:sp>
        <p:nvSpPr>
          <p:cNvPr id="69" name="Left Brace 68">
            <a:extLst>
              <a:ext uri="{FF2B5EF4-FFF2-40B4-BE49-F238E27FC236}">
                <a16:creationId xmlns:a16="http://schemas.microsoft.com/office/drawing/2014/main" id="{CF3DBE12-48BF-4ACF-93DB-3063B1C4D8BA}"/>
              </a:ext>
            </a:extLst>
          </p:cNvPr>
          <p:cNvSpPr/>
          <p:nvPr/>
        </p:nvSpPr>
        <p:spPr bwMode="auto">
          <a:xfrm rot="15000317">
            <a:off x="10007074" y="2246663"/>
            <a:ext cx="153756" cy="1981201"/>
          </a:xfrm>
          <a:prstGeom prst="leftBrac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sz="2400">
              <a:latin typeface="Times New Roman" pitchFamily="18" charset="0"/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A77814D8-3A81-4EBC-835D-C9F66878F100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802133" y="4216400"/>
            <a:ext cx="386898" cy="1130087"/>
          </a:xfrm>
          <a:prstGeom prst="straightConnector1">
            <a:avLst/>
          </a:prstGeom>
          <a:ln w="28575"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247A412-FEEB-43FC-A9A4-E97379609934}"/>
              </a:ext>
            </a:extLst>
          </p:cNvPr>
          <p:cNvCxnSpPr>
            <a:cxnSpLocks/>
          </p:cNvCxnSpPr>
          <p:nvPr/>
        </p:nvCxnSpPr>
        <p:spPr bwMode="auto">
          <a:xfrm rot="20400317">
            <a:off x="9124030" y="5019410"/>
            <a:ext cx="1981200" cy="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68BE876-48EC-4666-8DF1-A405A15C037E}"/>
              </a:ext>
            </a:extLst>
          </p:cNvPr>
          <p:cNvSpPr txBox="1"/>
          <p:nvPr/>
        </p:nvSpPr>
        <p:spPr>
          <a:xfrm>
            <a:off x="10923774" y="4297288"/>
            <a:ext cx="3193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b</a:t>
            </a:r>
            <a:endParaRPr lang="en-NL" sz="2000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C82FFF-0EA7-40AE-A95C-EC514C411698}"/>
              </a:ext>
            </a:extLst>
          </p:cNvPr>
          <p:cNvSpPr txBox="1"/>
          <p:nvPr/>
        </p:nvSpPr>
        <p:spPr>
          <a:xfrm>
            <a:off x="8828709" y="3981206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3333FF"/>
                </a:solidFill>
              </a:rPr>
              <a:t>x</a:t>
            </a:r>
            <a:r>
              <a:rPr lang="en-US" sz="2000" baseline="-25000" dirty="0">
                <a:solidFill>
                  <a:srgbClr val="3333FF"/>
                </a:solidFill>
              </a:rPr>
              <a:t>i</a:t>
            </a:r>
            <a:endParaRPr lang="en-NL" sz="2000" baseline="-25000" dirty="0">
              <a:solidFill>
                <a:srgbClr val="3333FF"/>
              </a:solidFill>
            </a:endParaRP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8B350B3-9846-449C-B86B-9DC7C6E97396}"/>
              </a:ext>
            </a:extLst>
          </p:cNvPr>
          <p:cNvCxnSpPr/>
          <p:nvPr/>
        </p:nvCxnSpPr>
        <p:spPr bwMode="auto">
          <a:xfrm>
            <a:off x="8802133" y="4277783"/>
            <a:ext cx="359338" cy="106178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5" name="Left Brace 74">
            <a:extLst>
              <a:ext uri="{FF2B5EF4-FFF2-40B4-BE49-F238E27FC236}">
                <a16:creationId xmlns:a16="http://schemas.microsoft.com/office/drawing/2014/main" id="{DA56E49C-2FEB-4302-8F21-084B5217FCC2}"/>
              </a:ext>
            </a:extLst>
          </p:cNvPr>
          <p:cNvSpPr/>
          <p:nvPr/>
        </p:nvSpPr>
        <p:spPr bwMode="auto">
          <a:xfrm rot="4143530" flipH="1" flipV="1">
            <a:off x="9157936" y="5394029"/>
            <a:ext cx="45719" cy="45719"/>
          </a:xfrm>
          <a:prstGeom prst="leftBrace">
            <a:avLst/>
          </a:prstGeom>
          <a:noFill/>
          <a:ln w="28575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sz="2400">
              <a:latin typeface="Times New Roman" pitchFamily="18" charset="0"/>
            </a:endParaRPr>
          </a:p>
        </p:txBody>
      </p:sp>
      <p:sp>
        <p:nvSpPr>
          <p:cNvPr id="76" name="Left Brace 75">
            <a:extLst>
              <a:ext uri="{FF2B5EF4-FFF2-40B4-BE49-F238E27FC236}">
                <a16:creationId xmlns:a16="http://schemas.microsoft.com/office/drawing/2014/main" id="{854912F7-A63F-48C2-9006-C9063C2CC314}"/>
              </a:ext>
            </a:extLst>
          </p:cNvPr>
          <p:cNvSpPr/>
          <p:nvPr/>
        </p:nvSpPr>
        <p:spPr bwMode="auto">
          <a:xfrm rot="15000317">
            <a:off x="10159474" y="4363332"/>
            <a:ext cx="153756" cy="1981201"/>
          </a:xfrm>
          <a:prstGeom prst="leftBrac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NL" sz="2400">
              <a:latin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BC7AA99-66A0-4994-9E26-1146478E79D3}"/>
                  </a:ext>
                </a:extLst>
              </p:cNvPr>
              <p:cNvSpPr txBox="1"/>
              <p:nvPr/>
            </p:nvSpPr>
            <p:spPr>
              <a:xfrm>
                <a:off x="735503" y="3199357"/>
                <a:ext cx="579119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‖"/>
                        <m:endChr m:val="‖"/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  <a:r>
                  <a:rPr lang="en-US" sz="2000" i="1" dirty="0"/>
                  <a:t>* </a:t>
                </a:r>
                <a:r>
                  <a:rPr lang="en-US" sz="2000" dirty="0">
                    <a:solidFill>
                      <a:srgbClr val="3333FF"/>
                    </a:solidFill>
                  </a:rPr>
                  <a:t>||projection of </a:t>
                </a:r>
                <a:r>
                  <a:rPr lang="en-US" sz="2000" b="1" dirty="0">
                    <a:solidFill>
                      <a:srgbClr val="3333FF"/>
                    </a:solidFill>
                  </a:rPr>
                  <a:t>x</a:t>
                </a:r>
                <a:r>
                  <a:rPr lang="en-US" sz="2000" b="1" baseline="-25000" dirty="0">
                    <a:solidFill>
                      <a:srgbClr val="3333FF"/>
                    </a:solidFill>
                  </a:rPr>
                  <a:t>i</a:t>
                </a:r>
                <a:r>
                  <a:rPr lang="en-US" sz="2000" dirty="0">
                    <a:solidFill>
                      <a:srgbClr val="3333FF"/>
                    </a:solidFill>
                  </a:rPr>
                  <a:t> on </a:t>
                </a:r>
                <a:r>
                  <a:rPr lang="en-US" sz="2000" b="1" dirty="0">
                    <a:solidFill>
                      <a:srgbClr val="3333FF"/>
                    </a:solidFill>
                  </a:rPr>
                  <a:t>b</a:t>
                </a:r>
                <a:r>
                  <a:rPr lang="en-US" sz="2000" dirty="0">
                    <a:solidFill>
                      <a:srgbClr val="3333FF"/>
                    </a:solidFill>
                  </a:rPr>
                  <a:t>||</a:t>
                </a:r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FF0000"/>
                    </a:solidFill>
                  </a:rPr>
                  <a:t>3 </a:t>
                </a:r>
                <a:r>
                  <a:rPr lang="en-US" sz="2000" dirty="0"/>
                  <a:t>* </a:t>
                </a:r>
                <a:r>
                  <a:rPr lang="en-US" sz="2000" dirty="0">
                    <a:solidFill>
                      <a:srgbClr val="3333FF"/>
                    </a:solidFill>
                  </a:rPr>
                  <a:t>2</a:t>
                </a:r>
                <a:r>
                  <a:rPr lang="en-US" sz="2000" dirty="0"/>
                  <a:t> = 6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BC7AA99-66A0-4994-9E26-1146478E7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03" y="3199357"/>
                <a:ext cx="5791199" cy="400110"/>
              </a:xfrm>
              <a:prstGeom prst="rect">
                <a:avLst/>
              </a:prstGeom>
              <a:blipFill>
                <a:blip r:embed="rId4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ontent Placeholder 2">
                <a:extLst>
                  <a:ext uri="{FF2B5EF4-FFF2-40B4-BE49-F238E27FC236}">
                    <a16:creationId xmlns:a16="http://schemas.microsoft.com/office/drawing/2014/main" id="{7527438E-F9B4-41F0-909D-DB2A25CE34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5503" y="3866334"/>
                <a:ext cx="5871556" cy="16287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r>
                  <a:rPr lang="en-US" sz="2000" dirty="0"/>
                  <a:t> is preferred direction for predicting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gets larger when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NL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more in direction of </a:t>
                </a:r>
                <a:r>
                  <a:rPr lang="en-US" sz="1800" b="1" dirty="0"/>
                  <a:t>b </a:t>
                </a:r>
                <a:r>
                  <a:rPr lang="en-US" sz="1800" dirty="0"/>
                  <a:t>(</a:t>
                </a:r>
                <a:r>
                  <a:rPr lang="en-US" sz="1800" dirty="0">
                    <a:sym typeface="Symbol" panose="05050102010706020507" pitchFamily="18" charset="2"/>
                  </a:rPr>
                  <a:t> gets smaller)</a:t>
                </a:r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NL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becomes longer (in same direction)</a:t>
                </a:r>
              </a:p>
              <a:p>
                <a:pPr lvl="1"/>
                <a:endParaRPr lang="en-US" sz="180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gets 0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L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orthogonal to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78" name="Content Placeholder 2">
                <a:extLst>
                  <a:ext uri="{FF2B5EF4-FFF2-40B4-BE49-F238E27FC236}">
                    <a16:creationId xmlns:a16="http://schemas.microsoft.com/office/drawing/2014/main" id="{7527438E-F9B4-41F0-909D-DB2A25CE3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503" y="3866334"/>
                <a:ext cx="5871556" cy="1628712"/>
              </a:xfrm>
              <a:prstGeom prst="rect">
                <a:avLst/>
              </a:prstGeom>
              <a:blipFill>
                <a:blip r:embed="rId5"/>
                <a:stretch>
                  <a:fillRect l="-935" t="-3745" b="-35955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DA06767-F8FB-41C8-90D9-0EF28D074B4E}"/>
                  </a:ext>
                </a:extLst>
              </p:cNvPr>
              <p:cNvSpPr txBox="1"/>
              <p:nvPr/>
            </p:nvSpPr>
            <p:spPr>
              <a:xfrm>
                <a:off x="9279173" y="2746962"/>
                <a:ext cx="3211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0DA06767-F8FB-41C8-90D9-0EF28D074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9173" y="2746962"/>
                <a:ext cx="32112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CFB502-6E27-4104-9446-9A41DFC50E18}"/>
                  </a:ext>
                </a:extLst>
              </p:cNvPr>
              <p:cNvSpPr txBox="1"/>
              <p:nvPr/>
            </p:nvSpPr>
            <p:spPr>
              <a:xfrm>
                <a:off x="9170039" y="4886897"/>
                <a:ext cx="32112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CFB502-6E27-4104-9446-9A41DFC50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039" y="4886897"/>
                <a:ext cx="32112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23998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75" y="145520"/>
            <a:ext cx="10515600" cy="854605"/>
          </a:xfrm>
        </p:spPr>
        <p:txBody>
          <a:bodyPr/>
          <a:lstStyle/>
          <a:p>
            <a:r>
              <a:rPr lang="en-US" dirty="0"/>
              <a:t>Rank of a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099" y="1495425"/>
            <a:ext cx="7324725" cy="4998508"/>
          </a:xfrm>
        </p:spPr>
        <p:txBody>
          <a:bodyPr>
            <a:normAutofit/>
          </a:bodyPr>
          <a:lstStyle/>
          <a:p>
            <a:r>
              <a:rPr lang="en-US" sz="2400" dirty="0"/>
              <a:t>Lowest number of independent (columns or rows)  present in the matrix?</a:t>
            </a:r>
          </a:p>
          <a:p>
            <a:r>
              <a:rPr lang="en-US" sz="2400" dirty="0"/>
              <a:t>4 rows, 3 columns: rank cannot be larger than 3</a:t>
            </a:r>
          </a:p>
          <a:p>
            <a:r>
              <a:rPr lang="en-US" sz="2400" dirty="0"/>
              <a:t>Note that column 3 = column 1 + column 2</a:t>
            </a:r>
          </a:p>
          <a:p>
            <a:pPr lvl="1"/>
            <a:r>
              <a:rPr lang="en-US" sz="2000" dirty="0"/>
              <a:t>This makes the rank only 2</a:t>
            </a:r>
          </a:p>
          <a:p>
            <a:endParaRPr lang="en-US" sz="2400" b="1" dirty="0"/>
          </a:p>
          <a:p>
            <a:r>
              <a:rPr lang="en-US" sz="2400" b="1" dirty="0"/>
              <a:t>Multiplication of a matrix cannot increase the rank</a:t>
            </a:r>
          </a:p>
          <a:p>
            <a:pPr lvl="1"/>
            <a:r>
              <a:rPr lang="en-US" sz="2000" b="1" dirty="0"/>
              <a:t>C = BA; rank(B) = 5, rank(A) = 3, then rank(C) is 3 at most!</a:t>
            </a:r>
          </a:p>
          <a:p>
            <a:pPr lvl="1"/>
            <a:endParaRPr lang="en-US" sz="2000" dirty="0"/>
          </a:p>
          <a:p>
            <a:r>
              <a:rPr lang="en-US" sz="2400" dirty="0"/>
              <a:t>(Chemical) Rank</a:t>
            </a:r>
          </a:p>
          <a:p>
            <a:pPr lvl="1"/>
            <a:r>
              <a:rPr lang="en-US" sz="2000" dirty="0"/>
              <a:t>With noisy data the rank is often considered to be the dimension of the systematic variation (disregarding the noise).</a:t>
            </a: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9826625" y="2359025"/>
          <a:ext cx="1398588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98400" imgH="914400" progId="Equation.3">
                  <p:embed/>
                </p:oleObj>
              </mc:Choice>
              <mc:Fallback>
                <p:oleObj name="Equation" r:id="rId3" imgW="698400" imgH="9144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26625" y="2359025"/>
                        <a:ext cx="1398588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09046B2-3B80-43F0-A589-AF44FEE94307}"/>
              </a:ext>
            </a:extLst>
          </p:cNvPr>
          <p:cNvSpPr/>
          <p:nvPr/>
        </p:nvSpPr>
        <p:spPr>
          <a:xfrm>
            <a:off x="9363075" y="1254144"/>
            <a:ext cx="2143126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E8C5DD-EABD-43FA-8C5F-8A34A086EFAE}"/>
              </a:ext>
            </a:extLst>
          </p:cNvPr>
          <p:cNvSpPr/>
          <p:nvPr/>
        </p:nvSpPr>
        <p:spPr>
          <a:xfrm>
            <a:off x="333698" y="1247775"/>
            <a:ext cx="8124502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1490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ADD9E-EB61-4B31-B187-901521B17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74626"/>
            <a:ext cx="10515600" cy="749300"/>
          </a:xfrm>
        </p:spPr>
        <p:txBody>
          <a:bodyPr/>
          <a:lstStyle/>
          <a:p>
            <a:r>
              <a:rPr lang="en-US" dirty="0"/>
              <a:t>Geometry: Rank / Subspace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E33E4-3BEA-4FDA-978B-38827411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08" y="1393371"/>
            <a:ext cx="6125921" cy="494712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Two samples (vectors) in a 3 dimensional space only cover a 2 dimensional </a:t>
            </a:r>
            <a:r>
              <a:rPr lang="en-US" sz="2400" b="1" dirty="0"/>
              <a:t>subspace</a:t>
            </a:r>
            <a:r>
              <a:rPr lang="en-US" sz="2400" dirty="0"/>
              <a:t> of the 3-dimensional space.</a:t>
            </a:r>
          </a:p>
          <a:p>
            <a:r>
              <a:rPr lang="en-US" sz="2400" dirty="0"/>
              <a:t>Third dimension is not filled</a:t>
            </a:r>
          </a:p>
          <a:p>
            <a:r>
              <a:rPr lang="en-US" sz="2400" dirty="0"/>
              <a:t>Matrix is </a:t>
            </a:r>
            <a:r>
              <a:rPr lang="en-US" sz="2400" b="1" dirty="0"/>
              <a:t>not</a:t>
            </a:r>
            <a:r>
              <a:rPr lang="en-US" sz="2400" dirty="0"/>
              <a:t> </a:t>
            </a:r>
            <a:r>
              <a:rPr lang="en-US" sz="2400" b="1" dirty="0"/>
              <a:t>full rank</a:t>
            </a:r>
          </a:p>
          <a:p>
            <a:pPr lvl="1"/>
            <a:r>
              <a:rPr lang="en-US" sz="2000" dirty="0"/>
              <a:t>The 3D space is not fully occupied by the samples.</a:t>
            </a:r>
          </a:p>
          <a:p>
            <a:pPr lvl="1"/>
            <a:r>
              <a:rPr lang="en-US" sz="2000" dirty="0"/>
              <a:t>I &lt; J (less samples than variables</a:t>
            </a:r>
          </a:p>
          <a:p>
            <a:pPr lvl="1"/>
            <a:r>
              <a:rPr lang="en-US" sz="2000" dirty="0"/>
              <a:t>Samples cover only a subspace of the J-dimensional space where the samples live.</a:t>
            </a:r>
          </a:p>
          <a:p>
            <a:pPr lvl="1"/>
            <a:r>
              <a:rPr lang="en-US" sz="2000" b="1" dirty="0"/>
              <a:t>Null space </a:t>
            </a:r>
            <a:r>
              <a:rPr lang="en-US" sz="2000" dirty="0"/>
              <a:t>is space orthogonal to this subplace</a:t>
            </a:r>
          </a:p>
          <a:p>
            <a:endParaRPr lang="en-US" sz="2400" b="1" dirty="0"/>
          </a:p>
          <a:p>
            <a:r>
              <a:rPr lang="en-US" sz="2400" dirty="0"/>
              <a:t>Samples that are already in the same subspace do not increase the rank </a:t>
            </a:r>
          </a:p>
          <a:p>
            <a:pPr lvl="1"/>
            <a:r>
              <a:rPr lang="en-US" sz="2000" dirty="0"/>
              <a:t>[2 2 2] = 2*[1 1 1]</a:t>
            </a:r>
          </a:p>
          <a:p>
            <a:pPr lvl="1"/>
            <a:r>
              <a:rPr lang="en-US" sz="2000" dirty="0"/>
              <a:t>[4 3 2] = [3 2 1] + [1 1 1]</a:t>
            </a:r>
          </a:p>
          <a:p>
            <a:endParaRPr lang="en-US" sz="2400" b="1" dirty="0"/>
          </a:p>
          <a:p>
            <a:endParaRPr lang="en-US" sz="2400" b="1" dirty="0"/>
          </a:p>
        </p:txBody>
      </p:sp>
      <p:grpSp>
        <p:nvGrpSpPr>
          <p:cNvPr id="4" name="Group 90">
            <a:extLst>
              <a:ext uri="{FF2B5EF4-FFF2-40B4-BE49-F238E27FC236}">
                <a16:creationId xmlns:a16="http://schemas.microsoft.com/office/drawing/2014/main" id="{53665114-2729-4ABA-BA1A-91FF37F7D199}"/>
              </a:ext>
            </a:extLst>
          </p:cNvPr>
          <p:cNvGrpSpPr>
            <a:grpSpLocks/>
          </p:cNvGrpSpPr>
          <p:nvPr/>
        </p:nvGrpSpPr>
        <p:grpSpPr bwMode="auto">
          <a:xfrm>
            <a:off x="8246920" y="3254137"/>
            <a:ext cx="3038475" cy="866775"/>
            <a:chOff x="3417" y="2598"/>
            <a:chExt cx="1914" cy="546"/>
          </a:xfrm>
        </p:grpSpPr>
        <p:sp>
          <p:nvSpPr>
            <p:cNvPr id="5" name="Line 49">
              <a:extLst>
                <a:ext uri="{FF2B5EF4-FFF2-40B4-BE49-F238E27FC236}">
                  <a16:creationId xmlns:a16="http://schemas.microsoft.com/office/drawing/2014/main" id="{FC315D8C-5670-49A0-A682-8B98E775F5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598"/>
              <a:ext cx="1914" cy="5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6" name="Line 58">
              <a:extLst>
                <a:ext uri="{FF2B5EF4-FFF2-40B4-BE49-F238E27FC236}">
                  <a16:creationId xmlns:a16="http://schemas.microsoft.com/office/drawing/2014/main" id="{7FA73E49-A5C0-4EF9-9F58-77CAAD498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3" y="3021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19599945-1FA9-4868-A713-989CC805F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7" y="2922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" name="Line 60">
              <a:extLst>
                <a:ext uri="{FF2B5EF4-FFF2-40B4-BE49-F238E27FC236}">
                  <a16:creationId xmlns:a16="http://schemas.microsoft.com/office/drawing/2014/main" id="{FF5C0965-63E1-4F42-9179-3688EAD03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2805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9" name="Line 61">
              <a:extLst>
                <a:ext uri="{FF2B5EF4-FFF2-40B4-BE49-F238E27FC236}">
                  <a16:creationId xmlns:a16="http://schemas.microsoft.com/office/drawing/2014/main" id="{6655122E-3E45-4DA6-B0A6-1F28CD3067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34" y="3021"/>
              <a:ext cx="10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10" name="Group 89">
            <a:extLst>
              <a:ext uri="{FF2B5EF4-FFF2-40B4-BE49-F238E27FC236}">
                <a16:creationId xmlns:a16="http://schemas.microsoft.com/office/drawing/2014/main" id="{80844A2B-31EE-442B-A37E-FC76E3098092}"/>
              </a:ext>
            </a:extLst>
          </p:cNvPr>
          <p:cNvGrpSpPr>
            <a:grpSpLocks/>
          </p:cNvGrpSpPr>
          <p:nvPr/>
        </p:nvGrpSpPr>
        <p:grpSpPr bwMode="auto">
          <a:xfrm>
            <a:off x="8248211" y="2473997"/>
            <a:ext cx="76040" cy="1646913"/>
            <a:chOff x="3417" y="1848"/>
            <a:chExt cx="54" cy="1296"/>
          </a:xfrm>
        </p:grpSpPr>
        <p:sp>
          <p:nvSpPr>
            <p:cNvPr id="11" name="Line 48">
              <a:extLst>
                <a:ext uri="{FF2B5EF4-FFF2-40B4-BE49-F238E27FC236}">
                  <a16:creationId xmlns:a16="http://schemas.microsoft.com/office/drawing/2014/main" id="{46D4D70D-C29E-47F2-B8CC-43DC714653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184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2" name="Line 66">
              <a:extLst>
                <a:ext uri="{FF2B5EF4-FFF2-40B4-BE49-F238E27FC236}">
                  <a16:creationId xmlns:a16="http://schemas.microsoft.com/office/drawing/2014/main" id="{F6B028B1-A883-431B-9C66-B000558A5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772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3" name="Line 67">
              <a:extLst>
                <a:ext uri="{FF2B5EF4-FFF2-40B4-BE49-F238E27FC236}">
                  <a16:creationId xmlns:a16="http://schemas.microsoft.com/office/drawing/2014/main" id="{E2FD34FB-00D5-43A2-A658-D623C630B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439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4" name="Line 68">
              <a:extLst>
                <a:ext uri="{FF2B5EF4-FFF2-40B4-BE49-F238E27FC236}">
                  <a16:creationId xmlns:a16="http://schemas.microsoft.com/office/drawing/2014/main" id="{952B241A-5920-4484-9465-841742E561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103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grpSp>
        <p:nvGrpSpPr>
          <p:cNvPr id="15" name="Group 88">
            <a:extLst>
              <a:ext uri="{FF2B5EF4-FFF2-40B4-BE49-F238E27FC236}">
                <a16:creationId xmlns:a16="http://schemas.microsoft.com/office/drawing/2014/main" id="{56D93AC7-29BD-4498-B5DF-CF7218E51211}"/>
              </a:ext>
            </a:extLst>
          </p:cNvPr>
          <p:cNvGrpSpPr>
            <a:grpSpLocks/>
          </p:cNvGrpSpPr>
          <p:nvPr/>
        </p:nvGrpSpPr>
        <p:grpSpPr bwMode="auto">
          <a:xfrm>
            <a:off x="8246920" y="-701799"/>
            <a:ext cx="3612541" cy="48"/>
            <a:chOff x="3417" y="3096"/>
            <a:chExt cx="2046" cy="48"/>
          </a:xfrm>
        </p:grpSpPr>
        <p:sp>
          <p:nvSpPr>
            <p:cNvPr id="16" name="Line 47">
              <a:extLst>
                <a:ext uri="{FF2B5EF4-FFF2-40B4-BE49-F238E27FC236}">
                  <a16:creationId xmlns:a16="http://schemas.microsoft.com/office/drawing/2014/main" id="{6F7945A4-CB57-4393-BC51-752FFF9232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7" y="3144"/>
              <a:ext cx="20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7" name="Line 56">
              <a:extLst>
                <a:ext uri="{FF2B5EF4-FFF2-40B4-BE49-F238E27FC236}">
                  <a16:creationId xmlns:a16="http://schemas.microsoft.com/office/drawing/2014/main" id="{1A791B53-3683-4992-8901-8BA2812B1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55" y="3096"/>
              <a:ext cx="0" cy="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20" name="Line 74">
            <a:extLst>
              <a:ext uri="{FF2B5EF4-FFF2-40B4-BE49-F238E27FC236}">
                <a16:creationId xmlns:a16="http://schemas.microsoft.com/office/drawing/2014/main" id="{0A58E01A-473E-4869-9A7D-8573E0E2D5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60265" y="3872268"/>
            <a:ext cx="2039548" cy="23914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2A35AD-C2EA-4C36-ABC2-327464AC084B}"/>
              </a:ext>
            </a:extLst>
          </p:cNvPr>
          <p:cNvSpPr txBox="1"/>
          <p:nvPr/>
        </p:nvSpPr>
        <p:spPr>
          <a:xfrm>
            <a:off x="7819774" y="2533498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2</a:t>
            </a:r>
            <a:endParaRPr lang="en-NL" sz="2000" baseline="-25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64C512-BFDB-4695-AD25-D5317941F3D5}"/>
              </a:ext>
            </a:extLst>
          </p:cNvPr>
          <p:cNvSpPr txBox="1"/>
          <p:nvPr/>
        </p:nvSpPr>
        <p:spPr>
          <a:xfrm>
            <a:off x="10807906" y="3299065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3</a:t>
            </a:r>
            <a:endParaRPr lang="en-NL" sz="2000" baseline="-25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346EA3-F285-4F60-973E-137318984EC2}"/>
              </a:ext>
            </a:extLst>
          </p:cNvPr>
          <p:cNvSpPr txBox="1"/>
          <p:nvPr/>
        </p:nvSpPr>
        <p:spPr>
          <a:xfrm>
            <a:off x="11402151" y="3668397"/>
            <a:ext cx="381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x</a:t>
            </a:r>
            <a:r>
              <a:rPr lang="en-US" sz="2000" baseline="-25000" dirty="0"/>
              <a:t>1</a:t>
            </a:r>
            <a:endParaRPr lang="en-NL" sz="2000" baseline="-25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E2456B-B8AD-4B92-8FD2-288CD17A771A}"/>
              </a:ext>
            </a:extLst>
          </p:cNvPr>
          <p:cNvSpPr/>
          <p:nvPr/>
        </p:nvSpPr>
        <p:spPr>
          <a:xfrm>
            <a:off x="10331902" y="3799075"/>
            <a:ext cx="169334" cy="17689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AD6CE2-57C9-480E-9653-4D9CF129C3C5}"/>
              </a:ext>
            </a:extLst>
          </p:cNvPr>
          <p:cNvSpPr/>
          <p:nvPr/>
        </p:nvSpPr>
        <p:spPr>
          <a:xfrm>
            <a:off x="9158691" y="3468113"/>
            <a:ext cx="169334" cy="17689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6" name="Line 74">
            <a:extLst>
              <a:ext uri="{FF2B5EF4-FFF2-40B4-BE49-F238E27FC236}">
                <a16:creationId xmlns:a16="http://schemas.microsoft.com/office/drawing/2014/main" id="{9566EFCA-11AA-4CEE-BEBF-D22C91CD30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46920" y="3645007"/>
            <a:ext cx="878739" cy="4666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78B6AC-D1DD-4D5F-B4D5-A19C09ED84CB}"/>
                  </a:ext>
                </a:extLst>
              </p:cNvPr>
              <p:cNvSpPr txBox="1"/>
              <p:nvPr/>
            </p:nvSpPr>
            <p:spPr>
              <a:xfrm>
                <a:off x="9216318" y="1484578"/>
                <a:ext cx="1658467" cy="7156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NL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L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L" sz="2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78B6AC-D1DD-4D5F-B4D5-A19C09ED8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318" y="1484578"/>
                <a:ext cx="1658467" cy="7156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1FA38C-1BF2-48B4-A0B5-BACA78420AEF}"/>
                  </a:ext>
                </a:extLst>
              </p:cNvPr>
              <p:cNvSpPr txBox="1"/>
              <p:nvPr/>
            </p:nvSpPr>
            <p:spPr>
              <a:xfrm>
                <a:off x="8361217" y="4518512"/>
                <a:ext cx="1203342" cy="811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NL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L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L" sz="20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41FA38C-1BF2-48B4-A0B5-BACA78420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61217" y="4518512"/>
                <a:ext cx="1203342" cy="811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65B8E0-8881-44AB-9132-5C1BCB417822}"/>
                  </a:ext>
                </a:extLst>
              </p:cNvPr>
              <p:cNvSpPr txBox="1"/>
              <p:nvPr/>
            </p:nvSpPr>
            <p:spPr>
              <a:xfrm>
                <a:off x="10359984" y="4517948"/>
                <a:ext cx="1203342" cy="8138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NL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NL" sz="20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NL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265B8E0-8881-44AB-9132-5C1BCB417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9984" y="4517948"/>
                <a:ext cx="1203342" cy="8138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F42C234D-19F6-4572-9455-40DED38CE3FC}"/>
              </a:ext>
            </a:extLst>
          </p:cNvPr>
          <p:cNvSpPr/>
          <p:nvPr/>
        </p:nvSpPr>
        <p:spPr>
          <a:xfrm>
            <a:off x="10217489" y="2899388"/>
            <a:ext cx="169334" cy="176894"/>
          </a:xfrm>
          <a:prstGeom prst="rect">
            <a:avLst/>
          </a:prstGeom>
          <a:solidFill>
            <a:srgbClr val="0033CC"/>
          </a:solidFill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7B46703-2A0A-4DDC-9124-EEDBC1D561B1}"/>
              </a:ext>
            </a:extLst>
          </p:cNvPr>
          <p:cNvSpPr/>
          <p:nvPr/>
        </p:nvSpPr>
        <p:spPr>
          <a:xfrm>
            <a:off x="8120605" y="5168407"/>
            <a:ext cx="169334" cy="176894"/>
          </a:xfrm>
          <a:prstGeom prst="rect">
            <a:avLst/>
          </a:prstGeom>
          <a:solidFill>
            <a:srgbClr val="0033CC"/>
          </a:solidFill>
          <a:ln>
            <a:solidFill>
              <a:srgbClr val="0033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3" name="Line 74">
            <a:extLst>
              <a:ext uri="{FF2B5EF4-FFF2-40B4-BE49-F238E27FC236}">
                <a16:creationId xmlns:a16="http://schemas.microsoft.com/office/drawing/2014/main" id="{FC9B36A4-DF08-4E00-B8CD-28959564AA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1913" y="3059578"/>
            <a:ext cx="836092" cy="43134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grpSp>
        <p:nvGrpSpPr>
          <p:cNvPr id="34" name="Group 89">
            <a:extLst>
              <a:ext uri="{FF2B5EF4-FFF2-40B4-BE49-F238E27FC236}">
                <a16:creationId xmlns:a16="http://schemas.microsoft.com/office/drawing/2014/main" id="{35B7B33A-D655-422C-99F7-E52F3F4BE4BC}"/>
              </a:ext>
            </a:extLst>
          </p:cNvPr>
          <p:cNvGrpSpPr>
            <a:grpSpLocks/>
          </p:cNvGrpSpPr>
          <p:nvPr/>
        </p:nvGrpSpPr>
        <p:grpSpPr bwMode="auto">
          <a:xfrm rot="5400000" flipH="1">
            <a:off x="9929630" y="2372927"/>
            <a:ext cx="55269" cy="3421714"/>
            <a:chOff x="3417" y="1848"/>
            <a:chExt cx="54" cy="1296"/>
          </a:xfrm>
        </p:grpSpPr>
        <p:sp>
          <p:nvSpPr>
            <p:cNvPr id="35" name="Line 48">
              <a:extLst>
                <a:ext uri="{FF2B5EF4-FFF2-40B4-BE49-F238E27FC236}">
                  <a16:creationId xmlns:a16="http://schemas.microsoft.com/office/drawing/2014/main" id="{7077F840-21E4-4C2F-884E-24E64C1F21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1848"/>
              <a:ext cx="0" cy="12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6" name="Line 66">
              <a:extLst>
                <a:ext uri="{FF2B5EF4-FFF2-40B4-BE49-F238E27FC236}">
                  <a16:creationId xmlns:a16="http://schemas.microsoft.com/office/drawing/2014/main" id="{21752E75-8C19-4E38-A977-E441EB1A7C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772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7" name="Line 67">
              <a:extLst>
                <a:ext uri="{FF2B5EF4-FFF2-40B4-BE49-F238E27FC236}">
                  <a16:creationId xmlns:a16="http://schemas.microsoft.com/office/drawing/2014/main" id="{889ABC1B-8D20-4476-BF99-A30B28E3FD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439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8" name="Line 68">
              <a:extLst>
                <a:ext uri="{FF2B5EF4-FFF2-40B4-BE49-F238E27FC236}">
                  <a16:creationId xmlns:a16="http://schemas.microsoft.com/office/drawing/2014/main" id="{D452164C-4BD5-424C-9079-DEE0B0815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17" y="2103"/>
              <a:ext cx="54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sp>
        <p:nvSpPr>
          <p:cNvPr id="39" name="Line 74">
            <a:extLst>
              <a:ext uri="{FF2B5EF4-FFF2-40B4-BE49-F238E27FC236}">
                <a16:creationId xmlns:a16="http://schemas.microsoft.com/office/drawing/2014/main" id="{DA0E4D2D-C091-4C50-B453-8A5F5F69DC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341913" y="3315968"/>
            <a:ext cx="2039548" cy="239148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7B776CE-A2F0-40A2-A782-FA520A27A48E}"/>
              </a:ext>
            </a:extLst>
          </p:cNvPr>
          <p:cNvSpPr/>
          <p:nvPr/>
        </p:nvSpPr>
        <p:spPr>
          <a:xfrm>
            <a:off x="11405355" y="3213187"/>
            <a:ext cx="169334" cy="17689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66916DB-686E-45F4-97FA-4BBB46B6DDBA}"/>
              </a:ext>
            </a:extLst>
          </p:cNvPr>
          <p:cNvSpPr/>
          <p:nvPr/>
        </p:nvSpPr>
        <p:spPr>
          <a:xfrm>
            <a:off x="10162568" y="5151716"/>
            <a:ext cx="169334" cy="176894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CBD459D-879C-4353-A572-C1BFAA166F3D}"/>
              </a:ext>
            </a:extLst>
          </p:cNvPr>
          <p:cNvSpPr/>
          <p:nvPr/>
        </p:nvSpPr>
        <p:spPr>
          <a:xfrm>
            <a:off x="7531678" y="1101744"/>
            <a:ext cx="4402360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7F44DF41-C536-4C00-8DCD-C499BFED56C5}"/>
              </a:ext>
            </a:extLst>
          </p:cNvPr>
          <p:cNvSpPr/>
          <p:nvPr/>
        </p:nvSpPr>
        <p:spPr>
          <a:xfrm>
            <a:off x="333698" y="1123950"/>
            <a:ext cx="6800169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4668DB0-D1E5-4B13-8207-895619BCC1B0}"/>
              </a:ext>
            </a:extLst>
          </p:cNvPr>
          <p:cNvSpPr/>
          <p:nvPr/>
        </p:nvSpPr>
        <p:spPr>
          <a:xfrm>
            <a:off x="8956325" y="1572406"/>
            <a:ext cx="169334" cy="17689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53FF4B0-4494-4FFA-BD72-27DFB9023041}"/>
              </a:ext>
            </a:extLst>
          </p:cNvPr>
          <p:cNvSpPr/>
          <p:nvPr/>
        </p:nvSpPr>
        <p:spPr>
          <a:xfrm>
            <a:off x="8962888" y="1976561"/>
            <a:ext cx="169334" cy="176894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B6DAC31C-9955-927F-2A72-C57F18056E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69795" y="3353262"/>
            <a:ext cx="836092" cy="43134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0165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 animBg="1"/>
      <p:bldP spid="31" grpId="0" animBg="1"/>
      <p:bldP spid="33" grpId="0" animBg="1"/>
      <p:bldP spid="39" grpId="0" animBg="1"/>
      <p:bldP spid="40" grpId="0" animBg="1"/>
      <p:bldP spid="41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1A35A-41E3-4EE0-9A9F-5BD6A5A26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43" y="118382"/>
            <a:ext cx="10515600" cy="868589"/>
          </a:xfrm>
        </p:spPr>
        <p:txBody>
          <a:bodyPr/>
          <a:lstStyle/>
          <a:p>
            <a:r>
              <a:rPr lang="en-US" dirty="0"/>
              <a:t>Outer product of 2 vectors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83570-65CC-4BAE-BC6E-780893165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964" y="1574507"/>
                <a:ext cx="4336295" cy="443440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outer product of 2 vectors produces a matrix.</a:t>
                </a:r>
              </a:p>
              <a:p>
                <a:r>
                  <a:rPr lang="en-US" sz="2400" dirty="0"/>
                  <a:t>e.g.: a PCA score * PCA loading creates an estimate of the matrix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NL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𝐭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𝐩</m:t>
                        </m:r>
                      </m:e>
                      <m:sub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</m:oMath>
                </a14:m>
                <a:endParaRPr lang="en-US" sz="2400" dirty="0"/>
              </a:p>
              <a:p>
                <a:endParaRPr lang="en-US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NL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</m:acc>
                  </m:oMath>
                </a14:m>
                <a:r>
                  <a:rPr lang="en-US" sz="2400" dirty="0"/>
                  <a:t> is a matrix built from 1 vector * 1 vector. Its rank = 1.</a:t>
                </a:r>
              </a:p>
              <a:p>
                <a:r>
                  <a:rPr lang="en-US" sz="2400" dirty="0"/>
                  <a:t>All samples lie on a one-dimensional subspace.</a:t>
                </a:r>
                <a:endParaRPr lang="en-N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F83570-65CC-4BAE-BC6E-780893165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964" y="1574507"/>
                <a:ext cx="4336295" cy="4434407"/>
              </a:xfrm>
              <a:blipFill>
                <a:blip r:embed="rId3"/>
                <a:stretch>
                  <a:fillRect l="-1826" t="-1923" r="-3090" b="-151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1AB14BB-898B-F80B-1034-71170BDF7929}"/>
              </a:ext>
            </a:extLst>
          </p:cNvPr>
          <p:cNvGrpSpPr/>
          <p:nvPr/>
        </p:nvGrpSpPr>
        <p:grpSpPr>
          <a:xfrm>
            <a:off x="7327362" y="1892424"/>
            <a:ext cx="4034613" cy="1438806"/>
            <a:chOff x="7327362" y="1892424"/>
            <a:chExt cx="4034613" cy="14388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865FCDE-6215-4758-AD32-DDE12A8A6705}"/>
                    </a:ext>
                  </a:extLst>
                </p:cNvPr>
                <p:cNvSpPr/>
                <p:nvPr/>
              </p:nvSpPr>
              <p:spPr>
                <a:xfrm>
                  <a:off x="7327362" y="2112436"/>
                  <a:ext cx="1548921" cy="864096"/>
                </a:xfrm>
                <a:prstGeom prst="rect">
                  <a:avLst/>
                </a:prstGeom>
                <a:solidFill>
                  <a:schemeClr val="bg1"/>
                </a:solidFill>
                <a:ln w="762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NL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acc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865FCDE-6215-4758-AD32-DDE12A8A67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7362" y="2112436"/>
                  <a:ext cx="1548921" cy="86409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762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4F6D567-2413-4171-98CB-1DD85699FBC2}"/>
                </a:ext>
              </a:extLst>
            </p:cNvPr>
            <p:cNvCxnSpPr/>
            <p:nvPr/>
          </p:nvCxnSpPr>
          <p:spPr>
            <a:xfrm>
              <a:off x="9646202" y="2097802"/>
              <a:ext cx="0" cy="864096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4761D5A-7A06-4981-8E1F-7F3FD7BEA97B}"/>
                </a:ext>
              </a:extLst>
            </p:cNvPr>
            <p:cNvCxnSpPr>
              <a:cxnSpLocks/>
            </p:cNvCxnSpPr>
            <p:nvPr/>
          </p:nvCxnSpPr>
          <p:spPr>
            <a:xfrm>
              <a:off x="9748309" y="1892424"/>
              <a:ext cx="1613666" cy="0"/>
            </a:xfrm>
            <a:prstGeom prst="line">
              <a:avLst/>
            </a:prstGeom>
            <a:ln w="762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2DC69C-6CB8-419D-B13D-679E0F943462}"/>
                </a:ext>
              </a:extLst>
            </p:cNvPr>
            <p:cNvSpPr txBox="1"/>
            <p:nvPr/>
          </p:nvSpPr>
          <p:spPr>
            <a:xfrm>
              <a:off x="9156873" y="24166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=</a:t>
              </a:r>
              <a:endParaRPr lang="en-NL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B1BE2BF-4F8A-47D4-883C-3989768F3209}"/>
                    </a:ext>
                  </a:extLst>
                </p:cNvPr>
                <p:cNvSpPr txBox="1"/>
                <p:nvPr/>
              </p:nvSpPr>
              <p:spPr>
                <a:xfrm>
                  <a:off x="9485958" y="2961898"/>
                  <a:ext cx="320487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0" smtClean="0">
                                <a:latin typeface="Cambria Math" panose="02040503050406030204" pitchFamily="18" charset="0"/>
                              </a:rPr>
                              <m:t>𝐭</m:t>
                            </m:r>
                          </m:e>
                          <m:sub>
                            <m:r>
                              <a:rPr lang="en-US" sz="18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B1BE2BF-4F8A-47D4-883C-3989768F32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85958" y="2961898"/>
                  <a:ext cx="320487" cy="369332"/>
                </a:xfrm>
                <a:prstGeom prst="rect">
                  <a:avLst/>
                </a:prstGeom>
                <a:blipFill>
                  <a:blip r:embed="rId5"/>
                  <a:stretch>
                    <a:fillRect r="-377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1CE3583-2B66-4E3D-A275-D27FAFB4B4C3}"/>
                    </a:ext>
                  </a:extLst>
                </p:cNvPr>
                <p:cNvSpPr txBox="1"/>
                <p:nvPr/>
              </p:nvSpPr>
              <p:spPr>
                <a:xfrm>
                  <a:off x="10511446" y="1943311"/>
                  <a:ext cx="481853" cy="37266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800" b="1" i="0" smtClean="0">
                                <a:latin typeface="Cambria Math" panose="02040503050406030204" pitchFamily="18" charset="0"/>
                              </a:rPr>
                              <m:t>𝐩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F1CE3583-2B66-4E3D-A275-D27FAFB4B4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11446" y="1943311"/>
                  <a:ext cx="481853" cy="372666"/>
                </a:xfrm>
                <a:prstGeom prst="rect">
                  <a:avLst/>
                </a:prstGeom>
                <a:blipFill>
                  <a:blip r:embed="rId6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FD458F4-32F3-4FCB-AC23-B3FD97A827D9}"/>
                    </a:ext>
                  </a:extLst>
                </p:cNvPr>
                <p:cNvSpPr txBox="1"/>
                <p:nvPr/>
              </p:nvSpPr>
              <p:spPr>
                <a:xfrm>
                  <a:off x="7832955" y="2399572"/>
                  <a:ext cx="517711" cy="37677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NL" sz="18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</m:acc>
                      </m:oMath>
                    </m:oMathPara>
                  </a14:m>
                  <a:endParaRPr lang="en-NL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FD458F4-32F3-4FCB-AC23-B3FD97A82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32955" y="2399572"/>
                  <a:ext cx="517711" cy="376770"/>
                </a:xfrm>
                <a:prstGeom prst="rect">
                  <a:avLst/>
                </a:prstGeom>
                <a:blipFill>
                  <a:blip r:embed="rId7"/>
                  <a:stretch>
                    <a:fillRect t="-1639" r="-15294"/>
                  </a:stretch>
                </a:blipFill>
              </p:spPr>
              <p:txBody>
                <a:bodyPr/>
                <a:lstStyle/>
                <a:p>
                  <a:r>
                    <a:rPr lang="en-NL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AD25EC8-E7D2-43D1-BE79-3B5B59F8A82C}"/>
              </a:ext>
            </a:extLst>
          </p:cNvPr>
          <p:cNvSpPr/>
          <p:nvPr/>
        </p:nvSpPr>
        <p:spPr>
          <a:xfrm>
            <a:off x="6679790" y="1335823"/>
            <a:ext cx="5254248" cy="487343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AA6B21F-86EA-40D0-B710-1C24A2D27EC0}"/>
              </a:ext>
            </a:extLst>
          </p:cNvPr>
          <p:cNvSpPr/>
          <p:nvPr/>
        </p:nvSpPr>
        <p:spPr>
          <a:xfrm>
            <a:off x="333699" y="1335823"/>
            <a:ext cx="5178514" cy="489564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94B7BC-527C-29C0-CB5E-CBDF3BAEE473}"/>
              </a:ext>
            </a:extLst>
          </p:cNvPr>
          <p:cNvGrpSpPr/>
          <p:nvPr/>
        </p:nvGrpSpPr>
        <p:grpSpPr>
          <a:xfrm>
            <a:off x="7072637" y="3840326"/>
            <a:ext cx="4636143" cy="1990965"/>
            <a:chOff x="7072637" y="3840326"/>
            <a:chExt cx="4636143" cy="1990965"/>
          </a:xfrm>
        </p:grpSpPr>
        <p:grpSp>
          <p:nvGrpSpPr>
            <p:cNvPr id="13" name="Group 7">
              <a:extLst>
                <a:ext uri="{FF2B5EF4-FFF2-40B4-BE49-F238E27FC236}">
                  <a16:creationId xmlns:a16="http://schemas.microsoft.com/office/drawing/2014/main" id="{97D1C210-43D9-4228-9564-CAC263A3FA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2995" y="5248965"/>
              <a:ext cx="2984500" cy="80963"/>
              <a:chOff x="1510" y="3510"/>
              <a:chExt cx="2522" cy="59"/>
            </a:xfrm>
          </p:grpSpPr>
          <p:sp>
            <p:nvSpPr>
              <p:cNvPr id="15" name="Line 8">
                <a:extLst>
                  <a:ext uri="{FF2B5EF4-FFF2-40B4-BE49-F238E27FC236}">
                    <a16:creationId xmlns:a16="http://schemas.microsoft.com/office/drawing/2014/main" id="{66DAB343-EF16-45F6-8A08-7058CCADE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0" y="3564"/>
                <a:ext cx="25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9" name="Line 9">
                <a:extLst>
                  <a:ext uri="{FF2B5EF4-FFF2-40B4-BE49-F238E27FC236}">
                    <a16:creationId xmlns:a16="http://schemas.microsoft.com/office/drawing/2014/main" id="{97DE0901-1D6F-48CA-A1D0-9AC842311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5" y="3518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0" name="Line 10">
                <a:extLst>
                  <a:ext uri="{FF2B5EF4-FFF2-40B4-BE49-F238E27FC236}">
                    <a16:creationId xmlns:a16="http://schemas.microsoft.com/office/drawing/2014/main" id="{3AC4ABF4-459B-458C-A916-DD9B0951E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4" y="3518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1" name="Line 11">
                <a:extLst>
                  <a:ext uri="{FF2B5EF4-FFF2-40B4-BE49-F238E27FC236}">
                    <a16:creationId xmlns:a16="http://schemas.microsoft.com/office/drawing/2014/main" id="{1061B8E8-C299-4629-9781-00AE15D140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" y="3510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22" name="Group 39">
              <a:extLst>
                <a:ext uri="{FF2B5EF4-FFF2-40B4-BE49-F238E27FC236}">
                  <a16:creationId xmlns:a16="http://schemas.microsoft.com/office/drawing/2014/main" id="{964AC976-17A8-4051-9181-529B1B2994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03391" y="3955151"/>
              <a:ext cx="85726" cy="1358902"/>
              <a:chOff x="573" y="2372"/>
              <a:chExt cx="43" cy="1220"/>
            </a:xfrm>
          </p:grpSpPr>
          <p:sp>
            <p:nvSpPr>
              <p:cNvPr id="23" name="Line 14">
                <a:extLst>
                  <a:ext uri="{FF2B5EF4-FFF2-40B4-BE49-F238E27FC236}">
                    <a16:creationId xmlns:a16="http://schemas.microsoft.com/office/drawing/2014/main" id="{54A279BF-1995-4E82-A5DB-5D02702187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3" y="2372"/>
                <a:ext cx="0" cy="1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4" name="Line 15">
                <a:extLst>
                  <a:ext uri="{FF2B5EF4-FFF2-40B4-BE49-F238E27FC236}">
                    <a16:creationId xmlns:a16="http://schemas.microsoft.com/office/drawing/2014/main" id="{D4E1723C-8B4C-4EB4-B176-83928473C2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97" y="3153"/>
                <a:ext cx="0" cy="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7F0E95B9-5A4F-4F3B-8DE4-1D3218C38D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97" y="2708"/>
                <a:ext cx="0" cy="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232F164C-AA31-40B3-A273-B4672A441710}"/>
                </a:ext>
              </a:extLst>
            </p:cNvPr>
            <p:cNvSpPr txBox="1"/>
            <p:nvPr/>
          </p:nvSpPr>
          <p:spPr>
            <a:xfrm>
              <a:off x="10866471" y="5129387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x</a:t>
              </a:r>
              <a:r>
                <a:rPr lang="en-US" sz="2000" baseline="-25000" dirty="0"/>
                <a:t>1</a:t>
              </a:r>
              <a:endParaRPr lang="en-NL" sz="2000" baseline="-25000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97B4C0D-9863-4154-BE51-0AE6A1888833}"/>
                </a:ext>
              </a:extLst>
            </p:cNvPr>
            <p:cNvSpPr txBox="1"/>
            <p:nvPr/>
          </p:nvSpPr>
          <p:spPr>
            <a:xfrm>
              <a:off x="8072330" y="3840326"/>
              <a:ext cx="3818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x</a:t>
              </a:r>
              <a:r>
                <a:rPr lang="en-US" sz="2000" baseline="-25000" dirty="0"/>
                <a:t>2</a:t>
              </a:r>
              <a:endParaRPr lang="en-NL" sz="2000" baseline="-2500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DFAA2D7-6BE2-4711-BB69-1B75050A0EB3}"/>
                </a:ext>
              </a:extLst>
            </p:cNvPr>
            <p:cNvSpPr txBox="1"/>
            <p:nvPr/>
          </p:nvSpPr>
          <p:spPr>
            <a:xfrm>
              <a:off x="8362516" y="53301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  <a:endParaRPr lang="en-NL" dirty="0"/>
            </a:p>
          </p:txBody>
        </p:sp>
        <p:sp>
          <p:nvSpPr>
            <p:cNvPr id="29" name="Oval 84">
              <a:extLst>
                <a:ext uri="{FF2B5EF4-FFF2-40B4-BE49-F238E27FC236}">
                  <a16:creationId xmlns:a16="http://schemas.microsoft.com/office/drawing/2014/main" id="{C8A49090-FC48-4B32-BD8A-2B77E1556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89747" y="4769258"/>
              <a:ext cx="187325" cy="1746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2B07FFB2-E602-4800-AE87-663F1BED088E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8517908" y="4856571"/>
              <a:ext cx="1371839" cy="463762"/>
            </a:xfrm>
            <a:prstGeom prst="straightConnector1">
              <a:avLst/>
            </a:prstGeom>
            <a:ln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CFB93473-C117-480F-853C-EAD35209C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37" y="4224497"/>
              <a:ext cx="4636143" cy="1606794"/>
            </a:xfrm>
            <a:prstGeom prst="straightConnector1">
              <a:avLst/>
            </a:prstGeom>
            <a:ln>
              <a:solidFill>
                <a:srgbClr val="0033CC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84">
              <a:extLst>
                <a:ext uri="{FF2B5EF4-FFF2-40B4-BE49-F238E27FC236}">
                  <a16:creationId xmlns:a16="http://schemas.microsoft.com/office/drawing/2014/main" id="{A4BBFB85-43EE-4E87-9853-CBD8B6E52D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98818" y="4547289"/>
              <a:ext cx="187325" cy="1746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39" name="Oval 84">
              <a:extLst>
                <a:ext uri="{FF2B5EF4-FFF2-40B4-BE49-F238E27FC236}">
                  <a16:creationId xmlns:a16="http://schemas.microsoft.com/office/drawing/2014/main" id="{AD08EEB3-DD54-48D2-A4F1-E0C219C21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9548" y="5064804"/>
              <a:ext cx="187325" cy="1746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0" name="Oval 84">
              <a:extLst>
                <a:ext uri="{FF2B5EF4-FFF2-40B4-BE49-F238E27FC236}">
                  <a16:creationId xmlns:a16="http://schemas.microsoft.com/office/drawing/2014/main" id="{A90C810A-3AFA-4EBC-AABF-33886F7AC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51286" y="5386435"/>
              <a:ext cx="187325" cy="1746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1" name="Oval 84">
              <a:extLst>
                <a:ext uri="{FF2B5EF4-FFF2-40B4-BE49-F238E27FC236}">
                  <a16:creationId xmlns:a16="http://schemas.microsoft.com/office/drawing/2014/main" id="{916AEEEE-A888-4D55-BFB6-BF87C7C30B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8909" y="5612204"/>
              <a:ext cx="187325" cy="1746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42" name="Oval 84">
              <a:extLst>
                <a:ext uri="{FF2B5EF4-FFF2-40B4-BE49-F238E27FC236}">
                  <a16:creationId xmlns:a16="http://schemas.microsoft.com/office/drawing/2014/main" id="{9835C57F-BB57-4532-B8FF-EA85FB8C7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60982" y="4348871"/>
              <a:ext cx="187325" cy="1746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</p:grpSp>
    </p:spTree>
    <p:extLst>
      <p:ext uri="{BB962C8B-B14F-4D97-AF65-F5344CB8AC3E}">
        <p14:creationId xmlns:p14="http://schemas.microsoft.com/office/powerpoint/2010/main" val="4003391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14AF7-93C2-46E5-80B3-DBCC347BA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8" y="118382"/>
            <a:ext cx="10515600" cy="766989"/>
          </a:xfrm>
        </p:spPr>
        <p:txBody>
          <a:bodyPr/>
          <a:lstStyle/>
          <a:p>
            <a:r>
              <a:rPr lang="en-US" dirty="0"/>
              <a:t>Mean-centering of a matrix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A52AF-00A6-41F2-B6F2-0B619D3F9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1994" y="1545717"/>
            <a:ext cx="5827059" cy="487838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 PCA a first step is often to mean-center the data matrix.</a:t>
            </a:r>
          </a:p>
          <a:p>
            <a:r>
              <a:rPr lang="en-US" sz="2400" dirty="0"/>
              <a:t>This is applied to focus on variation between elements in the column (and not on its value).</a:t>
            </a:r>
          </a:p>
          <a:p>
            <a:r>
              <a:rPr lang="en-US" sz="2400" dirty="0"/>
              <a:t>Mean-centering removes the column mean from each element in the column.</a:t>
            </a:r>
          </a:p>
          <a:p>
            <a:r>
              <a:rPr lang="en-US" sz="2400" dirty="0"/>
              <a:t>Mean-centering can be applied using a matrix multiplication using the data matrix and the column mean.</a:t>
            </a:r>
          </a:p>
          <a:p>
            <a:r>
              <a:rPr lang="en-US" sz="2400" b="1" dirty="0"/>
              <a:t>X</a:t>
            </a:r>
            <a:r>
              <a:rPr lang="en-US" sz="2400" dirty="0"/>
              <a:t> – </a:t>
            </a:r>
            <a:r>
              <a:rPr lang="en-US" sz="2400" b="1" dirty="0"/>
              <a:t>1m</a:t>
            </a:r>
            <a:r>
              <a:rPr lang="en-US" sz="2400" baseline="30000" dirty="0"/>
              <a:t>T</a:t>
            </a:r>
          </a:p>
          <a:p>
            <a:pPr lvl="1"/>
            <a:r>
              <a:rPr lang="en-US" sz="2000" b="1" dirty="0"/>
              <a:t>1</a:t>
            </a:r>
            <a:r>
              <a:rPr lang="en-US" sz="2000" dirty="0"/>
              <a:t>: column of ones (</a:t>
            </a:r>
            <a:r>
              <a:rPr lang="en-US" sz="2000" i="1" dirty="0"/>
              <a:t>I</a:t>
            </a:r>
            <a:r>
              <a:rPr lang="en-US" sz="2000" dirty="0"/>
              <a:t> x 1)</a:t>
            </a:r>
          </a:p>
          <a:p>
            <a:pPr lvl="1"/>
            <a:r>
              <a:rPr lang="en-US" sz="2000" b="1" dirty="0"/>
              <a:t>m</a:t>
            </a:r>
            <a:r>
              <a:rPr lang="en-US" sz="2000" dirty="0"/>
              <a:t>: means of each column (</a:t>
            </a:r>
            <a:r>
              <a:rPr lang="en-US" sz="2000" i="1" dirty="0"/>
              <a:t>J</a:t>
            </a:r>
            <a:r>
              <a:rPr lang="en-US" sz="2000" dirty="0"/>
              <a:t> x 1)</a:t>
            </a:r>
            <a:endParaRPr lang="en-NL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948016-ABB8-4F52-9E3B-8419A9CED666}"/>
              </a:ext>
            </a:extLst>
          </p:cNvPr>
          <p:cNvSpPr/>
          <p:nvPr/>
        </p:nvSpPr>
        <p:spPr>
          <a:xfrm>
            <a:off x="9206734" y="1336055"/>
            <a:ext cx="1548921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X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DAF98E9-9F40-4F6C-ACA3-BCEB3DC1333D}"/>
              </a:ext>
            </a:extLst>
          </p:cNvPr>
          <p:cNvCxnSpPr/>
          <p:nvPr/>
        </p:nvCxnSpPr>
        <p:spPr>
          <a:xfrm>
            <a:off x="9206734" y="2760319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AE73E1-AE0D-4C26-A304-49287E2A7DD4}"/>
              </a:ext>
            </a:extLst>
          </p:cNvPr>
          <p:cNvCxnSpPr>
            <a:cxnSpLocks/>
          </p:cNvCxnSpPr>
          <p:nvPr/>
        </p:nvCxnSpPr>
        <p:spPr>
          <a:xfrm flipH="1">
            <a:off x="9206734" y="2627591"/>
            <a:ext cx="1631595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DE0C68F-E840-493E-83A4-F82D6257DBB2}"/>
              </a:ext>
            </a:extLst>
          </p:cNvPr>
          <p:cNvSpPr txBox="1"/>
          <p:nvPr/>
        </p:nvSpPr>
        <p:spPr>
          <a:xfrm>
            <a:off x="9918430" y="2130593"/>
            <a:ext cx="3097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-</a:t>
            </a:r>
            <a:endParaRPr lang="en-NL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A0B9DF-5F0F-4828-AE30-D9CB50E0B4B3}"/>
              </a:ext>
            </a:extLst>
          </p:cNvPr>
          <p:cNvSpPr txBox="1"/>
          <p:nvPr/>
        </p:nvSpPr>
        <p:spPr>
          <a:xfrm>
            <a:off x="10411303" y="2649894"/>
            <a:ext cx="13612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Column </a:t>
            </a:r>
            <a:r>
              <a:rPr lang="en-US" sz="1400" b="1" dirty="0" err="1"/>
              <a:t>means</a:t>
            </a:r>
            <a:r>
              <a:rPr lang="en-US" sz="1400" baseline="30000" dirty="0" err="1"/>
              <a:t>T</a:t>
            </a:r>
            <a:endParaRPr lang="en-NL" sz="1400" baseline="30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8DB817-360E-4A4E-90DB-2F47C5A10FC1}"/>
              </a:ext>
            </a:extLst>
          </p:cNvPr>
          <p:cNvSpPr txBox="1"/>
          <p:nvPr/>
        </p:nvSpPr>
        <p:spPr>
          <a:xfrm rot="16200000">
            <a:off x="8221565" y="3038478"/>
            <a:ext cx="1373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Column of ones</a:t>
            </a:r>
            <a:endParaRPr lang="en-NL" sz="14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162E1-6054-4EEB-91F7-6A9D9AB3FC71}"/>
              </a:ext>
            </a:extLst>
          </p:cNvPr>
          <p:cNvSpPr txBox="1"/>
          <p:nvPr/>
        </p:nvSpPr>
        <p:spPr>
          <a:xfrm>
            <a:off x="9981194" y="3429000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</a:t>
            </a:r>
            <a:endParaRPr lang="en-NL" sz="32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DBA159-07E3-4EE2-B4B6-5939C923BC5D}"/>
              </a:ext>
            </a:extLst>
          </p:cNvPr>
          <p:cNvSpPr/>
          <p:nvPr/>
        </p:nvSpPr>
        <p:spPr>
          <a:xfrm>
            <a:off x="9298819" y="4142633"/>
            <a:ext cx="1548921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X</a:t>
            </a:r>
            <a:r>
              <a:rPr lang="en-US" baseline="-25000" dirty="0" err="1">
                <a:solidFill>
                  <a:schemeClr val="tx1"/>
                </a:solidFill>
              </a:rPr>
              <a:t>meancentered</a:t>
            </a:r>
            <a:endParaRPr lang="en-US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5CB927-A6F3-4564-BC27-F9F55A25D11F}"/>
              </a:ext>
            </a:extLst>
          </p:cNvPr>
          <p:cNvSpPr txBox="1"/>
          <p:nvPr/>
        </p:nvSpPr>
        <p:spPr>
          <a:xfrm>
            <a:off x="9298819" y="5567082"/>
            <a:ext cx="2224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  <a:r>
              <a:rPr lang="en-US" dirty="0"/>
              <a:t> – </a:t>
            </a:r>
            <a:r>
              <a:rPr lang="en-US" b="1" dirty="0"/>
              <a:t>1</a:t>
            </a:r>
            <a:r>
              <a:rPr lang="en-US" dirty="0"/>
              <a:t>*</a:t>
            </a:r>
            <a:r>
              <a:rPr lang="en-US" b="1" dirty="0"/>
              <a:t>column </a:t>
            </a:r>
            <a:r>
              <a:rPr lang="en-US" b="1" dirty="0" err="1"/>
              <a:t>means</a:t>
            </a:r>
            <a:r>
              <a:rPr lang="en-US" b="1" baseline="30000" dirty="0" err="1"/>
              <a:t>T</a:t>
            </a:r>
            <a:endParaRPr lang="en-NL" b="1" baseline="300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6120827-416D-4771-AB72-B3212A76C2AF}"/>
              </a:ext>
            </a:extLst>
          </p:cNvPr>
          <p:cNvSpPr/>
          <p:nvPr/>
        </p:nvSpPr>
        <p:spPr>
          <a:xfrm>
            <a:off x="8509000" y="1185352"/>
            <a:ext cx="3486150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8497FD2-E092-43DE-806D-D2F4E805318D}"/>
              </a:ext>
            </a:extLst>
          </p:cNvPr>
          <p:cNvSpPr/>
          <p:nvPr/>
        </p:nvSpPr>
        <p:spPr>
          <a:xfrm>
            <a:off x="346397" y="1178983"/>
            <a:ext cx="7179891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4101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8F81E5-80B5-4A14-A579-B752C79AD0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86267" y="94192"/>
                <a:ext cx="10515600" cy="73554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Product of matrix and a vector: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en-NL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68F81E5-80B5-4A14-A579-B752C79AD0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86267" y="94192"/>
                <a:ext cx="10515600" cy="735541"/>
              </a:xfrm>
              <a:blipFill>
                <a:blip r:embed="rId3"/>
                <a:stretch>
                  <a:fillRect l="-2377" t="-23140" b="-3719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6BEC7A-5393-4330-B0B3-9F70B74F0C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7767" y="1420283"/>
                <a:ext cx="6688666" cy="494664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(Ix1) = </a:t>
                </a:r>
                <a:r>
                  <a:rPr lang="en-US" sz="2400" b="1" dirty="0"/>
                  <a:t>X</a:t>
                </a:r>
                <a:r>
                  <a:rPr lang="en-US" sz="2400" dirty="0"/>
                  <a:t>(</a:t>
                </a:r>
                <a:r>
                  <a:rPr lang="en-US" sz="2400" dirty="0" err="1"/>
                  <a:t>IxJ</a:t>
                </a:r>
                <a:r>
                  <a:rPr lang="en-US" sz="2400" dirty="0"/>
                  <a:t>) * </a:t>
                </a:r>
                <a:r>
                  <a:rPr lang="en-US" sz="2400" b="1" dirty="0"/>
                  <a:t>b</a:t>
                </a:r>
                <a:r>
                  <a:rPr lang="en-US" sz="2400" dirty="0"/>
                  <a:t>(Jx1)</a:t>
                </a:r>
              </a:p>
              <a:p>
                <a:r>
                  <a:rPr lang="en-US" sz="2400" dirty="0"/>
                  <a:t>The result is a vector of size I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#Columns of </a:t>
                </a:r>
                <a:r>
                  <a:rPr lang="en-US" sz="2400" b="1" dirty="0"/>
                  <a:t>X</a:t>
                </a:r>
                <a:r>
                  <a:rPr lang="en-US" sz="2400" dirty="0"/>
                  <a:t> = #values in </a:t>
                </a:r>
                <a:r>
                  <a:rPr lang="en-US" sz="2400" b="1" dirty="0"/>
                  <a:t>b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r>
                  <a:rPr lang="en-US" sz="2400" dirty="0"/>
                  <a:t> = weighted sum of columns in </a:t>
                </a:r>
                <a:r>
                  <a:rPr lang="en-US" sz="2400" b="1" dirty="0"/>
                  <a:t>X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/>
                  <a:t>Each variable in </a:t>
                </a:r>
                <a:r>
                  <a:rPr lang="en-US" sz="2400" b="1" dirty="0"/>
                  <a:t>X</a:t>
                </a:r>
                <a:r>
                  <a:rPr lang="en-US" sz="2400" dirty="0"/>
                  <a:t> has its own coefficient in </a:t>
                </a:r>
                <a:r>
                  <a:rPr lang="en-US" sz="2400" b="1" dirty="0"/>
                  <a:t>b</a:t>
                </a:r>
              </a:p>
              <a:p>
                <a:pPr lvl="1"/>
                <a:r>
                  <a:rPr lang="en-US" sz="2000" dirty="0"/>
                  <a:t>Contribution of variable j to prediction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0" dirty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comes from </a:t>
                </a:r>
                <a:r>
                  <a:rPr lang="en-US" sz="2000" i="1" dirty="0" err="1"/>
                  <a:t>b</a:t>
                </a:r>
                <a:r>
                  <a:rPr lang="en-US" sz="2000" baseline="-25000" dirty="0" err="1"/>
                  <a:t>j</a:t>
                </a:r>
                <a:r>
                  <a:rPr lang="en-US" sz="2000" dirty="0"/>
                  <a:t> AND size of values in </a:t>
                </a:r>
                <a:r>
                  <a:rPr lang="en-US" sz="2000" b="1" dirty="0" err="1"/>
                  <a:t>x</a:t>
                </a:r>
                <a:r>
                  <a:rPr lang="en-US" sz="2000" baseline="-25000" dirty="0" err="1"/>
                  <a:t>j</a:t>
                </a:r>
                <a:r>
                  <a:rPr lang="en-US" sz="2000" dirty="0"/>
                  <a:t>.</a:t>
                </a:r>
              </a:p>
              <a:p>
                <a:r>
                  <a:rPr lang="en-US" sz="2400" dirty="0"/>
                  <a:t>For every sample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</m:oMath>
                </a14:m>
                <a:r>
                  <a:rPr lang="en-US" sz="2400" dirty="0"/>
                  <a:t>this is the dot product with </a:t>
                </a:r>
                <a:r>
                  <a:rPr lang="en-US" sz="2400" b="1" dirty="0"/>
                  <a:t>b</a:t>
                </a:r>
                <a:r>
                  <a:rPr lang="en-US" sz="240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y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e>
                        </m:acc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bSup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𝐛</m:t>
                    </m:r>
                  </m:oMath>
                </a14:m>
                <a:endParaRPr lang="en-US" sz="2000" b="1" dirty="0"/>
              </a:p>
              <a:p>
                <a:endParaRPr lang="en-NL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6BEC7A-5393-4330-B0B3-9F70B74F0C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7767" y="1420283"/>
                <a:ext cx="6688666" cy="4946649"/>
              </a:xfrm>
              <a:blipFill>
                <a:blip r:embed="rId4"/>
                <a:stretch>
                  <a:fillRect l="-1184" t="-863" r="-18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1B737FB-3B8A-405A-B1DD-45D2D3A17F6B}"/>
              </a:ext>
            </a:extLst>
          </p:cNvPr>
          <p:cNvSpPr/>
          <p:nvPr/>
        </p:nvSpPr>
        <p:spPr>
          <a:xfrm>
            <a:off x="9152946" y="3652307"/>
            <a:ext cx="1548921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4CCDE2-8A22-4E7D-9F16-2C8F89C29A9B}"/>
              </a:ext>
            </a:extLst>
          </p:cNvPr>
          <p:cNvCxnSpPr/>
          <p:nvPr/>
        </p:nvCxnSpPr>
        <p:spPr>
          <a:xfrm>
            <a:off x="11012437" y="3652307"/>
            <a:ext cx="0" cy="864096"/>
          </a:xfrm>
          <a:prstGeom prst="line">
            <a:avLst/>
          </a:prstGeom>
          <a:ln w="762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6EB3FC-D222-4BE4-A73C-D7F170BCEEC3}"/>
              </a:ext>
            </a:extLst>
          </p:cNvPr>
          <p:cNvCxnSpPr>
            <a:cxnSpLocks/>
          </p:cNvCxnSpPr>
          <p:nvPr/>
        </p:nvCxnSpPr>
        <p:spPr>
          <a:xfrm flipV="1">
            <a:off x="11012437" y="1768103"/>
            <a:ext cx="0" cy="1585629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380BF52-1F34-4E3B-857A-1FA81075779C}"/>
              </a:ext>
            </a:extLst>
          </p:cNvPr>
          <p:cNvSpPr/>
          <p:nvPr/>
        </p:nvSpPr>
        <p:spPr>
          <a:xfrm>
            <a:off x="8509000" y="1185352"/>
            <a:ext cx="3486150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269B28BC-D4E7-433C-A572-6306AD3CD441}"/>
              </a:ext>
            </a:extLst>
          </p:cNvPr>
          <p:cNvSpPr/>
          <p:nvPr/>
        </p:nvSpPr>
        <p:spPr>
          <a:xfrm>
            <a:off x="346397" y="1178983"/>
            <a:ext cx="7179891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88033F-01E4-47BD-919A-805601A60EBF}"/>
                  </a:ext>
                </a:extLst>
              </p:cNvPr>
              <p:cNvSpPr txBox="1"/>
              <p:nvPr/>
            </p:nvSpPr>
            <p:spPr>
              <a:xfrm>
                <a:off x="10771292" y="4630312"/>
                <a:ext cx="48228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1" i="0" dirty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88033F-01E4-47BD-919A-805601A60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71292" y="4630312"/>
                <a:ext cx="482289" cy="369332"/>
              </a:xfrm>
              <a:prstGeom prst="rect">
                <a:avLst/>
              </a:prstGeom>
              <a:blipFill>
                <a:blip r:embed="rId5"/>
                <a:stretch>
                  <a:fillRect t="-6667" r="-22785" b="-66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226C3B-CA45-4E58-9FF4-AD3E763C4580}"/>
                  </a:ext>
                </a:extLst>
              </p:cNvPr>
              <p:cNvSpPr txBox="1"/>
              <p:nvPr/>
            </p:nvSpPr>
            <p:spPr>
              <a:xfrm>
                <a:off x="9580324" y="3899689"/>
                <a:ext cx="6941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dirty="0" smtClean="0">
                          <a:latin typeface="Cambria Math" panose="02040503050406030204" pitchFamily="18" charset="0"/>
                        </a:rPr>
                        <m:t>𝐗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A226C3B-CA45-4E58-9FF4-AD3E763C4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0324" y="3899689"/>
                <a:ext cx="69416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297ED1-E2C6-4A9E-80CD-76A5858569BB}"/>
              </a:ext>
            </a:extLst>
          </p:cNvPr>
          <p:cNvSpPr txBox="1"/>
          <p:nvPr/>
        </p:nvSpPr>
        <p:spPr>
          <a:xfrm>
            <a:off x="11112797" y="2227688"/>
            <a:ext cx="2815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b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0729802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0F4D6-6D3B-4521-A620-9F1C7F34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942" y="218753"/>
            <a:ext cx="10515600" cy="843534"/>
          </a:xfrm>
        </p:spPr>
        <p:txBody>
          <a:bodyPr/>
          <a:lstStyle/>
          <a:p>
            <a:r>
              <a:rPr lang="en-US" dirty="0"/>
              <a:t>Multiplication of matrices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C020E-696C-4D68-8B96-CFF02356F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94" y="1678209"/>
            <a:ext cx="4938132" cy="4351338"/>
          </a:xfrm>
        </p:spPr>
        <p:txBody>
          <a:bodyPr>
            <a:normAutofit/>
          </a:bodyPr>
          <a:lstStyle/>
          <a:p>
            <a:r>
              <a:rPr lang="en-US" sz="2000" dirty="0"/>
              <a:t>Multiplication of two matrices is calculating inner products between all rows in </a:t>
            </a:r>
            <a:r>
              <a:rPr lang="en-US" sz="2000" b="1" dirty="0"/>
              <a:t>A</a:t>
            </a:r>
            <a:r>
              <a:rPr lang="en-US" sz="2000" dirty="0"/>
              <a:t> and columns in </a:t>
            </a:r>
            <a:r>
              <a:rPr lang="en-US" sz="2000" b="1" dirty="0"/>
              <a:t>B</a:t>
            </a:r>
            <a:r>
              <a:rPr lang="en-US" sz="2000" dirty="0"/>
              <a:t>.</a:t>
            </a:r>
          </a:p>
          <a:p>
            <a:r>
              <a:rPr lang="en-US" sz="2000" b="1" dirty="0"/>
              <a:t>C</a:t>
            </a:r>
            <a:r>
              <a:rPr lang="en-US" sz="2000" dirty="0"/>
              <a:t> (</a:t>
            </a:r>
            <a:r>
              <a:rPr lang="en-US" sz="2000" i="1" dirty="0"/>
              <a:t>I x K</a:t>
            </a:r>
            <a:r>
              <a:rPr lang="en-US" sz="2000" dirty="0"/>
              <a:t>) = </a:t>
            </a:r>
            <a:r>
              <a:rPr lang="en-US" sz="2000" b="1" dirty="0"/>
              <a:t>A</a:t>
            </a:r>
            <a:r>
              <a:rPr lang="en-US" sz="2000" dirty="0"/>
              <a:t> (</a:t>
            </a:r>
            <a:r>
              <a:rPr lang="en-US" sz="2000" i="1" dirty="0"/>
              <a:t>I x J</a:t>
            </a:r>
            <a:r>
              <a:rPr lang="en-US" sz="2000" dirty="0"/>
              <a:t>) * </a:t>
            </a:r>
            <a:r>
              <a:rPr lang="en-US" sz="2000" b="1" dirty="0"/>
              <a:t>B</a:t>
            </a:r>
            <a:r>
              <a:rPr lang="en-US" sz="2000" dirty="0"/>
              <a:t> (</a:t>
            </a:r>
            <a:r>
              <a:rPr lang="en-US" sz="2000" i="1" dirty="0"/>
              <a:t>J x K</a:t>
            </a:r>
            <a:r>
              <a:rPr lang="en-US" sz="2000" dirty="0"/>
              <a:t>)</a:t>
            </a:r>
          </a:p>
          <a:p>
            <a:r>
              <a:rPr lang="en-US" sz="2000" dirty="0"/>
              <a:t>THUS: </a:t>
            </a:r>
          </a:p>
          <a:p>
            <a:pPr lvl="1"/>
            <a:r>
              <a:rPr lang="en-US" sz="1800" dirty="0"/>
              <a:t>the number of elements in each row of </a:t>
            </a:r>
            <a:r>
              <a:rPr lang="en-US" sz="1800" b="1" dirty="0"/>
              <a:t>A</a:t>
            </a:r>
            <a:r>
              <a:rPr lang="en-US" sz="1800" dirty="0"/>
              <a:t> is equal to number of elements in column </a:t>
            </a:r>
            <a:r>
              <a:rPr lang="en-US" sz="1800" b="1" dirty="0"/>
              <a:t>B</a:t>
            </a:r>
            <a:r>
              <a:rPr lang="en-US" sz="1800" dirty="0"/>
              <a:t>.</a:t>
            </a:r>
          </a:p>
          <a:p>
            <a:pPr lvl="1"/>
            <a:r>
              <a:rPr lang="en-US" sz="1800" dirty="0"/>
              <a:t>Number of columns in </a:t>
            </a:r>
            <a:r>
              <a:rPr lang="en-US" sz="1800" b="1" dirty="0"/>
              <a:t>A</a:t>
            </a:r>
            <a:r>
              <a:rPr lang="en-US" sz="1800" dirty="0"/>
              <a:t> = number of rows in </a:t>
            </a:r>
            <a:r>
              <a:rPr lang="en-US" sz="1800" b="1" dirty="0"/>
              <a:t>B</a:t>
            </a:r>
          </a:p>
          <a:p>
            <a:endParaRPr lang="en-US" sz="2000" dirty="0"/>
          </a:p>
          <a:p>
            <a:r>
              <a:rPr lang="en-US" sz="2000" dirty="0"/>
              <a:t>?? What can you say about the rank of </a:t>
            </a:r>
            <a:r>
              <a:rPr lang="en-US" sz="2000" b="1" dirty="0"/>
              <a:t>C</a:t>
            </a:r>
            <a:r>
              <a:rPr lang="en-US" sz="2000" dirty="0"/>
              <a:t>?</a:t>
            </a:r>
          </a:p>
          <a:p>
            <a:endParaRPr lang="en-NL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24A62C-07D2-4FF7-85EB-DC7F581B6277}"/>
              </a:ext>
            </a:extLst>
          </p:cNvPr>
          <p:cNvSpPr/>
          <p:nvPr/>
        </p:nvSpPr>
        <p:spPr>
          <a:xfrm>
            <a:off x="9122194" y="1953850"/>
            <a:ext cx="1774427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52CFEB-1BDD-4712-B383-144FB780540E}"/>
              </a:ext>
            </a:extLst>
          </p:cNvPr>
          <p:cNvSpPr txBox="1"/>
          <p:nvPr/>
        </p:nvSpPr>
        <p:spPr>
          <a:xfrm>
            <a:off x="9855354" y="2083015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C5582-E690-47F0-AE9A-C158B9DF8775}"/>
              </a:ext>
            </a:extLst>
          </p:cNvPr>
          <p:cNvSpPr/>
          <p:nvPr/>
        </p:nvSpPr>
        <p:spPr>
          <a:xfrm rot="16200000">
            <a:off x="7502166" y="3443861"/>
            <a:ext cx="1774427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324E5D-7534-498D-83C3-F24F2F31474C}"/>
              </a:ext>
            </a:extLst>
          </p:cNvPr>
          <p:cNvSpPr txBox="1"/>
          <p:nvPr/>
        </p:nvSpPr>
        <p:spPr>
          <a:xfrm>
            <a:off x="8208520" y="3351043"/>
            <a:ext cx="508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7ABCD-EC4E-4829-8858-55B81F750E7F}"/>
              </a:ext>
            </a:extLst>
          </p:cNvPr>
          <p:cNvSpPr/>
          <p:nvPr/>
        </p:nvSpPr>
        <p:spPr>
          <a:xfrm>
            <a:off x="9125543" y="2987948"/>
            <a:ext cx="1771078" cy="17726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CA8717-9FA9-46A6-A244-9CC3D13112CE}"/>
              </a:ext>
            </a:extLst>
          </p:cNvPr>
          <p:cNvSpPr txBox="1"/>
          <p:nvPr/>
        </p:nvSpPr>
        <p:spPr>
          <a:xfrm>
            <a:off x="9332924" y="3308191"/>
            <a:ext cx="1352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 = A*B</a:t>
            </a:r>
            <a:endParaRPr lang="en-US" b="1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86FEEA-2506-4C05-9EEB-34B06BCBAF6C}"/>
              </a:ext>
            </a:extLst>
          </p:cNvPr>
          <p:cNvCxnSpPr/>
          <p:nvPr/>
        </p:nvCxnSpPr>
        <p:spPr>
          <a:xfrm>
            <a:off x="9722117" y="1953850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AED93A-B90A-45EF-8D6F-992CAE6FF571}"/>
              </a:ext>
            </a:extLst>
          </p:cNvPr>
          <p:cNvCxnSpPr/>
          <p:nvPr/>
        </p:nvCxnSpPr>
        <p:spPr>
          <a:xfrm flipH="1" flipV="1">
            <a:off x="7942103" y="4160448"/>
            <a:ext cx="879325" cy="22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AF94304-B70F-40D2-80C3-6F1A2D76FA7B}"/>
              </a:ext>
            </a:extLst>
          </p:cNvPr>
          <p:cNvSpPr/>
          <p:nvPr/>
        </p:nvSpPr>
        <p:spPr>
          <a:xfrm flipV="1">
            <a:off x="9667580" y="4058612"/>
            <a:ext cx="121919" cy="17783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F195567-6606-4F79-8F6F-7FDE32C0B98C}"/>
              </a:ext>
            </a:extLst>
          </p:cNvPr>
          <p:cNvCxnSpPr/>
          <p:nvPr/>
        </p:nvCxnSpPr>
        <p:spPr>
          <a:xfrm flipH="1" flipV="1">
            <a:off x="7942103" y="4367646"/>
            <a:ext cx="879325" cy="2257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3161905-EBF4-4BCC-A08A-86926D14FD25}"/>
              </a:ext>
            </a:extLst>
          </p:cNvPr>
          <p:cNvCxnSpPr/>
          <p:nvPr/>
        </p:nvCxnSpPr>
        <p:spPr>
          <a:xfrm flipH="1" flipV="1">
            <a:off x="7939054" y="4574278"/>
            <a:ext cx="879325" cy="2257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AEA372B-04DE-4F9A-ADB1-DF51BD374F18}"/>
              </a:ext>
            </a:extLst>
          </p:cNvPr>
          <p:cNvCxnSpPr/>
          <p:nvPr/>
        </p:nvCxnSpPr>
        <p:spPr>
          <a:xfrm>
            <a:off x="9361561" y="1950136"/>
            <a:ext cx="0" cy="864096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4CBAEA6-FE60-4602-8617-6E785471A71C}"/>
              </a:ext>
            </a:extLst>
          </p:cNvPr>
          <p:cNvCxnSpPr/>
          <p:nvPr/>
        </p:nvCxnSpPr>
        <p:spPr>
          <a:xfrm>
            <a:off x="10420924" y="1961287"/>
            <a:ext cx="0" cy="864096"/>
          </a:xfrm>
          <a:prstGeom prst="line">
            <a:avLst/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C284CE3-A0A9-4F00-86DE-83FB29E3A425}"/>
              </a:ext>
            </a:extLst>
          </p:cNvPr>
          <p:cNvSpPr/>
          <p:nvPr/>
        </p:nvSpPr>
        <p:spPr>
          <a:xfrm flipV="1">
            <a:off x="9307027" y="4489792"/>
            <a:ext cx="121919" cy="17783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270170-32F4-4502-B4B9-6175C1C5FAC4}"/>
              </a:ext>
            </a:extLst>
          </p:cNvPr>
          <p:cNvSpPr/>
          <p:nvPr/>
        </p:nvSpPr>
        <p:spPr>
          <a:xfrm flipV="1">
            <a:off x="10355238" y="4277918"/>
            <a:ext cx="121919" cy="17783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6D90C8A-BD0D-4CB0-91B8-CCA83981FD8D}"/>
              </a:ext>
            </a:extLst>
          </p:cNvPr>
          <p:cNvSpPr/>
          <p:nvPr/>
        </p:nvSpPr>
        <p:spPr>
          <a:xfrm>
            <a:off x="7394730" y="1178957"/>
            <a:ext cx="4093976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1D1BE3D-125C-4AE7-968C-93CA5054DE94}"/>
              </a:ext>
            </a:extLst>
          </p:cNvPr>
          <p:cNvSpPr/>
          <p:nvPr/>
        </p:nvSpPr>
        <p:spPr>
          <a:xfrm>
            <a:off x="333698" y="1247775"/>
            <a:ext cx="5762302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662813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7" y="89309"/>
            <a:ext cx="10515600" cy="824120"/>
          </a:xfrm>
        </p:spPr>
        <p:txBody>
          <a:bodyPr/>
          <a:lstStyle/>
          <a:p>
            <a:r>
              <a:rPr lang="en-US" dirty="0"/>
              <a:t>Inverse of a matrix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67322" y="1477208"/>
                <a:ext cx="5428678" cy="434725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Dividing by a matrix is performed by multiplying times its inverse.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num>
                      <m:den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den>
                    </m:f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den>
                    </m:f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sz="18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sz="1800" dirty="0"/>
                  <a:t>;</a:t>
                </a:r>
                <a:r>
                  <a:rPr lang="en-US" sz="1800" b="1" dirty="0"/>
                  <a:t> </a:t>
                </a:r>
                <a:r>
                  <a:rPr lang="en-US" sz="2000" b="1" dirty="0"/>
                  <a:t>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sz="1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000" b="1" i="1" dirty="0"/>
                  <a:t>I</a:t>
                </a:r>
                <a:r>
                  <a:rPr lang="en-US" sz="2000" dirty="0"/>
                  <a:t> = identity matrix</a:t>
                </a:r>
              </a:p>
              <a:p>
                <a:r>
                  <a:rPr lang="en-US" sz="2000" dirty="0"/>
                  <a:t>Inverse can ONLY be obtained when </a:t>
                </a:r>
                <a:r>
                  <a:rPr lang="en-US" sz="2000" b="1" dirty="0"/>
                  <a:t>X</a:t>
                </a:r>
                <a:r>
                  <a:rPr lang="en-US" sz="2000" dirty="0"/>
                  <a:t> has full rank</a:t>
                </a:r>
              </a:p>
              <a:p>
                <a:pPr lvl="1"/>
                <a:r>
                  <a:rPr lang="en-US" sz="1800" dirty="0"/>
                  <a:t>Identity matrix has full rank</a:t>
                </a:r>
              </a:p>
              <a:p>
                <a:pPr lvl="1"/>
                <a:r>
                  <a:rPr lang="en-US" sz="1800" dirty="0"/>
                  <a:t>Matrix multiplication cannot increase rank </a:t>
                </a:r>
              </a:p>
              <a:p>
                <a:pPr lvl="1"/>
                <a:r>
                  <a:rPr lang="en-US" sz="1800" dirty="0"/>
                  <a:t>Determinant </a:t>
                </a:r>
                <a:r>
                  <a:rPr lang="en-US" sz="1800" dirty="0">
                    <a:sym typeface="Symbol" panose="05050102010706020507" pitchFamily="18" charset="2"/>
                  </a:rPr>
                  <a:t> 0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Only square matrices can have an inverse.</a:t>
                </a:r>
              </a:p>
              <a:p>
                <a:pPr lvl="1"/>
                <a:r>
                  <a:rPr lang="en-US" sz="1600" dirty="0"/>
                  <a:t>Explain this</a:t>
                </a:r>
              </a:p>
              <a:p>
                <a:pPr marL="0" indent="0">
                  <a:buNone/>
                </a:pPr>
                <a:endParaRPr lang="en-US" sz="22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7322" y="1477208"/>
                <a:ext cx="5428678" cy="4347255"/>
              </a:xfrm>
              <a:blipFill>
                <a:blip r:embed="rId3"/>
                <a:stretch>
                  <a:fillRect l="-1010" t="-1403" r="-78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7368990" y="3392200"/>
            <a:ext cx="1771078" cy="17726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114194" y="4016905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9607365" y="1388782"/>
            <a:ext cx="1771078" cy="17726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352569" y="2013487"/>
            <a:ext cx="626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="1" baseline="30000" dirty="0"/>
              <a:t>-1</a:t>
            </a:r>
            <a:endParaRPr lang="en-US" b="1" baseline="30000" dirty="0"/>
          </a:p>
        </p:txBody>
      </p:sp>
      <p:sp>
        <p:nvSpPr>
          <p:cNvPr id="8" name="Rectangle 7"/>
          <p:cNvSpPr/>
          <p:nvPr/>
        </p:nvSpPr>
        <p:spPr>
          <a:xfrm>
            <a:off x="9607365" y="3392200"/>
            <a:ext cx="1771078" cy="17726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9645179" y="3420030"/>
            <a:ext cx="16954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1 0 0 0 0 0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0 1 0 0 0 0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0 0 1 0 0 0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0 0 0 1 0 0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0 0 0 0 1 0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0 0 0 0 0 1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0189" y="5174356"/>
            <a:ext cx="1565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Identity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3748" y="5680769"/>
            <a:ext cx="1556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dirty="0"/>
              <a:t> * </a:t>
            </a:r>
            <a:r>
              <a:rPr lang="en-US" sz="2800" b="1" dirty="0"/>
              <a:t>X</a:t>
            </a:r>
            <a:r>
              <a:rPr lang="en-US" sz="2800" baseline="30000" dirty="0"/>
              <a:t>-1</a:t>
            </a:r>
            <a:r>
              <a:rPr lang="en-US" sz="2800" dirty="0"/>
              <a:t> = </a:t>
            </a:r>
            <a:r>
              <a:rPr lang="en-US" sz="2800" b="1" dirty="0"/>
              <a:t>I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6A4BD0-C74C-46B0-A6FF-5FA5E4BD8C97}"/>
              </a:ext>
            </a:extLst>
          </p:cNvPr>
          <p:cNvSpPr txBox="1"/>
          <p:nvPr/>
        </p:nvSpPr>
        <p:spPr>
          <a:xfrm>
            <a:off x="9714041" y="5680769"/>
            <a:ext cx="15295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X</a:t>
            </a:r>
            <a:r>
              <a:rPr lang="en-US" sz="2800" baseline="30000" dirty="0"/>
              <a:t>-1 </a:t>
            </a:r>
            <a:r>
              <a:rPr lang="en-US" sz="2800" dirty="0"/>
              <a:t>* </a:t>
            </a:r>
            <a:r>
              <a:rPr lang="en-US" sz="2800" b="1" dirty="0"/>
              <a:t>X</a:t>
            </a:r>
            <a:r>
              <a:rPr lang="en-US" sz="2800" dirty="0"/>
              <a:t> = </a:t>
            </a:r>
            <a:r>
              <a:rPr lang="en-US" sz="2800" b="1" dirty="0"/>
              <a:t>I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D63999-EDAC-4EA7-B281-61A6369309D8}"/>
              </a:ext>
            </a:extLst>
          </p:cNvPr>
          <p:cNvSpPr/>
          <p:nvPr/>
        </p:nvSpPr>
        <p:spPr>
          <a:xfrm>
            <a:off x="6929718" y="1039906"/>
            <a:ext cx="5065432" cy="538419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E49F8F4-FA09-4D47-A49F-A4141AC7375A}"/>
              </a:ext>
            </a:extLst>
          </p:cNvPr>
          <p:cNvSpPr/>
          <p:nvPr/>
        </p:nvSpPr>
        <p:spPr>
          <a:xfrm>
            <a:off x="346398" y="1033537"/>
            <a:ext cx="5991650" cy="538419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566197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3C5FA1-D02C-4EAA-BC70-2E87927E3C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287" y="101285"/>
                <a:ext cx="10515600" cy="8131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Matrix multiplication: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NL" b="1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3C5FA1-D02C-4EAA-BC70-2E87927E3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287" y="101285"/>
                <a:ext cx="10515600" cy="813115"/>
              </a:xfrm>
              <a:blipFill>
                <a:blip r:embed="rId3"/>
                <a:stretch>
                  <a:fillRect l="-2377" t="-15789" b="-2932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74BD-D6D4-4120-B771-9CA1889B1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7156" y="1341783"/>
                <a:ext cx="6515291" cy="4947455"/>
              </a:xfrm>
            </p:spPr>
            <p:txBody>
              <a:bodyPr>
                <a:normAutofit/>
              </a:bodyPr>
              <a:lstStyle/>
              <a:p>
                <a:r>
                  <a:rPr lang="en-US" sz="2000" b="1" dirty="0"/>
                  <a:t>X</a:t>
                </a:r>
                <a:r>
                  <a:rPr lang="en-US" sz="2000" baseline="30000" dirty="0"/>
                  <a:t>T </a:t>
                </a:r>
                <a:r>
                  <a:rPr lang="en-US" sz="2000" dirty="0"/>
                  <a:t>(</a:t>
                </a:r>
                <a:r>
                  <a:rPr lang="en-US" sz="2000" i="1" dirty="0"/>
                  <a:t>J x</a:t>
                </a:r>
                <a:r>
                  <a:rPr lang="en-US" sz="2000" dirty="0"/>
                  <a:t> </a:t>
                </a:r>
                <a:r>
                  <a:rPr lang="en-US" sz="2000" i="1" dirty="0"/>
                  <a:t>I</a:t>
                </a:r>
                <a:r>
                  <a:rPr lang="en-US" sz="2000" dirty="0"/>
                  <a:t>) * </a:t>
                </a:r>
                <a:r>
                  <a:rPr lang="en-US" sz="2000" b="1" dirty="0"/>
                  <a:t>X</a:t>
                </a:r>
                <a:r>
                  <a:rPr lang="en-US" sz="2000" dirty="0"/>
                  <a:t>(</a:t>
                </a:r>
                <a:r>
                  <a:rPr lang="en-US" sz="2000" i="1" dirty="0"/>
                  <a:t>I </a:t>
                </a:r>
                <a:r>
                  <a:rPr lang="en-US" sz="2000" dirty="0"/>
                  <a:t>x </a:t>
                </a:r>
                <a:r>
                  <a:rPr lang="en-US" sz="2000" i="1" dirty="0"/>
                  <a:t>J</a:t>
                </a:r>
                <a:r>
                  <a:rPr lang="en-US" sz="2000" dirty="0"/>
                  <a:t>) = </a:t>
                </a:r>
                <a:r>
                  <a:rPr lang="en-US" sz="2000" b="1" dirty="0"/>
                  <a:t>D</a:t>
                </a:r>
                <a:r>
                  <a:rPr lang="en-US" sz="2000" dirty="0"/>
                  <a:t>(</a:t>
                </a:r>
                <a:r>
                  <a:rPr lang="en-US" sz="2000" i="1" dirty="0"/>
                  <a:t>J</a:t>
                </a:r>
                <a:r>
                  <a:rPr lang="en-US" sz="2000" dirty="0"/>
                  <a:t> x </a:t>
                </a:r>
                <a:r>
                  <a:rPr lang="en-US" sz="2000" i="1" dirty="0"/>
                  <a:t>J</a:t>
                </a:r>
                <a:r>
                  <a:rPr lang="en-US" sz="2000" dirty="0"/>
                  <a:t>)</a:t>
                </a:r>
              </a:p>
              <a:p>
                <a:r>
                  <a:rPr lang="en-US" sz="2000" b="1" dirty="0"/>
                  <a:t>D</a:t>
                </a:r>
                <a:r>
                  <a:rPr lang="en-US" sz="2000" dirty="0"/>
                  <a:t> = symmetric of size </a:t>
                </a:r>
                <a:r>
                  <a:rPr lang="en-US" sz="2000" i="1" dirty="0"/>
                  <a:t>J </a:t>
                </a:r>
                <a:r>
                  <a:rPr lang="en-US" sz="2000" dirty="0"/>
                  <a:t>x </a:t>
                </a:r>
                <a:r>
                  <a:rPr lang="en-US" sz="2000" i="1" dirty="0"/>
                  <a:t>J</a:t>
                </a:r>
                <a:r>
                  <a:rPr lang="en-US" sz="2000" dirty="0"/>
                  <a:t>.</a:t>
                </a:r>
              </a:p>
              <a:p>
                <a:pPr lvl="1"/>
                <a:r>
                  <a:rPr lang="en-US" sz="1600" dirty="0"/>
                  <a:t>The diagonal contains inner product of each column of </a:t>
                </a:r>
                <a:r>
                  <a:rPr lang="en-US" sz="1600" b="1" dirty="0"/>
                  <a:t>X</a:t>
                </a:r>
                <a:r>
                  <a:rPr lang="en-US" sz="1600" dirty="0"/>
                  <a:t> with itself </a:t>
                </a:r>
              </a:p>
              <a:p>
                <a:pPr lvl="1"/>
                <a:r>
                  <a:rPr lang="en-US" sz="1600" dirty="0"/>
                  <a:t>The off-diagonals contain the inner product of a column with another column.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If</a:t>
                </a:r>
                <a:r>
                  <a:rPr lang="en-US" sz="2000" b="1" dirty="0"/>
                  <a:t> X</a:t>
                </a:r>
                <a:r>
                  <a:rPr lang="en-US" sz="2000" dirty="0"/>
                  <a:t> is mean-centered then: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= covariance matrix</a:t>
                </a:r>
              </a:p>
              <a:p>
                <a:pPr lvl="1"/>
                <a:r>
                  <a:rPr lang="en-US" sz="1800" dirty="0"/>
                  <a:t>Diagonal contains variance of columns</a:t>
                </a:r>
              </a:p>
              <a:p>
                <a:pPr lvl="1"/>
                <a:r>
                  <a:rPr lang="en-US" sz="1800" dirty="0"/>
                  <a:t>Off diagonals contain covariance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If </a:t>
                </a:r>
                <a:r>
                  <a:rPr lang="en-US" sz="2000" b="1" dirty="0"/>
                  <a:t>X</a:t>
                </a:r>
                <a:r>
                  <a:rPr lang="en-US" sz="2000" dirty="0"/>
                  <a:t> is mean-centered and scaled by standard deviation?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1800" b="1" i="0" smtClean="0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sz="1800" dirty="0"/>
                  <a:t> is correlation matrix</a:t>
                </a:r>
              </a:p>
              <a:p>
                <a:pPr lvl="1"/>
                <a:r>
                  <a:rPr lang="en-US" sz="1800" dirty="0"/>
                  <a:t>Diagonal = 1, off-diagonals are correlations between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74BD-D6D4-4120-B771-9CA1889B1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7156" y="1341783"/>
                <a:ext cx="6515291" cy="4947455"/>
              </a:xfrm>
              <a:blipFill>
                <a:blip r:embed="rId4"/>
                <a:stretch>
                  <a:fillRect l="-842" t="-1232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39F8E2-76DF-4161-AA25-C63ABFBB2F28}"/>
              </a:ext>
            </a:extLst>
          </p:cNvPr>
          <p:cNvSpPr/>
          <p:nvPr/>
        </p:nvSpPr>
        <p:spPr>
          <a:xfrm>
            <a:off x="8017727" y="1178983"/>
            <a:ext cx="3654692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3B83610-F06A-4C39-895B-7F597F08EEE6}"/>
              </a:ext>
            </a:extLst>
          </p:cNvPr>
          <p:cNvSpPr/>
          <p:nvPr/>
        </p:nvSpPr>
        <p:spPr>
          <a:xfrm>
            <a:off x="346397" y="1178983"/>
            <a:ext cx="7179891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ACC880-4795-4E84-9917-8A71FB300112}"/>
              </a:ext>
            </a:extLst>
          </p:cNvPr>
          <p:cNvSpPr/>
          <p:nvPr/>
        </p:nvSpPr>
        <p:spPr>
          <a:xfrm>
            <a:off x="9590544" y="1641614"/>
            <a:ext cx="1774427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716179-1B6D-4292-B46D-9EA7B1207415}"/>
              </a:ext>
            </a:extLst>
          </p:cNvPr>
          <p:cNvSpPr txBox="1"/>
          <p:nvPr/>
        </p:nvSpPr>
        <p:spPr>
          <a:xfrm>
            <a:off x="10379459" y="1770407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D2C5AE-2A89-4376-BB5B-9FC2D1812D63}"/>
              </a:ext>
            </a:extLst>
          </p:cNvPr>
          <p:cNvSpPr/>
          <p:nvPr/>
        </p:nvSpPr>
        <p:spPr>
          <a:xfrm rot="16200000">
            <a:off x="7970516" y="3131625"/>
            <a:ext cx="1774427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5024B-01AC-4158-8BF4-47683168EB67}"/>
              </a:ext>
            </a:extLst>
          </p:cNvPr>
          <p:cNvSpPr txBox="1"/>
          <p:nvPr/>
        </p:nvSpPr>
        <p:spPr>
          <a:xfrm>
            <a:off x="8641760" y="3359291"/>
            <a:ext cx="508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X</a:t>
            </a:r>
            <a:r>
              <a:rPr lang="en-US" sz="2400" baseline="30000" dirty="0"/>
              <a:t>T</a:t>
            </a:r>
            <a:endParaRPr lang="en-US" baseline="30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6BF2AA-13E5-4A17-8968-BEA1B5782690}"/>
              </a:ext>
            </a:extLst>
          </p:cNvPr>
          <p:cNvSpPr/>
          <p:nvPr/>
        </p:nvSpPr>
        <p:spPr>
          <a:xfrm>
            <a:off x="9593893" y="2675712"/>
            <a:ext cx="1771078" cy="1772631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575680-C775-4AFE-A045-2C7E22E2FC75}"/>
              </a:ext>
            </a:extLst>
          </p:cNvPr>
          <p:cNvSpPr txBox="1"/>
          <p:nvPr/>
        </p:nvSpPr>
        <p:spPr>
          <a:xfrm>
            <a:off x="9943818" y="2960629"/>
            <a:ext cx="1133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D=X</a:t>
            </a:r>
            <a:r>
              <a:rPr lang="en-US" sz="2800" baseline="30000" dirty="0"/>
              <a:t>T</a:t>
            </a:r>
            <a:r>
              <a:rPr lang="en-US" sz="2800" b="1" dirty="0"/>
              <a:t>X</a:t>
            </a:r>
            <a:endParaRPr lang="en-US" b="1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A06EF8-DDD1-48E2-BBB8-3556612093FF}"/>
              </a:ext>
            </a:extLst>
          </p:cNvPr>
          <p:cNvCxnSpPr/>
          <p:nvPr/>
        </p:nvCxnSpPr>
        <p:spPr>
          <a:xfrm>
            <a:off x="10067803" y="1641091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6AE3B8-5159-4D7C-B5F1-82AB808F88C2}"/>
              </a:ext>
            </a:extLst>
          </p:cNvPr>
          <p:cNvCxnSpPr/>
          <p:nvPr/>
        </p:nvCxnSpPr>
        <p:spPr>
          <a:xfrm flipH="1" flipV="1">
            <a:off x="8410453" y="3848212"/>
            <a:ext cx="879325" cy="2257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6BA0702-9AB3-4856-83C7-071333325015}"/>
              </a:ext>
            </a:extLst>
          </p:cNvPr>
          <p:cNvSpPr/>
          <p:nvPr/>
        </p:nvSpPr>
        <p:spPr>
          <a:xfrm flipV="1">
            <a:off x="9957508" y="3746376"/>
            <a:ext cx="121919" cy="17783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ine 14">
            <a:extLst>
              <a:ext uri="{FF2B5EF4-FFF2-40B4-BE49-F238E27FC236}">
                <a16:creationId xmlns:a16="http://schemas.microsoft.com/office/drawing/2014/main" id="{C432EA7F-6DF8-418B-963F-88BE93C11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9448979" y="4732483"/>
            <a:ext cx="5889" cy="125247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" name="Line 15">
            <a:extLst>
              <a:ext uri="{FF2B5EF4-FFF2-40B4-BE49-F238E27FC236}">
                <a16:creationId xmlns:a16="http://schemas.microsoft.com/office/drawing/2014/main" id="{0C9B77E9-C741-411F-B41F-11CE22B71C86}"/>
              </a:ext>
            </a:extLst>
          </p:cNvPr>
          <p:cNvSpPr>
            <a:spLocks noChangeShapeType="1"/>
          </p:cNvSpPr>
          <p:nvPr/>
        </p:nvSpPr>
        <p:spPr bwMode="auto">
          <a:xfrm>
            <a:off x="9454868" y="5984963"/>
            <a:ext cx="14414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Oval 16">
            <a:extLst>
              <a:ext uri="{FF2B5EF4-FFF2-40B4-BE49-F238E27FC236}">
                <a16:creationId xmlns:a16="http://schemas.microsoft.com/office/drawing/2014/main" id="{5DEBFFD6-D89F-4046-A1C3-FDF326D08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3005" y="5519825"/>
            <a:ext cx="150813" cy="138113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nl-NL" altLang="nl-NL" sz="1200"/>
          </a:p>
        </p:txBody>
      </p:sp>
      <p:sp>
        <p:nvSpPr>
          <p:cNvPr id="27" name="Oval 17">
            <a:extLst>
              <a:ext uri="{FF2B5EF4-FFF2-40B4-BE49-F238E27FC236}">
                <a16:creationId xmlns:a16="http://schemas.microsoft.com/office/drawing/2014/main" id="{A37BBB41-ED27-4DCA-939B-E06596AF9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43818" y="5796050"/>
            <a:ext cx="150812" cy="138113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nl-NL" altLang="nl-NL" sz="1200"/>
          </a:p>
        </p:txBody>
      </p:sp>
      <p:sp>
        <p:nvSpPr>
          <p:cNvPr id="28" name="Oval 18">
            <a:extLst>
              <a:ext uri="{FF2B5EF4-FFF2-40B4-BE49-F238E27FC236}">
                <a16:creationId xmlns:a16="http://schemas.microsoft.com/office/drawing/2014/main" id="{9A20FFD7-E925-4933-8CB3-5D22F37BA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9243" y="5657938"/>
            <a:ext cx="150812" cy="138112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nl-NL" altLang="nl-NL" sz="1200"/>
          </a:p>
        </p:txBody>
      </p:sp>
      <p:sp>
        <p:nvSpPr>
          <p:cNvPr id="29" name="Oval 19">
            <a:extLst>
              <a:ext uri="{FF2B5EF4-FFF2-40B4-BE49-F238E27FC236}">
                <a16:creationId xmlns:a16="http://schemas.microsoft.com/office/drawing/2014/main" id="{57AC30F7-CA96-4B82-9090-06B910789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93043" y="5161050"/>
            <a:ext cx="150812" cy="138113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nl-NL" altLang="nl-NL" sz="1200"/>
          </a:p>
        </p:txBody>
      </p:sp>
      <p:sp>
        <p:nvSpPr>
          <p:cNvPr id="30" name="Oval 20">
            <a:extLst>
              <a:ext uri="{FF2B5EF4-FFF2-40B4-BE49-F238E27FC236}">
                <a16:creationId xmlns:a16="http://schemas.microsoft.com/office/drawing/2014/main" id="{F27B1105-F48B-4A5F-84C8-5629B52632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96255" y="5230900"/>
            <a:ext cx="150813" cy="138113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nl-NL" altLang="nl-NL" sz="1200"/>
          </a:p>
        </p:txBody>
      </p:sp>
      <p:sp>
        <p:nvSpPr>
          <p:cNvPr id="31" name="Oval 21">
            <a:extLst>
              <a:ext uri="{FF2B5EF4-FFF2-40B4-BE49-F238E27FC236}">
                <a16:creationId xmlns:a16="http://schemas.microsoft.com/office/drawing/2014/main" id="{FFD3F729-1359-4885-9948-AB40C0B5C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4043" y="4926100"/>
            <a:ext cx="150812" cy="138113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nl-NL" altLang="nl-NL" sz="1200"/>
          </a:p>
        </p:txBody>
      </p:sp>
      <p:sp>
        <p:nvSpPr>
          <p:cNvPr id="32" name="Oval 22">
            <a:extLst>
              <a:ext uri="{FF2B5EF4-FFF2-40B4-BE49-F238E27FC236}">
                <a16:creationId xmlns:a16="http://schemas.microsoft.com/office/drawing/2014/main" id="{FB854084-85AC-4927-8805-FB1E203C3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01055" y="4994363"/>
            <a:ext cx="150813" cy="138112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nl-NL" altLang="nl-NL" sz="1200"/>
          </a:p>
        </p:txBody>
      </p:sp>
      <p:sp>
        <p:nvSpPr>
          <p:cNvPr id="33" name="Line 23">
            <a:extLst>
              <a:ext uri="{FF2B5EF4-FFF2-40B4-BE49-F238E27FC236}">
                <a16:creationId xmlns:a16="http://schemas.microsoft.com/office/drawing/2014/main" id="{9F4E38BF-B86A-482E-AA2F-0CB74CF367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93005" y="4819738"/>
            <a:ext cx="1058863" cy="111442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12">
            <a:extLst>
              <a:ext uri="{FF2B5EF4-FFF2-40B4-BE49-F238E27FC236}">
                <a16:creationId xmlns:a16="http://schemas.microsoft.com/office/drawing/2014/main" id="{E865501A-990C-4B16-AF50-CAB9472CCE4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8806270" y="5215124"/>
            <a:ext cx="9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nl-NL" altLang="nl-NL" sz="1400" dirty="0"/>
              <a:t>Variable 3</a:t>
            </a:r>
          </a:p>
        </p:txBody>
      </p:sp>
      <p:sp>
        <p:nvSpPr>
          <p:cNvPr id="35" name="Text Box 12">
            <a:extLst>
              <a:ext uri="{FF2B5EF4-FFF2-40B4-BE49-F238E27FC236}">
                <a16:creationId xmlns:a16="http://schemas.microsoft.com/office/drawing/2014/main" id="{56E37E8E-9791-463B-BE70-AF9A6BD6E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18467" y="5981461"/>
            <a:ext cx="97764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nl-NL" altLang="nl-NL" sz="1400" dirty="0"/>
              <a:t>Variable 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3A1855-6834-4DF9-8CE0-81C66E2E4D4F}"/>
              </a:ext>
            </a:extLst>
          </p:cNvPr>
          <p:cNvSpPr txBox="1"/>
          <p:nvPr/>
        </p:nvSpPr>
        <p:spPr>
          <a:xfrm>
            <a:off x="8141315" y="3676688"/>
            <a:ext cx="326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altLang="nl-NL" sz="1800" dirty="0"/>
              <a:t>7</a:t>
            </a:r>
            <a:endParaRPr lang="en-NL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373EEE-B63E-4C1B-9026-70DEC3E2EBA4}"/>
              </a:ext>
            </a:extLst>
          </p:cNvPr>
          <p:cNvSpPr txBox="1"/>
          <p:nvPr/>
        </p:nvSpPr>
        <p:spPr>
          <a:xfrm>
            <a:off x="9926976" y="1241425"/>
            <a:ext cx="3930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8058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B37BE51-DFD8-4D61-AA7F-2A84E11AE99A}"/>
              </a:ext>
            </a:extLst>
          </p:cNvPr>
          <p:cNvSpPr/>
          <p:nvPr/>
        </p:nvSpPr>
        <p:spPr>
          <a:xfrm rot="16200000">
            <a:off x="8505287" y="3607931"/>
            <a:ext cx="1067479" cy="87902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3C5FA1-D02C-4EAA-BC70-2E87927E3CF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37287" y="101285"/>
                <a:ext cx="10515600" cy="81311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Matrix multiplication: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NL" b="1" baseline="30000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63C5FA1-D02C-4EAA-BC70-2E87927E3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37287" y="101285"/>
                <a:ext cx="10515600" cy="813115"/>
              </a:xfrm>
              <a:blipFill>
                <a:blip r:embed="rId3"/>
                <a:stretch>
                  <a:fillRect l="-2377" t="-15789" b="-2932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74BD-D6D4-4120-B771-9CA1889B1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5644" y="1653246"/>
                <a:ext cx="6789132" cy="4351338"/>
              </a:xfrm>
            </p:spPr>
            <p:txBody>
              <a:bodyPr>
                <a:noAutofit/>
              </a:bodyPr>
              <a:lstStyle/>
              <a:p>
                <a:r>
                  <a:rPr lang="en-US" sz="2400" dirty="0"/>
                  <a:t>Only square matrices can have an inverse</a:t>
                </a:r>
              </a:p>
              <a:p>
                <a:r>
                  <a:rPr lang="en-US" sz="2400" dirty="0"/>
                  <a:t>If </a:t>
                </a:r>
                <a:r>
                  <a:rPr lang="en-US" sz="2400" b="1" dirty="0"/>
                  <a:t>X</a:t>
                </a:r>
                <a:r>
                  <a:rPr lang="en-US" sz="2400" dirty="0"/>
                  <a:t> is not square, the </a:t>
                </a:r>
                <a:r>
                  <a:rPr lang="en-US" sz="2400" b="1" dirty="0"/>
                  <a:t>X</a:t>
                </a:r>
                <a:r>
                  <a:rPr lang="en-US" sz="2400" baseline="30000" dirty="0"/>
                  <a:t>T</a:t>
                </a:r>
                <a:r>
                  <a:rPr lang="en-US" sz="2400" dirty="0"/>
                  <a:t>*</a:t>
                </a:r>
                <a:r>
                  <a:rPr lang="en-US" sz="2400" b="1" dirty="0"/>
                  <a:t>X</a:t>
                </a:r>
                <a:r>
                  <a:rPr lang="en-US" sz="2400" dirty="0"/>
                  <a:t> is often used</a:t>
                </a:r>
              </a:p>
              <a:p>
                <a:r>
                  <a:rPr lang="en-US" sz="2400" dirty="0"/>
                  <a:t>As </a:t>
                </a:r>
                <a:r>
                  <a:rPr lang="en-US" sz="2400" b="1" dirty="0"/>
                  <a:t>X</a:t>
                </a:r>
                <a:r>
                  <a:rPr lang="en-US" sz="2400" baseline="30000" dirty="0"/>
                  <a:t>T</a:t>
                </a:r>
                <a:r>
                  <a:rPr lang="en-US" sz="2400" dirty="0"/>
                  <a:t>*</a:t>
                </a:r>
                <a:r>
                  <a:rPr lang="en-US" sz="2400" b="1" dirty="0"/>
                  <a:t>X </a:t>
                </a:r>
                <a:r>
                  <a:rPr lang="en-US" sz="2400" dirty="0"/>
                  <a:t>provides the covariance (up to a constant)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latin typeface="Cambria Math" panose="02040503050406030204" pitchFamily="18" charset="0"/>
                  </a:rPr>
                  <a:t>In regression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𝐗𝐛</m:t>
                    </m:r>
                  </m:oMath>
                </a14:m>
                <a:endParaRPr lang="en-US" sz="2400" b="1" baseline="30000" dirty="0"/>
              </a:p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 smtClean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num>
                      <m:den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i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</m:e>
                              <m:sup>
                                <m:r>
                                  <a:rPr lang="en-US" sz="2400" b="1" i="0">
                                    <a:latin typeface="Cambria Math" panose="02040503050406030204" pitchFamily="18" charset="0"/>
                                  </a:rPr>
                                  <m:t>𝐓</m:t>
                                </m:r>
                              </m:sup>
                            </m:sSup>
                            <m:r>
                              <a:rPr lang="en-US" sz="2400" b="1" i="0">
                                <a:latin typeface="Cambria Math" panose="02040503050406030204" pitchFamily="18" charset="0"/>
                              </a:rPr>
                              <m:t>𝐗</m:t>
                            </m:r>
                          </m:e>
                        </m:d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sz="2400" b="0" i="0">
                            <a:latin typeface="Cambria Math" panose="02040503050406030204" pitchFamily="18" charset="0"/>
                          </a:rPr>
                          <m:t>T</m:t>
                        </m:r>
                      </m:sup>
                    </m:sSup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US" sz="2400" b="1" baseline="30000" dirty="0"/>
              </a:p>
              <a:p>
                <a:r>
                  <a:rPr lang="en-US" sz="2400" dirty="0"/>
                  <a:t>Variation of </a:t>
                </a:r>
                <a:r>
                  <a:rPr lang="en-US" sz="2400" b="1" dirty="0"/>
                  <a:t>X</a:t>
                </a:r>
                <a:r>
                  <a:rPr lang="en-US" sz="2400" dirty="0"/>
                  <a:t> in direction </a:t>
                </a:r>
                <a:r>
                  <a:rPr lang="en-US" sz="2400" b="1" dirty="0"/>
                  <a:t>y</a:t>
                </a:r>
                <a:r>
                  <a:rPr lang="en-US" sz="2400" dirty="0"/>
                  <a:t> vs covariation in </a:t>
                </a:r>
                <a:r>
                  <a:rPr lang="en-US" sz="2400" b="1" dirty="0"/>
                  <a:t>X </a:t>
                </a:r>
              </a:p>
              <a:p>
                <a:r>
                  <a:rPr lang="en-US" sz="2400" dirty="0"/>
                  <a:t>(</a:t>
                </a:r>
                <a:r>
                  <a:rPr lang="en-US" sz="2400" b="1" dirty="0"/>
                  <a:t>X</a:t>
                </a:r>
                <a:r>
                  <a:rPr lang="en-US" sz="2400" baseline="30000" dirty="0"/>
                  <a:t>T</a:t>
                </a:r>
                <a:r>
                  <a:rPr lang="en-US" sz="2400" dirty="0"/>
                  <a:t>*</a:t>
                </a:r>
                <a:r>
                  <a:rPr lang="en-US" sz="2400" b="1" dirty="0"/>
                  <a:t>X</a:t>
                </a:r>
                <a:r>
                  <a:rPr lang="en-US" sz="2400" dirty="0"/>
                  <a:t>)</a:t>
                </a:r>
                <a:r>
                  <a:rPr lang="en-US" sz="2400" baseline="30000" dirty="0"/>
                  <a:t>-1 </a:t>
                </a:r>
                <a:r>
                  <a:rPr lang="en-US" sz="2400" dirty="0"/>
                  <a:t>is called the precision matrix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NL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1574BD-D6D4-4120-B771-9CA1889B1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5644" y="1653246"/>
                <a:ext cx="6789132" cy="4351338"/>
              </a:xfrm>
              <a:blipFill>
                <a:blip r:embed="rId4"/>
                <a:stretch>
                  <a:fillRect l="-1258" t="-1961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A1AA79D0-56FC-4374-805F-1AF5AB70743F}"/>
              </a:ext>
            </a:extLst>
          </p:cNvPr>
          <p:cNvSpPr/>
          <p:nvPr/>
        </p:nvSpPr>
        <p:spPr>
          <a:xfrm>
            <a:off x="10057721" y="2453268"/>
            <a:ext cx="1067479" cy="77356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83E2F-0F6E-49E1-BBD8-7E56EC73E0A7}"/>
              </a:ext>
            </a:extLst>
          </p:cNvPr>
          <p:cNvSpPr/>
          <p:nvPr/>
        </p:nvSpPr>
        <p:spPr>
          <a:xfrm>
            <a:off x="10057721" y="3513703"/>
            <a:ext cx="1094829" cy="1067479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/>
              <a:t>X</a:t>
            </a:r>
            <a:r>
              <a:rPr lang="en-US" sz="1800" baseline="30000"/>
              <a:t>T</a:t>
            </a:r>
            <a:endParaRPr lang="en-NL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E7C25A-F80F-422F-BD1C-A6A92EB206BF}"/>
              </a:ext>
            </a:extLst>
          </p:cNvPr>
          <p:cNvSpPr txBox="1"/>
          <p:nvPr/>
        </p:nvSpPr>
        <p:spPr>
          <a:xfrm>
            <a:off x="8931825" y="3813526"/>
            <a:ext cx="4302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X</a:t>
            </a:r>
            <a:r>
              <a:rPr lang="en-US" sz="2000" baseline="30000" dirty="0"/>
              <a:t>T</a:t>
            </a:r>
            <a:endParaRPr lang="en-NL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E81B3D-951F-4C81-A452-09554D821A20}"/>
              </a:ext>
            </a:extLst>
          </p:cNvPr>
          <p:cNvSpPr txBox="1"/>
          <p:nvPr/>
        </p:nvSpPr>
        <p:spPr>
          <a:xfrm>
            <a:off x="10437783" y="2639994"/>
            <a:ext cx="4302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X</a:t>
            </a:r>
            <a:endParaRPr lang="en-NL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9E7452-FD8C-4B0C-AF0E-C6E4C3894DDA}"/>
              </a:ext>
            </a:extLst>
          </p:cNvPr>
          <p:cNvSpPr txBox="1"/>
          <p:nvPr/>
        </p:nvSpPr>
        <p:spPr>
          <a:xfrm>
            <a:off x="10167608" y="3828915"/>
            <a:ext cx="1054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D = X</a:t>
            </a:r>
            <a:r>
              <a:rPr lang="en-US" sz="1800" baseline="30000" dirty="0"/>
              <a:t>T</a:t>
            </a:r>
            <a:r>
              <a:rPr lang="en-US" sz="1800" b="1" dirty="0"/>
              <a:t>X</a:t>
            </a:r>
            <a:endParaRPr lang="en-NL" sz="18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39F8E2-76DF-4161-AA25-C63ABFBB2F28}"/>
              </a:ext>
            </a:extLst>
          </p:cNvPr>
          <p:cNvSpPr/>
          <p:nvPr/>
        </p:nvSpPr>
        <p:spPr>
          <a:xfrm>
            <a:off x="8186269" y="1178983"/>
            <a:ext cx="3486150" cy="523874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3B83610-F06A-4C39-895B-7F597F08EEE6}"/>
              </a:ext>
            </a:extLst>
          </p:cNvPr>
          <p:cNvSpPr/>
          <p:nvPr/>
        </p:nvSpPr>
        <p:spPr>
          <a:xfrm>
            <a:off x="346397" y="1178983"/>
            <a:ext cx="7179891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787863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CF6C2-430C-FC8E-47E7-B6FE8CFB0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403"/>
            <a:ext cx="10515600" cy="826571"/>
          </a:xfrm>
        </p:spPr>
        <p:txBody>
          <a:bodyPr/>
          <a:lstStyle/>
          <a:p>
            <a:r>
              <a:rPr lang="en-US" dirty="0"/>
              <a:t>Problematic Example</a:t>
            </a:r>
            <a:endParaRPr lang="en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C7167E-319A-C3DD-D625-1DF77E7AE4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6432" y="1369939"/>
                <a:ext cx="5257800" cy="4774883"/>
              </a:xfrm>
            </p:spPr>
            <p:txBody>
              <a:bodyPr>
                <a:normAutofit fontScale="92500"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b="0" dirty="0"/>
              </a:p>
              <a:p>
                <a:endParaRPr lang="en-US" sz="2400" b="0" dirty="0"/>
              </a:p>
              <a:p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𝑿𝒃</m:t>
                    </m:r>
                  </m:oMath>
                </a14:m>
                <a:r>
                  <a:rPr lang="en-US" sz="2400" dirty="0"/>
                  <a:t>;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US" sz="2400" dirty="0"/>
                  <a:t> = [1,1], [3,0], [0,1.5], [2,0.5], …</a:t>
                </a:r>
              </a:p>
              <a:p>
                <a:r>
                  <a:rPr lang="en-US" sz="2400" dirty="0"/>
                  <a:t>Rank(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) = 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sz="2400" b="1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28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56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Rank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= ?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  <m:sup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e>
                      <m:sup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system is exactly singular:</a:t>
                </a:r>
                <a:endParaRPr lang="en-NL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C7167E-319A-C3DD-D625-1DF77E7AE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6432" y="1369939"/>
                <a:ext cx="5257800" cy="4774883"/>
              </a:xfrm>
              <a:blipFill>
                <a:blip r:embed="rId3"/>
                <a:stretch>
                  <a:fillRect l="-1275" b="-1660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2E1FC9-EC9B-D11F-2930-03C5FFD31CBD}"/>
              </a:ext>
            </a:extLst>
          </p:cNvPr>
          <p:cNvSpPr/>
          <p:nvPr/>
        </p:nvSpPr>
        <p:spPr>
          <a:xfrm>
            <a:off x="346398" y="1178983"/>
            <a:ext cx="5607142" cy="523874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E391B8-AFEE-24EE-774D-DF135BE01E1E}"/>
              </a:ext>
            </a:extLst>
          </p:cNvPr>
          <p:cNvGrpSpPr/>
          <p:nvPr/>
        </p:nvGrpSpPr>
        <p:grpSpPr>
          <a:xfrm>
            <a:off x="7528035" y="2753206"/>
            <a:ext cx="3405312" cy="1859191"/>
            <a:chOff x="7842995" y="3840326"/>
            <a:chExt cx="3405312" cy="1859191"/>
          </a:xfrm>
        </p:grpSpPr>
        <p:grpSp>
          <p:nvGrpSpPr>
            <p:cNvPr id="5" name="Group 7">
              <a:extLst>
                <a:ext uri="{FF2B5EF4-FFF2-40B4-BE49-F238E27FC236}">
                  <a16:creationId xmlns:a16="http://schemas.microsoft.com/office/drawing/2014/main" id="{88E3FE21-F570-D7BC-A5BD-025082057A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42995" y="5248965"/>
              <a:ext cx="2984500" cy="80963"/>
              <a:chOff x="1510" y="3510"/>
              <a:chExt cx="2522" cy="59"/>
            </a:xfrm>
          </p:grpSpPr>
          <p:sp>
            <p:nvSpPr>
              <p:cNvPr id="6" name="Line 8">
                <a:extLst>
                  <a:ext uri="{FF2B5EF4-FFF2-40B4-BE49-F238E27FC236}">
                    <a16:creationId xmlns:a16="http://schemas.microsoft.com/office/drawing/2014/main" id="{57C5FE77-7040-974D-416A-3B4F21AC1D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0" y="3564"/>
                <a:ext cx="252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7" name="Line 9">
                <a:extLst>
                  <a:ext uri="{FF2B5EF4-FFF2-40B4-BE49-F238E27FC236}">
                    <a16:creationId xmlns:a16="http://schemas.microsoft.com/office/drawing/2014/main" id="{8663D121-D29D-87D1-9D1A-3F35B37FD5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65" y="3518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8" name="Line 10">
                <a:extLst>
                  <a:ext uri="{FF2B5EF4-FFF2-40B4-BE49-F238E27FC236}">
                    <a16:creationId xmlns:a16="http://schemas.microsoft.com/office/drawing/2014/main" id="{B25008D2-4D39-6C13-03CA-6F4C1C019F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84" y="3518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9" name="Line 11">
                <a:extLst>
                  <a:ext uri="{FF2B5EF4-FFF2-40B4-BE49-F238E27FC236}">
                    <a16:creationId xmlns:a16="http://schemas.microsoft.com/office/drawing/2014/main" id="{CAD00E3F-EEF8-C346-5170-E5CF9A1CE3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3" y="3510"/>
                <a:ext cx="0" cy="5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grpSp>
          <p:nvGrpSpPr>
            <p:cNvPr id="10" name="Group 39">
              <a:extLst>
                <a:ext uri="{FF2B5EF4-FFF2-40B4-BE49-F238E27FC236}">
                  <a16:creationId xmlns:a16="http://schemas.microsoft.com/office/drawing/2014/main" id="{D59E35AA-2F03-C80A-05A8-5F3A8650FA0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03391" y="3955151"/>
              <a:ext cx="85726" cy="1358902"/>
              <a:chOff x="573" y="2372"/>
              <a:chExt cx="43" cy="1220"/>
            </a:xfrm>
          </p:grpSpPr>
          <p:sp>
            <p:nvSpPr>
              <p:cNvPr id="11" name="Line 14">
                <a:extLst>
                  <a:ext uri="{FF2B5EF4-FFF2-40B4-BE49-F238E27FC236}">
                    <a16:creationId xmlns:a16="http://schemas.microsoft.com/office/drawing/2014/main" id="{9847E4C7-7F19-C931-7489-5435E9E8C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3" y="2372"/>
                <a:ext cx="0" cy="1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arrow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2" name="Line 15">
                <a:extLst>
                  <a:ext uri="{FF2B5EF4-FFF2-40B4-BE49-F238E27FC236}">
                    <a16:creationId xmlns:a16="http://schemas.microsoft.com/office/drawing/2014/main" id="{D62A8BAB-7768-7B17-A6C1-6E1505ED92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97" y="3153"/>
                <a:ext cx="0" cy="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3" name="Line 16">
                <a:extLst>
                  <a:ext uri="{FF2B5EF4-FFF2-40B4-BE49-F238E27FC236}">
                    <a16:creationId xmlns:a16="http://schemas.microsoft.com/office/drawing/2014/main" id="{4B5BD975-425D-A180-5836-40CE2C3FB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5400000">
                <a:off x="597" y="2708"/>
                <a:ext cx="0" cy="3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8E663B-E04A-2DB2-1986-1D372FD24586}"/>
                </a:ext>
              </a:extLst>
            </p:cNvPr>
            <p:cNvSpPr txBox="1"/>
            <p:nvPr/>
          </p:nvSpPr>
          <p:spPr>
            <a:xfrm>
              <a:off x="10866471" y="5129387"/>
              <a:ext cx="381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x</a:t>
              </a:r>
              <a:r>
                <a:rPr lang="en-US" sz="2000" baseline="-25000" dirty="0"/>
                <a:t>1</a:t>
              </a:r>
              <a:endParaRPr lang="en-NL" sz="2000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DC8787-EAE9-20B4-B4DF-3111E840B792}"/>
                </a:ext>
              </a:extLst>
            </p:cNvPr>
            <p:cNvSpPr txBox="1"/>
            <p:nvPr/>
          </p:nvSpPr>
          <p:spPr>
            <a:xfrm>
              <a:off x="8072330" y="3840326"/>
              <a:ext cx="3818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x</a:t>
              </a:r>
              <a:r>
                <a:rPr lang="en-US" sz="2000" baseline="-25000" dirty="0"/>
                <a:t>2</a:t>
              </a:r>
              <a:endParaRPr lang="en-NL" sz="2000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054EB4D-3190-A10A-34E0-180741C93AB5}"/>
                </a:ext>
              </a:extLst>
            </p:cNvPr>
            <p:cNvSpPr txBox="1"/>
            <p:nvPr/>
          </p:nvSpPr>
          <p:spPr>
            <a:xfrm>
              <a:off x="8362516" y="5330185"/>
              <a:ext cx="3016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</a:t>
              </a:r>
              <a:endParaRPr lang="en-NL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C0B9231-CA69-EF32-6FE4-806B7C5964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7908" y="4856571"/>
              <a:ext cx="1371839" cy="463762"/>
            </a:xfrm>
            <a:prstGeom prst="straightConnector1">
              <a:avLst/>
            </a:prstGeom>
            <a:ln>
              <a:solidFill>
                <a:srgbClr val="0033CC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92CC003-5DC0-786F-C4F3-9BF675AC3E66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8513359" y="4442791"/>
              <a:ext cx="2554617" cy="887394"/>
            </a:xfrm>
            <a:prstGeom prst="straightConnector1">
              <a:avLst/>
            </a:prstGeom>
            <a:ln>
              <a:solidFill>
                <a:srgbClr val="0033CC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84">
              <a:extLst>
                <a:ext uri="{FF2B5EF4-FFF2-40B4-BE49-F238E27FC236}">
                  <a16:creationId xmlns:a16="http://schemas.microsoft.com/office/drawing/2014/main" id="{5C290B88-59E8-DF90-68D9-64AAC1FCD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48514" y="4516004"/>
              <a:ext cx="187325" cy="174625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1" name="Oval 84">
              <a:extLst>
                <a:ext uri="{FF2B5EF4-FFF2-40B4-BE49-F238E27FC236}">
                  <a16:creationId xmlns:a16="http://schemas.microsoft.com/office/drawing/2014/main" id="{559361CF-479E-E706-2F23-B9D952DA06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7920" y="4997339"/>
              <a:ext cx="187325" cy="174625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rgbClr val="00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7" name="Oval 84">
              <a:extLst>
                <a:ext uri="{FF2B5EF4-FFF2-40B4-BE49-F238E27FC236}">
                  <a16:creationId xmlns:a16="http://schemas.microsoft.com/office/drawing/2014/main" id="{7727B65C-519E-E40E-0E1D-2AD69F651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48609" y="4746816"/>
              <a:ext cx="187325" cy="174625"/>
            </a:xfrm>
            <a:prstGeom prst="ellipse">
              <a:avLst/>
            </a:prstGeom>
            <a:solidFill>
              <a:srgbClr val="0070C0"/>
            </a:solidFill>
            <a:ln w="9525">
              <a:solidFill>
                <a:srgbClr val="0033CC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1DCAACD-662A-3BAF-912C-1D3D191E1A91}"/>
                </a:ext>
              </a:extLst>
            </p:cNvPr>
            <p:cNvSpPr txBox="1"/>
            <p:nvPr/>
          </p:nvSpPr>
          <p:spPr>
            <a:xfrm>
              <a:off x="8857455" y="4659835"/>
              <a:ext cx="401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  <a:r>
                <a:rPr lang="en-US" baseline="-25000" dirty="0"/>
                <a:t>.1</a:t>
              </a:r>
              <a:endParaRPr lang="en-NL" baseline="-250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5D6D3CC-5376-45ED-8A0B-AFDB935B4186}"/>
                </a:ext>
              </a:extLst>
            </p:cNvPr>
            <p:cNvSpPr txBox="1"/>
            <p:nvPr/>
          </p:nvSpPr>
          <p:spPr>
            <a:xfrm>
              <a:off x="9587402" y="4388871"/>
              <a:ext cx="401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  <a:r>
                <a:rPr lang="en-US" baseline="-25000" dirty="0"/>
                <a:t>.2</a:t>
              </a:r>
              <a:endParaRPr lang="en-NL" baseline="-25000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0C37387-DD12-80EA-B294-EDC74C03DA41}"/>
                </a:ext>
              </a:extLst>
            </p:cNvPr>
            <p:cNvSpPr txBox="1"/>
            <p:nvPr/>
          </p:nvSpPr>
          <p:spPr>
            <a:xfrm>
              <a:off x="10428830" y="4150482"/>
              <a:ext cx="288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y</a:t>
              </a:r>
              <a:endParaRPr lang="en-NL" baseline="-25000" dirty="0"/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2FEE1B3-44CF-2CDC-4EFA-79A852900190}"/>
              </a:ext>
            </a:extLst>
          </p:cNvPr>
          <p:cNvSpPr/>
          <p:nvPr/>
        </p:nvSpPr>
        <p:spPr>
          <a:xfrm>
            <a:off x="7284720" y="1727200"/>
            <a:ext cx="4387699" cy="4008668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1992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DB0BF-320B-4166-B2D6-98E5FE1FA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83" y="167903"/>
            <a:ext cx="10515600" cy="638922"/>
          </a:xfrm>
        </p:spPr>
        <p:txBody>
          <a:bodyPr>
            <a:noAutofit/>
          </a:bodyPr>
          <a:lstStyle/>
          <a:p>
            <a:r>
              <a:rPr lang="en-US" dirty="0"/>
              <a:t>Fat matrix J &gt;&gt; I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14771-0948-4C7B-B1BE-547D5F273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552" y="1707372"/>
            <a:ext cx="6201867" cy="4027506"/>
          </a:xfrm>
        </p:spPr>
        <p:txBody>
          <a:bodyPr>
            <a:normAutofit/>
          </a:bodyPr>
          <a:lstStyle/>
          <a:p>
            <a:r>
              <a:rPr lang="en-US" sz="2400" dirty="0"/>
              <a:t>In many research fields, </a:t>
            </a:r>
            <a:r>
              <a:rPr lang="en-US" sz="2400" b="1" dirty="0"/>
              <a:t>X</a:t>
            </a:r>
            <a:r>
              <a:rPr lang="en-US" sz="2400" dirty="0"/>
              <a:t> is a fat matrix (</a:t>
            </a:r>
            <a:r>
              <a:rPr lang="en-US" sz="2400" i="1" dirty="0"/>
              <a:t>J</a:t>
            </a:r>
            <a:r>
              <a:rPr lang="en-US" sz="2400" dirty="0"/>
              <a:t> &gt;&gt; </a:t>
            </a:r>
            <a:r>
              <a:rPr lang="en-US" sz="2400" i="1" dirty="0"/>
              <a:t>I</a:t>
            </a:r>
            <a:r>
              <a:rPr lang="en-US" sz="2400" dirty="0"/>
              <a:t>)</a:t>
            </a:r>
          </a:p>
          <a:p>
            <a:r>
              <a:rPr lang="en-US" sz="2400" dirty="0"/>
              <a:t>Calculating (</a:t>
            </a:r>
            <a:r>
              <a:rPr lang="en-US" sz="2400" b="1" dirty="0"/>
              <a:t>X</a:t>
            </a:r>
            <a:r>
              <a:rPr lang="en-US" sz="2400" baseline="30000" dirty="0"/>
              <a:t>T</a:t>
            </a:r>
            <a:r>
              <a:rPr lang="en-US" sz="2400" b="1" dirty="0"/>
              <a:t>X</a:t>
            </a:r>
            <a:r>
              <a:rPr lang="en-US" sz="2400" dirty="0"/>
              <a:t>)</a:t>
            </a:r>
            <a:r>
              <a:rPr lang="en-US" sz="2400" baseline="30000" dirty="0"/>
              <a:t>-1</a:t>
            </a:r>
            <a:r>
              <a:rPr lang="en-US" sz="2400" dirty="0"/>
              <a:t> will lead to problems: Explain why</a:t>
            </a:r>
          </a:p>
          <a:p>
            <a:r>
              <a:rPr lang="en-US" sz="2400" dirty="0"/>
              <a:t>Use dimension reduction methods to create matrix </a:t>
            </a:r>
            <a:r>
              <a:rPr lang="en-US" sz="2400" b="1" dirty="0"/>
              <a:t>T</a:t>
            </a:r>
            <a:r>
              <a:rPr lang="en-US" sz="2400" dirty="0"/>
              <a:t> (</a:t>
            </a:r>
            <a:r>
              <a:rPr lang="en-US" sz="2400" i="1" dirty="0"/>
              <a:t>J</a:t>
            </a:r>
            <a:r>
              <a:rPr lang="en-US" sz="2400" dirty="0"/>
              <a:t> &lt;</a:t>
            </a:r>
            <a:r>
              <a:rPr lang="en-US" sz="2400" i="1" dirty="0"/>
              <a:t> I</a:t>
            </a:r>
            <a:r>
              <a:rPr lang="en-US" sz="2400" dirty="0"/>
              <a:t>) which is a good summary of </a:t>
            </a:r>
            <a:r>
              <a:rPr lang="en-US" sz="2400" b="1" dirty="0"/>
              <a:t>X</a:t>
            </a:r>
            <a:r>
              <a:rPr lang="en-US" sz="2400" dirty="0"/>
              <a:t>.</a:t>
            </a:r>
          </a:p>
          <a:p>
            <a:endParaRPr lang="en-US" sz="2400" baseline="30000" dirty="0"/>
          </a:p>
          <a:p>
            <a:r>
              <a:rPr lang="en-US" sz="2400" dirty="0"/>
              <a:t>(</a:t>
            </a:r>
            <a:r>
              <a:rPr lang="en-US" sz="2400" b="1" dirty="0"/>
              <a:t>T</a:t>
            </a:r>
            <a:r>
              <a:rPr lang="en-US" sz="2400" baseline="30000" dirty="0"/>
              <a:t>T</a:t>
            </a:r>
            <a:r>
              <a:rPr lang="en-US" sz="2400" b="1" dirty="0"/>
              <a:t>T</a:t>
            </a:r>
            <a:r>
              <a:rPr lang="en-US" sz="2400" dirty="0"/>
              <a:t>)</a:t>
            </a:r>
            <a:r>
              <a:rPr lang="en-US" sz="2400" baseline="30000" dirty="0"/>
              <a:t>-1 </a:t>
            </a:r>
            <a:r>
              <a:rPr lang="en-US" sz="2400" dirty="0"/>
              <a:t>can be calculated without problems.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A77315-C7B2-4EE9-92F4-B479F868AA96}"/>
              </a:ext>
            </a:extLst>
          </p:cNvPr>
          <p:cNvSpPr/>
          <p:nvPr/>
        </p:nvSpPr>
        <p:spPr>
          <a:xfrm rot="16200000">
            <a:off x="9514501" y="2966738"/>
            <a:ext cx="864097" cy="702630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X</a:t>
            </a:r>
            <a:r>
              <a:rPr lang="en-US" baseline="30000"/>
              <a:t>T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BBEEC-1AD6-4B3D-B410-7A2D370A22A8}"/>
              </a:ext>
            </a:extLst>
          </p:cNvPr>
          <p:cNvSpPr/>
          <p:nvPr/>
        </p:nvSpPr>
        <p:spPr>
          <a:xfrm>
            <a:off x="9035812" y="1729935"/>
            <a:ext cx="2073677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EEFAD3-A01C-4482-BC4E-8E4227D5321D}"/>
              </a:ext>
            </a:extLst>
          </p:cNvPr>
          <p:cNvSpPr txBox="1"/>
          <p:nvPr/>
        </p:nvSpPr>
        <p:spPr>
          <a:xfrm>
            <a:off x="10003323" y="1979274"/>
            <a:ext cx="43020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X</a:t>
            </a:r>
            <a:endParaRPr lang="en-NL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C8C9579-D490-4A37-B562-6E817F6CEDAC}"/>
              </a:ext>
            </a:extLst>
          </p:cNvPr>
          <p:cNvSpPr/>
          <p:nvPr/>
        </p:nvSpPr>
        <p:spPr>
          <a:xfrm>
            <a:off x="8184994" y="1362635"/>
            <a:ext cx="3757961" cy="4527177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1329843-BB6F-4E94-85B3-988AA9A4B206}"/>
              </a:ext>
            </a:extLst>
          </p:cNvPr>
          <p:cNvSpPr/>
          <p:nvPr/>
        </p:nvSpPr>
        <p:spPr>
          <a:xfrm>
            <a:off x="346397" y="1362635"/>
            <a:ext cx="7179891" cy="4527177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1116B1-E044-45CD-8171-EA2B7FE1BCF7}"/>
              </a:ext>
            </a:extLst>
          </p:cNvPr>
          <p:cNvSpPr txBox="1"/>
          <p:nvPr/>
        </p:nvSpPr>
        <p:spPr>
          <a:xfrm>
            <a:off x="9310800" y="3565436"/>
            <a:ext cx="67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I</a:t>
            </a:r>
            <a:endParaRPr lang="en-NL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BEA8BB-6561-4646-B9C1-12B1F92783FA}"/>
              </a:ext>
            </a:extLst>
          </p:cNvPr>
          <p:cNvSpPr txBox="1"/>
          <p:nvPr/>
        </p:nvSpPr>
        <p:spPr>
          <a:xfrm>
            <a:off x="8735206" y="2379384"/>
            <a:ext cx="30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I</a:t>
            </a:r>
            <a:endParaRPr lang="en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0B8268-4860-4694-853E-F54E21CAD1F3}"/>
              </a:ext>
            </a:extLst>
          </p:cNvPr>
          <p:cNvSpPr txBox="1"/>
          <p:nvPr/>
        </p:nvSpPr>
        <p:spPr>
          <a:xfrm>
            <a:off x="11176801" y="1609942"/>
            <a:ext cx="30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J</a:t>
            </a:r>
            <a:endParaRPr lang="en-NL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93C777-9D3D-4896-9E03-B7D58A696B01}"/>
              </a:ext>
            </a:extLst>
          </p:cNvPr>
          <p:cNvSpPr txBox="1"/>
          <p:nvPr/>
        </p:nvSpPr>
        <p:spPr>
          <a:xfrm>
            <a:off x="10339080" y="2701338"/>
            <a:ext cx="30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R</a:t>
            </a:r>
            <a:endParaRPr lang="en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6823F9-35AC-1A2B-4E5C-1370F6CCCB85}"/>
              </a:ext>
            </a:extLst>
          </p:cNvPr>
          <p:cNvSpPr txBox="1"/>
          <p:nvPr/>
        </p:nvSpPr>
        <p:spPr>
          <a:xfrm>
            <a:off x="9794614" y="3070670"/>
            <a:ext cx="3038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</a:t>
            </a:r>
            <a:endParaRPr lang="en-NL" sz="2400" dirty="0"/>
          </a:p>
        </p:txBody>
      </p:sp>
    </p:spTree>
    <p:extLst>
      <p:ext uri="{BB962C8B-B14F-4D97-AF65-F5344CB8AC3E}">
        <p14:creationId xmlns:p14="http://schemas.microsoft.com/office/powerpoint/2010/main" val="3166825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52" y="90266"/>
            <a:ext cx="10515600" cy="750051"/>
          </a:xfrm>
        </p:spPr>
        <p:txBody>
          <a:bodyPr/>
          <a:lstStyle/>
          <a:p>
            <a:r>
              <a:rPr lang="en-US" dirty="0"/>
              <a:t>Linear Algebra: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144" y="1619825"/>
            <a:ext cx="6756133" cy="2153681"/>
          </a:xfrm>
        </p:spPr>
        <p:txBody>
          <a:bodyPr>
            <a:normAutofit/>
          </a:bodyPr>
          <a:lstStyle/>
          <a:p>
            <a:r>
              <a:rPr lang="en-US" sz="2400" dirty="0"/>
              <a:t>A matrix </a:t>
            </a:r>
            <a:r>
              <a:rPr lang="en-US" sz="2400" b="1" dirty="0"/>
              <a:t>X </a:t>
            </a:r>
            <a:r>
              <a:rPr lang="en-US" sz="2400" dirty="0"/>
              <a:t>(</a:t>
            </a:r>
            <a:r>
              <a:rPr lang="en-US" sz="2400" i="1" dirty="0"/>
              <a:t>I</a:t>
            </a:r>
            <a:r>
              <a:rPr lang="en-US" sz="2400" dirty="0"/>
              <a:t> x </a:t>
            </a:r>
            <a:r>
              <a:rPr lang="en-US" sz="2400" i="1" dirty="0"/>
              <a:t>J</a:t>
            </a:r>
            <a:r>
              <a:rPr lang="en-US" sz="2400" dirty="0"/>
              <a:t>), connects a vector in the row space (R</a:t>
            </a:r>
            <a:r>
              <a:rPr lang="en-US" sz="2400" baseline="30000" dirty="0"/>
              <a:t>J</a:t>
            </a:r>
            <a:r>
              <a:rPr lang="en-US" sz="2400" dirty="0"/>
              <a:t>) to a vector in the column space (R</a:t>
            </a:r>
            <a:r>
              <a:rPr lang="en-US" sz="2400" baseline="30000" dirty="0"/>
              <a:t>I</a:t>
            </a:r>
            <a:r>
              <a:rPr lang="en-US" sz="2400" dirty="0"/>
              <a:t>). </a:t>
            </a:r>
          </a:p>
          <a:p>
            <a:pPr lvl="1"/>
            <a:r>
              <a:rPr lang="en-US" sz="2000" b="1" dirty="0"/>
              <a:t>X</a:t>
            </a:r>
            <a:r>
              <a:rPr lang="en-US" sz="2000" dirty="0"/>
              <a:t>(</a:t>
            </a:r>
            <a:r>
              <a:rPr lang="en-US" sz="2000" dirty="0" err="1"/>
              <a:t>IxJ</a:t>
            </a:r>
            <a:r>
              <a:rPr lang="en-US" sz="2000" dirty="0"/>
              <a:t>) * </a:t>
            </a:r>
            <a:r>
              <a:rPr lang="en-US" sz="2000" b="1" dirty="0">
                <a:solidFill>
                  <a:srgbClr val="0070C0"/>
                </a:solidFill>
              </a:rPr>
              <a:t>r</a:t>
            </a:r>
            <a:r>
              <a:rPr lang="en-US" sz="2000" dirty="0"/>
              <a:t>(Jx1) = </a:t>
            </a:r>
            <a:r>
              <a:rPr lang="en-US" sz="2000" b="1" dirty="0">
                <a:solidFill>
                  <a:srgbClr val="FF0000"/>
                </a:solidFill>
              </a:rPr>
              <a:t>c</a:t>
            </a:r>
            <a:r>
              <a:rPr lang="en-US" sz="2000" dirty="0"/>
              <a:t>(Ix1)</a:t>
            </a:r>
          </a:p>
          <a:p>
            <a:pPr lvl="1"/>
            <a:r>
              <a:rPr lang="en-US" sz="2000" b="1" dirty="0"/>
              <a:t>X</a:t>
            </a:r>
            <a:r>
              <a:rPr lang="en-US" sz="2000" baseline="30000" dirty="0"/>
              <a:t>T</a:t>
            </a:r>
            <a:r>
              <a:rPr lang="en-US" sz="2000" dirty="0"/>
              <a:t>(</a:t>
            </a:r>
            <a:r>
              <a:rPr lang="en-US" sz="2000" dirty="0" err="1"/>
              <a:t>JxI</a:t>
            </a:r>
            <a:r>
              <a:rPr lang="en-US" sz="2000" dirty="0"/>
              <a:t>) * </a:t>
            </a:r>
            <a:r>
              <a:rPr lang="en-US" sz="2000" b="1" dirty="0">
                <a:solidFill>
                  <a:srgbClr val="FF0000"/>
                </a:solidFill>
              </a:rPr>
              <a:t>c</a:t>
            </a:r>
            <a:r>
              <a:rPr lang="en-US" sz="2000" dirty="0"/>
              <a:t>(Ix1) = </a:t>
            </a:r>
            <a:r>
              <a:rPr lang="en-US" sz="2000" b="1" dirty="0">
                <a:solidFill>
                  <a:srgbClr val="0070C0"/>
                </a:solidFill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</a:rPr>
              <a:t>2</a:t>
            </a:r>
            <a:r>
              <a:rPr lang="en-US" sz="2000" dirty="0"/>
              <a:t>(Jx1)</a:t>
            </a:r>
          </a:p>
          <a:p>
            <a:pPr lvl="2"/>
            <a:r>
              <a:rPr lang="en-US" sz="1600" dirty="0"/>
              <a:t>! You do not always end up in the same vector </a:t>
            </a:r>
            <a:r>
              <a:rPr lang="en-US" sz="1600" b="1" dirty="0">
                <a:solidFill>
                  <a:srgbClr val="0070C0"/>
                </a:solidFill>
              </a:rPr>
              <a:t>r</a:t>
            </a:r>
          </a:p>
          <a:p>
            <a:pPr lvl="1"/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7710179" y="216789"/>
            <a:ext cx="1635950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>
            <a:off x="8244849" y="216789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710179" y="511513"/>
            <a:ext cx="1635950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58536" y="71218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00871" y="456809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433391" y="980029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7802" y="-29695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494822" y="6176963"/>
            <a:ext cx="311467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1466247" y="4457700"/>
            <a:ext cx="38100" cy="1728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494822" y="5229225"/>
            <a:ext cx="1933575" cy="9477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3037872" y="4886325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4514016" y="6001823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38" name="Rectangle 37"/>
          <p:cNvSpPr/>
          <p:nvPr/>
        </p:nvSpPr>
        <p:spPr>
          <a:xfrm>
            <a:off x="1052806" y="4393168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39" name="Rectangle 38"/>
          <p:cNvSpPr/>
          <p:nvPr/>
        </p:nvSpPr>
        <p:spPr>
          <a:xfrm>
            <a:off x="3342672" y="4943475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40" name="Straight Arrow Connector 39"/>
          <p:cNvCxnSpPr/>
          <p:nvPr/>
        </p:nvCxnSpPr>
        <p:spPr>
          <a:xfrm flipV="1">
            <a:off x="1505328" y="5173386"/>
            <a:ext cx="1299824" cy="100257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1504347" y="5124450"/>
            <a:ext cx="1083638" cy="106203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V="1">
            <a:off x="1504347" y="5095875"/>
            <a:ext cx="882169" cy="109061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V="1">
            <a:off x="1532922" y="5143500"/>
            <a:ext cx="624994" cy="102393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837629" y="4819650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x</a:t>
            </a:r>
            <a:r>
              <a:rPr lang="en-US" b="1" baseline="-25000" dirty="0" err="1"/>
              <a:t>J</a:t>
            </a:r>
            <a:endParaRPr lang="en-US" baseline="-25000" dirty="0"/>
          </a:p>
        </p:txBody>
      </p:sp>
      <p:cxnSp>
        <p:nvCxnSpPr>
          <p:cNvPr id="51" name="Straight Arrow Connector 50"/>
          <p:cNvCxnSpPr/>
          <p:nvPr/>
        </p:nvCxnSpPr>
        <p:spPr>
          <a:xfrm>
            <a:off x="8256659" y="6184985"/>
            <a:ext cx="311467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 flipV="1">
            <a:off x="8228084" y="4465722"/>
            <a:ext cx="38100" cy="172878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8256659" y="5237247"/>
            <a:ext cx="1933575" cy="94773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10260048" y="5351547"/>
            <a:ext cx="9525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11278992" y="6009845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69" name="Rectangle 68"/>
          <p:cNvSpPr/>
          <p:nvPr/>
        </p:nvSpPr>
        <p:spPr>
          <a:xfrm>
            <a:off x="7817782" y="4401190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70" name="Rectangle 69"/>
          <p:cNvSpPr/>
          <p:nvPr/>
        </p:nvSpPr>
        <p:spPr>
          <a:xfrm>
            <a:off x="10107648" y="4951497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71" name="Straight Arrow Connector 70"/>
          <p:cNvCxnSpPr/>
          <p:nvPr/>
        </p:nvCxnSpPr>
        <p:spPr>
          <a:xfrm flipV="1">
            <a:off x="8266184" y="5182408"/>
            <a:ext cx="1299824" cy="1002576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V="1">
            <a:off x="8297898" y="5151522"/>
            <a:ext cx="624994" cy="1023938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8602605" y="4827672"/>
            <a:ext cx="332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x</a:t>
            </a:r>
            <a:r>
              <a:rPr lang="en-US" b="1" baseline="-25000" dirty="0" err="1"/>
              <a:t>I</a:t>
            </a:r>
            <a:endParaRPr lang="en-US" baseline="-25000" dirty="0"/>
          </a:p>
        </p:txBody>
      </p:sp>
      <p:sp>
        <p:nvSpPr>
          <p:cNvPr id="76" name="Rectangle 75"/>
          <p:cNvSpPr/>
          <p:nvPr/>
        </p:nvSpPr>
        <p:spPr>
          <a:xfrm>
            <a:off x="5639140" y="5152958"/>
            <a:ext cx="1635950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7" name="Straight Connector 76"/>
          <p:cNvCxnSpPr/>
          <p:nvPr/>
        </p:nvCxnSpPr>
        <p:spPr>
          <a:xfrm>
            <a:off x="6173810" y="5152958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5639140" y="5447682"/>
            <a:ext cx="1635950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6787497" y="5648351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729832" y="5392978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81" name="TextBox 80"/>
          <p:cNvSpPr txBox="1"/>
          <p:nvPr/>
        </p:nvSpPr>
        <p:spPr>
          <a:xfrm>
            <a:off x="5362352" y="5916198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4444" y="4387971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b="1" baseline="30000" dirty="0"/>
              <a:t>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7048" y="4300835"/>
            <a:ext cx="425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b="1" baseline="30000" dirty="0"/>
              <a:t>J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5D770405-BF4C-45D0-ADDC-3132C92500CD}"/>
              </a:ext>
            </a:extLst>
          </p:cNvPr>
          <p:cNvSpPr/>
          <p:nvPr/>
        </p:nvSpPr>
        <p:spPr>
          <a:xfrm>
            <a:off x="380077" y="3941796"/>
            <a:ext cx="11471260" cy="26383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412322-F071-43B3-BA19-099B420CA14E}"/>
              </a:ext>
            </a:extLst>
          </p:cNvPr>
          <p:cNvSpPr/>
          <p:nvPr/>
        </p:nvSpPr>
        <p:spPr>
          <a:xfrm>
            <a:off x="346397" y="1362635"/>
            <a:ext cx="7179891" cy="2215043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20860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178" y="221650"/>
            <a:ext cx="10515600" cy="720090"/>
          </a:xfrm>
        </p:spPr>
        <p:txBody>
          <a:bodyPr/>
          <a:lstStyle/>
          <a:p>
            <a:r>
              <a:rPr lang="en-US" dirty="0"/>
              <a:t>Multivariate Regression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7454700" y="4581629"/>
            <a:ext cx="0" cy="86409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cxnSpLocks/>
          </p:cNvCxnSpPr>
          <p:nvPr/>
        </p:nvCxnSpPr>
        <p:spPr>
          <a:xfrm>
            <a:off x="6407629" y="3517511"/>
            <a:ext cx="0" cy="813246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540277" y="196045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y = </a:t>
            </a:r>
            <a:r>
              <a:rPr lang="en-US" b="1" dirty="0" err="1"/>
              <a:t>Xb</a:t>
            </a:r>
            <a:r>
              <a:rPr lang="en-US" b="1" dirty="0"/>
              <a:t> + 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899036" y="1973056"/>
                <a:ext cx="84841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Find vector </a:t>
                </a:r>
                <a:r>
                  <a:rPr lang="en-US" b="1" dirty="0"/>
                  <a:t>b</a:t>
                </a:r>
                <a:r>
                  <a:rPr lang="en-US" dirty="0"/>
                  <a:t> in R</a:t>
                </a:r>
                <a:r>
                  <a:rPr lang="en-US" baseline="30000" dirty="0"/>
                  <a:t>J</a:t>
                </a:r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sz="1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= Xb</a:t>
                </a:r>
                <a:r>
                  <a:rPr lang="en-US" dirty="0"/>
                  <a:t> is as close as possible to </a:t>
                </a:r>
                <a:r>
                  <a:rPr lang="en-US" b="1" dirty="0"/>
                  <a:t>y</a:t>
                </a:r>
                <a:r>
                  <a:rPr lang="en-US" dirty="0"/>
                  <a:t> (or </a:t>
                </a:r>
                <a:r>
                  <a:rPr lang="en-US" b="1" dirty="0"/>
                  <a:t>e</a:t>
                </a:r>
                <a:r>
                  <a:rPr lang="en-US" dirty="0"/>
                  <a:t> is as small as possible)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036" y="1973056"/>
                <a:ext cx="8484182" cy="369332"/>
              </a:xfrm>
              <a:prstGeom prst="rect">
                <a:avLst/>
              </a:prstGeom>
              <a:blipFill>
                <a:blip r:embed="rId3"/>
                <a:stretch>
                  <a:fillRect l="-647" t="-10000" r="-503" b="-266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7352203" y="4168381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551" y="3794872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1051186" y="5843766"/>
            <a:ext cx="311467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1022611" y="4124503"/>
            <a:ext cx="38100" cy="1728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1051186" y="4896028"/>
            <a:ext cx="1933575" cy="9477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594236" y="4553128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4070380" y="5668626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19" name="Rectangle 18"/>
          <p:cNvSpPr/>
          <p:nvPr/>
        </p:nvSpPr>
        <p:spPr>
          <a:xfrm>
            <a:off x="609170" y="4059971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20" name="Rectangle 19"/>
          <p:cNvSpPr/>
          <p:nvPr/>
        </p:nvSpPr>
        <p:spPr>
          <a:xfrm>
            <a:off x="2899036" y="4610278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1061692" y="4840189"/>
            <a:ext cx="1299824" cy="100257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1060711" y="4791253"/>
            <a:ext cx="1083638" cy="106203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1060711" y="4762678"/>
            <a:ext cx="882169" cy="109061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1089286" y="4810303"/>
            <a:ext cx="624994" cy="102393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1393993" y="4486453"/>
            <a:ext cx="3417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x</a:t>
            </a:r>
            <a:r>
              <a:rPr lang="en-US" b="1" baseline="-25000" dirty="0" err="1"/>
              <a:t>J</a:t>
            </a:r>
            <a:endParaRPr lang="en-US" baseline="-25000" dirty="0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8256659" y="5853291"/>
            <a:ext cx="3114675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 flipV="1">
            <a:off x="8228084" y="4134028"/>
            <a:ext cx="38100" cy="172878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8256659" y="4905553"/>
            <a:ext cx="1933575" cy="94773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466876" y="5019853"/>
            <a:ext cx="95250" cy="11430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11278992" y="5678151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31" name="Rectangle 30"/>
          <p:cNvSpPr/>
          <p:nvPr/>
        </p:nvSpPr>
        <p:spPr>
          <a:xfrm>
            <a:off x="7817782" y="4069496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32" name="Rectangle 31"/>
          <p:cNvSpPr/>
          <p:nvPr/>
        </p:nvSpPr>
        <p:spPr>
          <a:xfrm>
            <a:off x="10107648" y="4619803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8266184" y="4850714"/>
            <a:ext cx="1299824" cy="1002576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8297898" y="4819828"/>
            <a:ext cx="624994" cy="1023938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602605" y="4495978"/>
            <a:ext cx="332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x</a:t>
            </a:r>
            <a:r>
              <a:rPr lang="en-US" b="1" baseline="-25000" dirty="0" err="1"/>
              <a:t>I</a:t>
            </a:r>
            <a:endParaRPr lang="en-US" baseline="-25000" dirty="0"/>
          </a:p>
        </p:txBody>
      </p:sp>
      <p:sp>
        <p:nvSpPr>
          <p:cNvPr id="42" name="TextBox 41"/>
          <p:cNvSpPr txBox="1"/>
          <p:nvPr/>
        </p:nvSpPr>
        <p:spPr>
          <a:xfrm>
            <a:off x="10474444" y="4056277"/>
            <a:ext cx="4122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b="1" baseline="30000" dirty="0"/>
              <a:t>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47429" y="3915396"/>
            <a:ext cx="425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R</a:t>
            </a:r>
            <a:r>
              <a:rPr lang="en-US" sz="2400" b="1" baseline="30000" dirty="0"/>
              <a:t>J</a:t>
            </a:r>
          </a:p>
        </p:txBody>
      </p:sp>
      <p:cxnSp>
        <p:nvCxnSpPr>
          <p:cNvPr id="45" name="Straight Arrow Connector 44"/>
          <p:cNvCxnSpPr>
            <a:cxnSpLocks/>
          </p:cNvCxnSpPr>
          <p:nvPr/>
        </p:nvCxnSpPr>
        <p:spPr>
          <a:xfrm>
            <a:off x="6972664" y="4923799"/>
            <a:ext cx="3287384" cy="398472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 flipH="1">
            <a:off x="2984761" y="4198470"/>
            <a:ext cx="2320285" cy="3170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381302" y="4584776"/>
            <a:ext cx="896415" cy="864096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6529659" y="508016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56538" y="4773349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51" name="TextBox 50"/>
          <p:cNvSpPr txBox="1"/>
          <p:nvPr/>
        </p:nvSpPr>
        <p:spPr>
          <a:xfrm>
            <a:off x="5178915" y="5264835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3260" y="4328244"/>
            <a:ext cx="5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F6BD4C9-1FC9-417A-A74E-6014D745D018}"/>
              </a:ext>
            </a:extLst>
          </p:cNvPr>
          <p:cNvSpPr/>
          <p:nvPr/>
        </p:nvSpPr>
        <p:spPr>
          <a:xfrm>
            <a:off x="406767" y="3241694"/>
            <a:ext cx="11471260" cy="3062961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4363077-B44C-4DBB-BE2D-4E3D9DB8EF0A}"/>
              </a:ext>
            </a:extLst>
          </p:cNvPr>
          <p:cNvSpPr/>
          <p:nvPr/>
        </p:nvSpPr>
        <p:spPr>
          <a:xfrm>
            <a:off x="406766" y="1509353"/>
            <a:ext cx="11471259" cy="1227288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D8B968A-C1D6-4018-86FF-A837B90A8B0C}"/>
                  </a:ext>
                </a:extLst>
              </p:cNvPr>
              <p:cNvSpPr txBox="1"/>
              <p:nvPr/>
            </p:nvSpPr>
            <p:spPr>
              <a:xfrm>
                <a:off x="6687119" y="4161207"/>
                <a:ext cx="1589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D8B968A-C1D6-4018-86FF-A837B90A8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119" y="4161207"/>
                <a:ext cx="158904" cy="369332"/>
              </a:xfrm>
              <a:prstGeom prst="rect">
                <a:avLst/>
              </a:prstGeom>
              <a:blipFill>
                <a:blip r:embed="rId4"/>
                <a:stretch>
                  <a:fillRect l="-3846" t="-6667" r="-84615" b="-6667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7FB8F1B-8DEC-47A9-AF00-EDAC31F70FFA}"/>
              </a:ext>
            </a:extLst>
          </p:cNvPr>
          <p:cNvCxnSpPr/>
          <p:nvPr/>
        </p:nvCxnSpPr>
        <p:spPr>
          <a:xfrm>
            <a:off x="6801510" y="4605693"/>
            <a:ext cx="0" cy="864096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163CA58-75E7-C878-0CD5-CF35D17B75D8}"/>
              </a:ext>
            </a:extLst>
          </p:cNvPr>
          <p:cNvSpPr txBox="1"/>
          <p:nvPr/>
        </p:nvSpPr>
        <p:spPr>
          <a:xfrm>
            <a:off x="2079687" y="3391946"/>
            <a:ext cx="11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space</a:t>
            </a:r>
            <a:endParaRPr lang="en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3C625-39E9-0349-2E94-518FDE7B19CD}"/>
              </a:ext>
            </a:extLst>
          </p:cNvPr>
          <p:cNvSpPr txBox="1"/>
          <p:nvPr/>
        </p:nvSpPr>
        <p:spPr>
          <a:xfrm>
            <a:off x="9049051" y="3391946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Column space</a:t>
            </a:r>
            <a:endParaRPr lang="en-N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E12093-8987-BCBB-5976-FAED0CB73FD7}"/>
              </a:ext>
            </a:extLst>
          </p:cNvPr>
          <p:cNvCxnSpPr>
            <a:cxnSpLocks/>
          </p:cNvCxnSpPr>
          <p:nvPr/>
        </p:nvCxnSpPr>
        <p:spPr>
          <a:xfrm>
            <a:off x="7602268" y="4694599"/>
            <a:ext cx="2828933" cy="382404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039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5182" y="211358"/>
            <a:ext cx="10515600" cy="600076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Projection</a:t>
            </a:r>
          </a:p>
        </p:txBody>
      </p:sp>
      <p:graphicFrame>
        <p:nvGraphicFramePr>
          <p:cNvPr id="195619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6645478"/>
              </p:ext>
            </p:extLst>
          </p:nvPr>
        </p:nvGraphicFramePr>
        <p:xfrm>
          <a:off x="7663654" y="4342855"/>
          <a:ext cx="1629584" cy="1212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15920" imgH="761760" progId="Equation.3">
                  <p:embed/>
                </p:oleObj>
              </mc:Choice>
              <mc:Fallback>
                <p:oleObj name="Equation" r:id="rId3" imgW="1015920" imgH="761760" progId="Equation.3">
                  <p:embed/>
                  <p:pic>
                    <p:nvPicPr>
                      <p:cNvPr id="19561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3654" y="4342855"/>
                        <a:ext cx="1629584" cy="12123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E88B267A-B6B9-49FB-8AB1-257492FFA267}"/>
              </a:ext>
            </a:extLst>
          </p:cNvPr>
          <p:cNvGrpSpPr/>
          <p:nvPr/>
        </p:nvGrpSpPr>
        <p:grpSpPr>
          <a:xfrm>
            <a:off x="5273962" y="1180728"/>
            <a:ext cx="5185676" cy="3123948"/>
            <a:chOff x="5086351" y="323207"/>
            <a:chExt cx="5185676" cy="3742381"/>
          </a:xfrm>
        </p:grpSpPr>
        <p:sp>
          <p:nvSpPr>
            <p:cNvPr id="195607" name="Line 23"/>
            <p:cNvSpPr>
              <a:spLocks noChangeShapeType="1"/>
            </p:cNvSpPr>
            <p:nvPr/>
          </p:nvSpPr>
          <p:spPr bwMode="auto">
            <a:xfrm flipV="1">
              <a:off x="5346701" y="669926"/>
              <a:ext cx="4640263" cy="338296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5608" name="Line 24"/>
            <p:cNvSpPr>
              <a:spLocks noChangeShapeType="1"/>
            </p:cNvSpPr>
            <p:nvPr/>
          </p:nvSpPr>
          <p:spPr bwMode="auto">
            <a:xfrm flipV="1">
              <a:off x="5334000" y="2217738"/>
              <a:ext cx="4502150" cy="18478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grpSp>
          <p:nvGrpSpPr>
            <p:cNvPr id="195613" name="Group 29"/>
            <p:cNvGrpSpPr>
              <a:grpSpLocks/>
            </p:cNvGrpSpPr>
            <p:nvPr/>
          </p:nvGrpSpPr>
          <p:grpSpPr bwMode="auto">
            <a:xfrm>
              <a:off x="9015412" y="1282701"/>
              <a:ext cx="696912" cy="1016000"/>
              <a:chOff x="3453" y="1462"/>
              <a:chExt cx="439" cy="640"/>
            </a:xfrm>
          </p:grpSpPr>
          <p:sp>
            <p:nvSpPr>
              <p:cNvPr id="195609" name="Line 25"/>
              <p:cNvSpPr>
                <a:spLocks noChangeShapeType="1"/>
              </p:cNvSpPr>
              <p:nvPr/>
            </p:nvSpPr>
            <p:spPr bwMode="auto">
              <a:xfrm flipH="1" flipV="1">
                <a:off x="3534" y="1462"/>
                <a:ext cx="358" cy="6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95611" name="Line 27"/>
              <p:cNvSpPr>
                <a:spLocks noChangeShapeType="1"/>
              </p:cNvSpPr>
              <p:nvPr/>
            </p:nvSpPr>
            <p:spPr bwMode="auto">
              <a:xfrm>
                <a:off x="3453" y="1517"/>
                <a:ext cx="64" cy="10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  <p:sp>
            <p:nvSpPr>
              <p:cNvPr id="195612" name="Line 28"/>
              <p:cNvSpPr>
                <a:spLocks noChangeShapeType="1"/>
              </p:cNvSpPr>
              <p:nvPr/>
            </p:nvSpPr>
            <p:spPr bwMode="auto">
              <a:xfrm flipV="1">
                <a:off x="3510" y="1558"/>
                <a:ext cx="84" cy="5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nl-NL"/>
              </a:p>
            </p:txBody>
          </p:sp>
        </p:grpSp>
        <p:sp>
          <p:nvSpPr>
            <p:cNvPr id="195614" name="Text Box 30"/>
            <p:cNvSpPr txBox="1">
              <a:spLocks noChangeArrowheads="1"/>
            </p:cNvSpPr>
            <p:nvPr/>
          </p:nvSpPr>
          <p:spPr bwMode="auto">
            <a:xfrm>
              <a:off x="9954311" y="323207"/>
              <a:ext cx="31771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/>
                <a:t>x</a:t>
              </a:r>
            </a:p>
          </p:txBody>
        </p:sp>
        <p:sp>
          <p:nvSpPr>
            <p:cNvPr id="195615" name="Text Box 31"/>
            <p:cNvSpPr txBox="1">
              <a:spLocks noChangeArrowheads="1"/>
            </p:cNvSpPr>
            <p:nvPr/>
          </p:nvSpPr>
          <p:spPr bwMode="auto">
            <a:xfrm>
              <a:off x="9789180" y="1940869"/>
              <a:ext cx="32412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/>
                <a:t>y</a:t>
              </a:r>
            </a:p>
          </p:txBody>
        </p:sp>
        <p:graphicFrame>
          <p:nvGraphicFramePr>
            <p:cNvPr id="195616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9011726"/>
                </p:ext>
              </p:extLst>
            </p:nvPr>
          </p:nvGraphicFramePr>
          <p:xfrm>
            <a:off x="8864601" y="857250"/>
            <a:ext cx="328613" cy="5270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6720" imgH="203040" progId="Equation.3">
                    <p:embed/>
                  </p:oleObj>
                </mc:Choice>
                <mc:Fallback>
                  <p:oleObj name="Equation" r:id="rId5" imgW="126720" imgH="203040" progId="Equation.3">
                    <p:embed/>
                    <p:pic>
                      <p:nvPicPr>
                        <p:cNvPr id="195616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4601" y="857250"/>
                          <a:ext cx="328613" cy="5270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5617" name="AutoShape 33"/>
            <p:cNvSpPr>
              <a:spLocks/>
            </p:cNvSpPr>
            <p:nvPr/>
          </p:nvSpPr>
          <p:spPr bwMode="auto">
            <a:xfrm rot="3242548">
              <a:off x="6798470" y="389732"/>
              <a:ext cx="511175" cy="3935413"/>
            </a:xfrm>
            <a:prstGeom prst="leftBrace">
              <a:avLst>
                <a:gd name="adj1" fmla="val 6415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5618" name="Text Box 34"/>
            <p:cNvSpPr txBox="1">
              <a:spLocks noChangeArrowheads="1"/>
            </p:cNvSpPr>
            <p:nvPr/>
          </p:nvSpPr>
          <p:spPr bwMode="auto">
            <a:xfrm>
              <a:off x="6634709" y="1748782"/>
              <a:ext cx="34657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2400"/>
                <a:t>b</a:t>
              </a:r>
              <a:endParaRPr lang="en-US" sz="2000"/>
            </a:p>
          </p:txBody>
        </p:sp>
        <p:sp>
          <p:nvSpPr>
            <p:cNvPr id="195620" name="Oval 36"/>
            <p:cNvSpPr>
              <a:spLocks noChangeArrowheads="1"/>
            </p:cNvSpPr>
            <p:nvPr/>
          </p:nvSpPr>
          <p:spPr bwMode="auto">
            <a:xfrm>
              <a:off x="9861550" y="622301"/>
              <a:ext cx="173038" cy="161925"/>
            </a:xfrm>
            <a:prstGeom prst="ellipse">
              <a:avLst/>
            </a:prstGeom>
            <a:solidFill>
              <a:srgbClr val="FF66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95621" name="Oval 37"/>
            <p:cNvSpPr>
              <a:spLocks noChangeArrowheads="1"/>
            </p:cNvSpPr>
            <p:nvPr/>
          </p:nvSpPr>
          <p:spPr bwMode="auto">
            <a:xfrm>
              <a:off x="9636138" y="2195513"/>
              <a:ext cx="173038" cy="161925"/>
            </a:xfrm>
            <a:prstGeom prst="ellipse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nl-NL"/>
            </a:p>
          </p:txBody>
        </p:sp>
      </p:grpSp>
      <p:cxnSp>
        <p:nvCxnSpPr>
          <p:cNvPr id="3" name="Straight Connector 2"/>
          <p:cNvCxnSpPr/>
          <p:nvPr/>
        </p:nvCxnSpPr>
        <p:spPr bwMode="auto">
          <a:xfrm>
            <a:off x="8009450" y="5640589"/>
            <a:ext cx="1079502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2"/>
              <p:cNvSpPr txBox="1">
                <a:spLocks/>
              </p:cNvSpPr>
              <p:nvPr/>
            </p:nvSpPr>
            <p:spPr>
              <a:xfrm>
                <a:off x="295182" y="1497978"/>
                <a:ext cx="4617987" cy="4661043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(Orthogonal) Projection is a matrix calculation used to find the projection of a vector (or matrix) on a subspace.</a:t>
                </a:r>
              </a:p>
              <a:p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sz="2000" dirty="0"/>
                  <a:t> is orthogonally projected on the vector x, and the projection is called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n-US" sz="2000" dirty="0"/>
              </a:p>
              <a:p>
                <a:r>
                  <a:rPr lang="en-US" sz="2000" dirty="0"/>
                  <a:t>Thus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= minimal.</a:t>
                </a:r>
              </a:p>
              <a:p>
                <a:r>
                  <a:rPr lang="en-US" sz="2000" dirty="0"/>
                  <a:t>Projection matrix is idempotent (if you do it twice, the result stays the same).</a:t>
                </a:r>
              </a:p>
            </p:txBody>
          </p:sp>
        </mc:Choice>
        <mc:Fallback xmlns="">
          <p:sp>
            <p:nvSpPr>
              <p:cNvPr id="20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82" y="1497978"/>
                <a:ext cx="4617987" cy="4661043"/>
              </a:xfrm>
              <a:prstGeom prst="rect">
                <a:avLst/>
              </a:prstGeom>
              <a:blipFill>
                <a:blip r:embed="rId7"/>
                <a:stretch>
                  <a:fillRect l="-1187" t="-1440" r="-382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35"/>
              <p:cNvSpPr txBox="1"/>
              <p:nvPr/>
            </p:nvSpPr>
            <p:spPr bwMode="auto">
              <a:xfrm>
                <a:off x="825190" y="4294075"/>
                <a:ext cx="3735659" cy="18649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L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L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NL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L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US" b="1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L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NL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L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L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NL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L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br>
                  <a:rPr lang="en-NL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L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L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NL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L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L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NL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L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br>
                  <a:rPr lang="en-NL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NL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NL" b="1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NL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NL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NL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NL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NL" b="1" dirty="0"/>
              </a:p>
            </p:txBody>
          </p:sp>
        </mc:Choice>
        <mc:Fallback xmlns="">
          <p:sp>
            <p:nvSpPr>
              <p:cNvPr id="22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190" y="4294075"/>
                <a:ext cx="3735659" cy="1864946"/>
              </a:xfrm>
              <a:prstGeom prst="rect">
                <a:avLst/>
              </a:prstGeom>
              <a:blipFill>
                <a:blip r:embed="rId8"/>
                <a:stretch>
                  <a:fillRect t="-980" b="-947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85F1435-20BD-4B71-AFA9-B79E5CDA23FE}"/>
              </a:ext>
            </a:extLst>
          </p:cNvPr>
          <p:cNvSpPr/>
          <p:nvPr/>
        </p:nvSpPr>
        <p:spPr>
          <a:xfrm>
            <a:off x="5217459" y="1080643"/>
            <a:ext cx="5737412" cy="5275705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C68D0D9-6D06-4846-896B-11D84969A4B4}"/>
              </a:ext>
            </a:extLst>
          </p:cNvPr>
          <p:cNvSpPr/>
          <p:nvPr/>
        </p:nvSpPr>
        <p:spPr>
          <a:xfrm>
            <a:off x="206188" y="1080643"/>
            <a:ext cx="4751994" cy="556599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89669CB-0B83-4681-A6ED-9A8730DD62C9}"/>
              </a:ext>
            </a:extLst>
          </p:cNvPr>
          <p:cNvCxnSpPr/>
          <p:nvPr/>
        </p:nvCxnSpPr>
        <p:spPr>
          <a:xfrm flipV="1">
            <a:off x="1471963" y="5464098"/>
            <a:ext cx="702527" cy="256478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BF2186-3D93-42F5-B3FD-25422BA6285C}"/>
              </a:ext>
            </a:extLst>
          </p:cNvPr>
          <p:cNvCxnSpPr>
            <a:cxnSpLocks/>
          </p:cNvCxnSpPr>
          <p:nvPr/>
        </p:nvCxnSpPr>
        <p:spPr>
          <a:xfrm flipV="1">
            <a:off x="2170772" y="5464098"/>
            <a:ext cx="533726" cy="219311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67965D0-FC99-4148-9DD9-3B3B5521217C}"/>
              </a:ext>
            </a:extLst>
          </p:cNvPr>
          <p:cNvCxnSpPr/>
          <p:nvPr/>
        </p:nvCxnSpPr>
        <p:spPr bwMode="auto">
          <a:xfrm>
            <a:off x="1292699" y="4677867"/>
            <a:ext cx="107950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7F90392-BD2A-44D3-9733-6F28C7379BE8}"/>
              </a:ext>
            </a:extLst>
          </p:cNvPr>
          <p:cNvCxnSpPr/>
          <p:nvPr/>
        </p:nvCxnSpPr>
        <p:spPr bwMode="auto">
          <a:xfrm>
            <a:off x="1326152" y="5164803"/>
            <a:ext cx="107950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7659A9-AFB6-4A35-96A6-9C3223B81FF3}"/>
              </a:ext>
            </a:extLst>
          </p:cNvPr>
          <p:cNvCxnSpPr/>
          <p:nvPr/>
        </p:nvCxnSpPr>
        <p:spPr bwMode="auto">
          <a:xfrm>
            <a:off x="2493314" y="5164803"/>
            <a:ext cx="1079502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404939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2A130AA3-FE40-4980-8B12-5327D6A892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54870" y="6365821"/>
            <a:ext cx="452671" cy="365125"/>
          </a:xfrm>
          <a:noFill/>
        </p:spPr>
        <p:txBody>
          <a:bodyPr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787AC20F-2A8B-4ED0-B593-AF6F45E6811A}" type="slidenum">
              <a:rPr lang="en-US" altLang="en-US" sz="1400"/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400" dirty="0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0103F111-5047-4682-88B7-EBD9A94269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718" y="100695"/>
            <a:ext cx="11695166" cy="77678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Multiple Regression: column space representation</a:t>
            </a:r>
          </a:p>
        </p:txBody>
      </p:sp>
      <p:grpSp>
        <p:nvGrpSpPr>
          <p:cNvPr id="29701" name="Group 33">
            <a:extLst>
              <a:ext uri="{FF2B5EF4-FFF2-40B4-BE49-F238E27FC236}">
                <a16:creationId xmlns:a16="http://schemas.microsoft.com/office/drawing/2014/main" id="{1595B02C-BDCE-4565-8893-46997FDF9B2D}"/>
              </a:ext>
            </a:extLst>
          </p:cNvPr>
          <p:cNvGrpSpPr>
            <a:grpSpLocks/>
          </p:cNvGrpSpPr>
          <p:nvPr/>
        </p:nvGrpSpPr>
        <p:grpSpPr bwMode="auto">
          <a:xfrm>
            <a:off x="6717274" y="860425"/>
            <a:ext cx="4017962" cy="5240338"/>
            <a:chOff x="973" y="542"/>
            <a:chExt cx="2531" cy="3301"/>
          </a:xfrm>
        </p:grpSpPr>
        <p:sp>
          <p:nvSpPr>
            <p:cNvPr id="29712" name="AutoShape 4">
              <a:extLst>
                <a:ext uri="{FF2B5EF4-FFF2-40B4-BE49-F238E27FC236}">
                  <a16:creationId xmlns:a16="http://schemas.microsoft.com/office/drawing/2014/main" id="{6D566CEC-199E-4D6D-99A9-2271DEA13BE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037855">
              <a:off x="434" y="1703"/>
              <a:ext cx="3301" cy="979"/>
            </a:xfrm>
            <a:prstGeom prst="diamond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nl-NL" altLang="en-US" sz="2800"/>
            </a:p>
          </p:txBody>
        </p:sp>
        <p:sp>
          <p:nvSpPr>
            <p:cNvPr id="29713" name="Line 5">
              <a:extLst>
                <a:ext uri="{FF2B5EF4-FFF2-40B4-BE49-F238E27FC236}">
                  <a16:creationId xmlns:a16="http://schemas.microsoft.com/office/drawing/2014/main" id="{77634D04-F2F6-4967-A18F-62AC747D78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96" y="1690"/>
              <a:ext cx="1503" cy="18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L"/>
            </a:p>
          </p:txBody>
        </p:sp>
        <p:grpSp>
          <p:nvGrpSpPr>
            <p:cNvPr id="29714" name="Group 6">
              <a:extLst>
                <a:ext uri="{FF2B5EF4-FFF2-40B4-BE49-F238E27FC236}">
                  <a16:creationId xmlns:a16="http://schemas.microsoft.com/office/drawing/2014/main" id="{D853B020-01A9-41AB-9A2B-FA21E06E15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5" y="1679"/>
              <a:ext cx="769" cy="590"/>
              <a:chOff x="1944" y="2269"/>
              <a:chExt cx="521" cy="429"/>
            </a:xfrm>
          </p:grpSpPr>
          <p:sp>
            <p:nvSpPr>
              <p:cNvPr id="29727" name="Line 7">
                <a:extLst>
                  <a:ext uri="{FF2B5EF4-FFF2-40B4-BE49-F238E27FC236}">
                    <a16:creationId xmlns:a16="http://schemas.microsoft.com/office/drawing/2014/main" id="{0FA62FC5-DF05-440C-A215-0CF6BC9E8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22" y="2269"/>
                <a:ext cx="443" cy="4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L"/>
              </a:p>
            </p:txBody>
          </p:sp>
          <p:sp>
            <p:nvSpPr>
              <p:cNvPr id="29728" name="Line 8">
                <a:extLst>
                  <a:ext uri="{FF2B5EF4-FFF2-40B4-BE49-F238E27FC236}">
                    <a16:creationId xmlns:a16="http://schemas.microsoft.com/office/drawing/2014/main" id="{7191062C-4DF0-4A14-AC5A-06BF04962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30" y="2362"/>
                <a:ext cx="82" cy="11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L"/>
              </a:p>
            </p:txBody>
          </p:sp>
          <p:sp>
            <p:nvSpPr>
              <p:cNvPr id="29729" name="Line 9">
                <a:extLst>
                  <a:ext uri="{FF2B5EF4-FFF2-40B4-BE49-F238E27FC236}">
                    <a16:creationId xmlns:a16="http://schemas.microsoft.com/office/drawing/2014/main" id="{2DC0A24D-E61C-468D-85AA-469F76A6D0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44" y="2386"/>
                <a:ext cx="96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L"/>
              </a:p>
            </p:txBody>
          </p:sp>
        </p:grpSp>
        <p:graphicFrame>
          <p:nvGraphicFramePr>
            <p:cNvPr id="29715" name="Object 14">
              <a:extLst>
                <a:ext uri="{FF2B5EF4-FFF2-40B4-BE49-F238E27FC236}">
                  <a16:creationId xmlns:a16="http://schemas.microsoft.com/office/drawing/2014/main" id="{0AD596B5-4B51-4BC6-A6FA-9A41BDCD22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0" y="1491"/>
            <a:ext cx="294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4885" imgH="215619" progId="Equation.3">
                    <p:embed/>
                  </p:oleObj>
                </mc:Choice>
                <mc:Fallback>
                  <p:oleObj name="Equation" r:id="rId2" imgW="164885" imgH="215619" progId="Equation.3">
                    <p:embed/>
                    <p:pic>
                      <p:nvPicPr>
                        <p:cNvPr id="29715" name="Object 14">
                          <a:extLst>
                            <a:ext uri="{FF2B5EF4-FFF2-40B4-BE49-F238E27FC236}">
                              <a16:creationId xmlns:a16="http://schemas.microsoft.com/office/drawing/2014/main" id="{0AD596B5-4B51-4BC6-A6FA-9A41BDCD222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" y="1491"/>
                          <a:ext cx="294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6" name="Line 15">
              <a:extLst>
                <a:ext uri="{FF2B5EF4-FFF2-40B4-BE49-F238E27FC236}">
                  <a16:creationId xmlns:a16="http://schemas.microsoft.com/office/drawing/2014/main" id="{85C47F96-5BDF-4FA7-A625-AACD3642CA3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67725" flipV="1">
              <a:off x="996" y="2460"/>
              <a:ext cx="1493" cy="10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L"/>
            </a:p>
          </p:txBody>
        </p:sp>
        <p:sp>
          <p:nvSpPr>
            <p:cNvPr id="29717" name="Oval 16">
              <a:extLst>
                <a:ext uri="{FF2B5EF4-FFF2-40B4-BE49-F238E27FC236}">
                  <a16:creationId xmlns:a16="http://schemas.microsoft.com/office/drawing/2014/main" id="{888A6A84-FB87-46A9-A7C6-326245B20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3" y="2362"/>
              <a:ext cx="161" cy="14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nl-NL" altLang="en-US" sz="2800"/>
            </a:p>
          </p:txBody>
        </p:sp>
        <p:graphicFrame>
          <p:nvGraphicFramePr>
            <p:cNvPr id="29718" name="Object 17">
              <a:extLst>
                <a:ext uri="{FF2B5EF4-FFF2-40B4-BE49-F238E27FC236}">
                  <a16:creationId xmlns:a16="http://schemas.microsoft.com/office/drawing/2014/main" id="{92C32388-1DAD-43F8-92AF-CA9A47BE6C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73" y="2060"/>
            <a:ext cx="317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77569" imgH="215619" progId="Equation.3">
                    <p:embed/>
                  </p:oleObj>
                </mc:Choice>
                <mc:Fallback>
                  <p:oleObj name="Equation" r:id="rId4" imgW="177569" imgH="215619" progId="Equation.3">
                    <p:embed/>
                    <p:pic>
                      <p:nvPicPr>
                        <p:cNvPr id="29718" name="Object 17">
                          <a:extLst>
                            <a:ext uri="{FF2B5EF4-FFF2-40B4-BE49-F238E27FC236}">
                              <a16:creationId xmlns:a16="http://schemas.microsoft.com/office/drawing/2014/main" id="{92C32388-1DAD-43F8-92AF-CA9A47BE6C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73" y="2060"/>
                          <a:ext cx="317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Oval 18">
              <a:extLst>
                <a:ext uri="{FF2B5EF4-FFF2-40B4-BE49-F238E27FC236}">
                  <a16:creationId xmlns:a16="http://schemas.microsoft.com/office/drawing/2014/main" id="{F6E75B3A-2360-4187-B6DF-DEA6007C58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2223"/>
              <a:ext cx="161" cy="140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•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–"/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lnSpc>
                  <a:spcPct val="110000"/>
                </a:lnSpc>
                <a:spcBef>
                  <a:spcPct val="20000"/>
                </a:spcBef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Char char="»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nl-NL" altLang="en-US" sz="2800"/>
            </a:p>
          </p:txBody>
        </p:sp>
        <p:sp>
          <p:nvSpPr>
            <p:cNvPr id="29720" name="Line 19">
              <a:extLst>
                <a:ext uri="{FF2B5EF4-FFF2-40B4-BE49-F238E27FC236}">
                  <a16:creationId xmlns:a16="http://schemas.microsoft.com/office/drawing/2014/main" id="{09E9C4D4-E326-4A21-9E4D-75E1E94CA7C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83109" flipV="1">
              <a:off x="997" y="2273"/>
              <a:ext cx="2224" cy="12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NL"/>
            </a:p>
          </p:txBody>
        </p:sp>
        <p:graphicFrame>
          <p:nvGraphicFramePr>
            <p:cNvPr id="29721" name="Object 20">
              <a:extLst>
                <a:ext uri="{FF2B5EF4-FFF2-40B4-BE49-F238E27FC236}">
                  <a16:creationId xmlns:a16="http://schemas.microsoft.com/office/drawing/2014/main" id="{A7CBCAB4-FD4B-49E2-BBEC-20B768FD348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78" y="1946"/>
            <a:ext cx="226" cy="2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6780" imgH="164814" progId="Equation.3">
                    <p:embed/>
                  </p:oleObj>
                </mc:Choice>
                <mc:Fallback>
                  <p:oleObj name="Equation" r:id="rId6" imgW="126780" imgH="164814" progId="Equation.3">
                    <p:embed/>
                    <p:pic>
                      <p:nvPicPr>
                        <p:cNvPr id="29721" name="Object 20">
                          <a:extLst>
                            <a:ext uri="{FF2B5EF4-FFF2-40B4-BE49-F238E27FC236}">
                              <a16:creationId xmlns:a16="http://schemas.microsoft.com/office/drawing/2014/main" id="{A7CBCAB4-FD4B-49E2-BBEC-20B768FD348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8" y="1946"/>
                          <a:ext cx="226" cy="2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2" name="Object 21">
              <a:extLst>
                <a:ext uri="{FF2B5EF4-FFF2-40B4-BE49-F238E27FC236}">
                  <a16:creationId xmlns:a16="http://schemas.microsoft.com/office/drawing/2014/main" id="{22D21E66-6554-4419-B542-3F9AD602E3C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40" y="1371"/>
            <a:ext cx="226" cy="3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26835" imgH="202936" progId="Equation.3">
                    <p:embed/>
                  </p:oleObj>
                </mc:Choice>
                <mc:Fallback>
                  <p:oleObj name="Equation" r:id="rId8" imgW="126835" imgH="202936" progId="Equation.3">
                    <p:embed/>
                    <p:pic>
                      <p:nvPicPr>
                        <p:cNvPr id="29722" name="Object 21">
                          <a:extLst>
                            <a:ext uri="{FF2B5EF4-FFF2-40B4-BE49-F238E27FC236}">
                              <a16:creationId xmlns:a16="http://schemas.microsoft.com/office/drawing/2014/main" id="{22D21E66-6554-4419-B542-3F9AD602E3C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0" y="1371"/>
                          <a:ext cx="226" cy="33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723" name="Group 32">
              <a:extLst>
                <a:ext uri="{FF2B5EF4-FFF2-40B4-BE49-F238E27FC236}">
                  <a16:creationId xmlns:a16="http://schemas.microsoft.com/office/drawing/2014/main" id="{7D45679D-FE70-4419-9715-1A91DF82F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3" y="1821"/>
              <a:ext cx="790" cy="1698"/>
              <a:chOff x="973" y="1821"/>
              <a:chExt cx="790" cy="1698"/>
            </a:xfrm>
          </p:grpSpPr>
          <p:sp>
            <p:nvSpPr>
              <p:cNvPr id="29724" name="Line 12">
                <a:extLst>
                  <a:ext uri="{FF2B5EF4-FFF2-40B4-BE49-F238E27FC236}">
                    <a16:creationId xmlns:a16="http://schemas.microsoft.com/office/drawing/2014/main" id="{9446BD7C-CF2D-431E-904E-D5DF703C1E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21592613" flipV="1">
                <a:off x="1012" y="1920"/>
                <a:ext cx="687" cy="15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NL"/>
              </a:p>
            </p:txBody>
          </p:sp>
          <p:sp>
            <p:nvSpPr>
              <p:cNvPr id="29725" name="Oval 13">
                <a:extLst>
                  <a:ext uri="{FF2B5EF4-FFF2-40B4-BE49-F238E27FC236}">
                    <a16:creationId xmlns:a16="http://schemas.microsoft.com/office/drawing/2014/main" id="{8447F9D4-00BC-4907-8F63-E387ECF404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2" y="1821"/>
                <a:ext cx="161" cy="140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nl-NL" altLang="en-US" sz="2800"/>
              </a:p>
            </p:txBody>
          </p:sp>
          <p:sp>
            <p:nvSpPr>
              <p:cNvPr id="29726" name="Oval 22">
                <a:extLst>
                  <a:ext uri="{FF2B5EF4-FFF2-40B4-BE49-F238E27FC236}">
                    <a16:creationId xmlns:a16="http://schemas.microsoft.com/office/drawing/2014/main" id="{09F0F7BB-431A-4739-A68E-455A33633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3" y="3464"/>
                <a:ext cx="72" cy="5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•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–"/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lnSpc>
                    <a:spcPct val="110000"/>
                  </a:lnSpc>
                  <a:spcBef>
                    <a:spcPct val="20000"/>
                  </a:spcBef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Char char="»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  <a:buClrTx/>
                  <a:buFontTx/>
                  <a:buNone/>
                </a:pPr>
                <a:endParaRPr lang="nl-NL" altLang="en-US" sz="2800"/>
              </a:p>
            </p:txBody>
          </p:sp>
        </p:grpSp>
      </p:grpSp>
      <p:sp>
        <p:nvSpPr>
          <p:cNvPr id="29702" name="Line 23">
            <a:extLst>
              <a:ext uri="{FF2B5EF4-FFF2-40B4-BE49-F238E27FC236}">
                <a16:creationId xmlns:a16="http://schemas.microsoft.com/office/drawing/2014/main" id="{D00AD726-EA86-4ADA-B343-E83F604B23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19061" y="2727326"/>
            <a:ext cx="793750" cy="1774825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L"/>
          </a:p>
        </p:txBody>
      </p:sp>
      <p:sp>
        <p:nvSpPr>
          <p:cNvPr id="29703" name="Line 24">
            <a:extLst>
              <a:ext uri="{FF2B5EF4-FFF2-40B4-BE49-F238E27FC236}">
                <a16:creationId xmlns:a16="http://schemas.microsoft.com/office/drawing/2014/main" id="{ABC1CF67-7DC7-484F-87E1-C608DF779C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11024" y="2728914"/>
            <a:ext cx="1585912" cy="1125537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L"/>
          </a:p>
        </p:txBody>
      </p:sp>
      <p:sp>
        <p:nvSpPr>
          <p:cNvPr id="29704" name="AutoShape 25">
            <a:extLst>
              <a:ext uri="{FF2B5EF4-FFF2-40B4-BE49-F238E27FC236}">
                <a16:creationId xmlns:a16="http://schemas.microsoft.com/office/drawing/2014/main" id="{74306F84-45C0-476E-9062-496B5854373F}"/>
              </a:ext>
            </a:extLst>
          </p:cNvPr>
          <p:cNvSpPr>
            <a:spLocks/>
          </p:cNvSpPr>
          <p:nvPr/>
        </p:nvSpPr>
        <p:spPr bwMode="auto">
          <a:xfrm rot="14132396">
            <a:off x="7562618" y="4314032"/>
            <a:ext cx="320675" cy="1700212"/>
          </a:xfrm>
          <a:prstGeom prst="leftBrace">
            <a:avLst>
              <a:gd name="adj1" fmla="val 4418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nl-NL" altLang="en-US" sz="2800"/>
          </a:p>
        </p:txBody>
      </p:sp>
      <p:sp>
        <p:nvSpPr>
          <p:cNvPr id="29705" name="AutoShape 26">
            <a:extLst>
              <a:ext uri="{FF2B5EF4-FFF2-40B4-BE49-F238E27FC236}">
                <a16:creationId xmlns:a16="http://schemas.microsoft.com/office/drawing/2014/main" id="{D8F90B05-2421-403E-87BE-2AD86525BBF8}"/>
              </a:ext>
            </a:extLst>
          </p:cNvPr>
          <p:cNvSpPr>
            <a:spLocks/>
          </p:cNvSpPr>
          <p:nvPr/>
        </p:nvSpPr>
        <p:spPr bwMode="auto">
          <a:xfrm rot="1367529">
            <a:off x="6658536" y="3716338"/>
            <a:ext cx="465138" cy="1700212"/>
          </a:xfrm>
          <a:prstGeom prst="leftBrace">
            <a:avLst>
              <a:gd name="adj1" fmla="val 30461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nl-NL" altLang="en-US" sz="2800"/>
          </a:p>
        </p:txBody>
      </p:sp>
      <p:sp>
        <p:nvSpPr>
          <p:cNvPr id="29706" name="Text Box 27">
            <a:extLst>
              <a:ext uri="{FF2B5EF4-FFF2-40B4-BE49-F238E27FC236}">
                <a16:creationId xmlns:a16="http://schemas.microsoft.com/office/drawing/2014/main" id="{25B956DC-99C6-4359-8018-06736B5EEC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9761" y="4175126"/>
            <a:ext cx="43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b</a:t>
            </a:r>
            <a:r>
              <a:rPr lang="en-US" altLang="en-US" sz="2000" baseline="-25000"/>
              <a:t>1</a:t>
            </a:r>
            <a:endParaRPr lang="en-US" altLang="en-US" sz="2000"/>
          </a:p>
        </p:txBody>
      </p:sp>
      <p:sp>
        <p:nvSpPr>
          <p:cNvPr id="29707" name="Text Box 28">
            <a:extLst>
              <a:ext uri="{FF2B5EF4-FFF2-40B4-BE49-F238E27FC236}">
                <a16:creationId xmlns:a16="http://schemas.microsoft.com/office/drawing/2014/main" id="{2DB22FEB-BCE9-4B41-8599-E48562FCB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286" y="5251451"/>
            <a:ext cx="43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/>
              <a:t>b</a:t>
            </a:r>
            <a:r>
              <a:rPr lang="en-US" altLang="en-US" sz="2000" baseline="-25000"/>
              <a:t>2</a:t>
            </a:r>
            <a:endParaRPr lang="en-US" altLang="en-US" sz="2000"/>
          </a:p>
        </p:txBody>
      </p:sp>
      <p:graphicFrame>
        <p:nvGraphicFramePr>
          <p:cNvPr id="29709" name="Object 30">
            <a:extLst>
              <a:ext uri="{FF2B5EF4-FFF2-40B4-BE49-F238E27FC236}">
                <a16:creationId xmlns:a16="http://schemas.microsoft.com/office/drawing/2014/main" id="{87B6B18C-EA8D-4D5F-BFFE-7DA9D600CF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9469546"/>
              </p:ext>
            </p:extLst>
          </p:nvPr>
        </p:nvGraphicFramePr>
        <p:xfrm>
          <a:off x="578783" y="1805735"/>
          <a:ext cx="2621617" cy="1073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117600" imgH="457200" progId="Equation.3">
                  <p:embed/>
                </p:oleObj>
              </mc:Choice>
              <mc:Fallback>
                <p:oleObj name="Equation" r:id="rId10" imgW="1117600" imgH="457200" progId="Equation.3">
                  <p:embed/>
                  <p:pic>
                    <p:nvPicPr>
                      <p:cNvPr id="29709" name="Object 30">
                        <a:extLst>
                          <a:ext uri="{FF2B5EF4-FFF2-40B4-BE49-F238E27FC236}">
                            <a16:creationId xmlns:a16="http://schemas.microsoft.com/office/drawing/2014/main" id="{87B6B18C-EA8D-4D5F-BFFE-7DA9D600CF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783" y="1805735"/>
                        <a:ext cx="2621617" cy="10731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0" name="Text Box 31">
            <a:extLst>
              <a:ext uri="{FF2B5EF4-FFF2-40B4-BE49-F238E27FC236}">
                <a16:creationId xmlns:a16="http://schemas.microsoft.com/office/drawing/2014/main" id="{98F10EC5-AC9C-4B61-B35E-0EF649381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8911" y="2901951"/>
            <a:ext cx="3254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b="1" dirty="0"/>
              <a:t>e</a:t>
            </a:r>
          </a:p>
        </p:txBody>
      </p:sp>
      <p:sp>
        <p:nvSpPr>
          <p:cNvPr id="29711" name="TextBox 1">
            <a:extLst>
              <a:ext uri="{FF2B5EF4-FFF2-40B4-BE49-F238E27FC236}">
                <a16:creationId xmlns:a16="http://schemas.microsoft.com/office/drawing/2014/main" id="{9998343F-33FE-48E7-9429-553537C8A1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151" y="1358061"/>
            <a:ext cx="18978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•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X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,X</a:t>
            </a:r>
            <a:r>
              <a:rPr lang="en-US" altLang="en-US" sz="2000" baseline="-25000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US" alt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orthogonal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C4294D-97E4-496D-AFF2-EC472DADB70A}"/>
              </a:ext>
            </a:extLst>
          </p:cNvPr>
          <p:cNvSpPr/>
          <p:nvPr/>
        </p:nvSpPr>
        <p:spPr>
          <a:xfrm>
            <a:off x="5217459" y="1080643"/>
            <a:ext cx="5737412" cy="4809169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47F3F2F-3780-43F0-92F7-203261F6BE98}"/>
              </a:ext>
            </a:extLst>
          </p:cNvPr>
          <p:cNvSpPr/>
          <p:nvPr/>
        </p:nvSpPr>
        <p:spPr>
          <a:xfrm>
            <a:off x="346398" y="1080643"/>
            <a:ext cx="3771054" cy="4809169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Object 35">
                <a:extLst>
                  <a:ext uri="{FF2B5EF4-FFF2-40B4-BE49-F238E27FC236}">
                    <a16:creationId xmlns:a16="http://schemas.microsoft.com/office/drawing/2014/main" id="{8F9A6CF9-E38F-4513-B660-8AFF776EE9E6}"/>
                  </a:ext>
                </a:extLst>
              </p:cNvPr>
              <p:cNvSpPr txBox="1"/>
              <p:nvPr/>
            </p:nvSpPr>
            <p:spPr bwMode="auto">
              <a:xfrm>
                <a:off x="578783" y="3691364"/>
                <a:ext cx="2717870" cy="1658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L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NL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</m:oMath>
                    <m:oMath xmlns:m="http://schemas.openxmlformats.org/officeDocument/2006/math">
                      <m:r>
                        <a:rPr lang="en-NL" sz="2400" b="1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en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en-NL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  <m:sup>
                          <m: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NL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sSup>
                        <m:sSupPr>
                          <m:ctrlP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NL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NL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𝐗</m:t>
                                  </m:r>
                                </m:e>
                                <m:sup>
                                  <m:r>
                                    <a:rPr lang="en-NL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1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𝐗</m:t>
                              </m:r>
                            </m:e>
                          </m:d>
                        </m:e>
                        <m:sup>
                          <m: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p>
                          <m:r>
                            <a:rPr lang="en-NL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NL" sz="24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</m:oMath>
                  </m:oMathPara>
                </a14:m>
                <a:endParaRPr lang="en-NL" sz="2400" b="1" dirty="0"/>
              </a:p>
            </p:txBody>
          </p:sp>
        </mc:Choice>
        <mc:Fallback xmlns="">
          <p:sp>
            <p:nvSpPr>
              <p:cNvPr id="36" name="Object 35">
                <a:extLst>
                  <a:ext uri="{FF2B5EF4-FFF2-40B4-BE49-F238E27FC236}">
                    <a16:creationId xmlns:a16="http://schemas.microsoft.com/office/drawing/2014/main" id="{8F9A6CF9-E38F-4513-B660-8AFF776EE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8783" y="3691364"/>
                <a:ext cx="2717870" cy="1658938"/>
              </a:xfrm>
              <a:prstGeom prst="rect">
                <a:avLst/>
              </a:prstGeom>
              <a:blipFill>
                <a:blip r:embed="rId12"/>
                <a:stretch>
                  <a:fillRect l="-897" t="-73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CE30A1-4B45-44E4-98DC-CF4B1FFA5779}"/>
              </a:ext>
            </a:extLst>
          </p:cNvPr>
          <p:cNvCxnSpPr>
            <a:cxnSpLocks/>
          </p:cNvCxnSpPr>
          <p:nvPr/>
        </p:nvCxnSpPr>
        <p:spPr>
          <a:xfrm>
            <a:off x="1156447" y="4936591"/>
            <a:ext cx="1397581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41" y="216038"/>
            <a:ext cx="10515600" cy="641212"/>
          </a:xfrm>
        </p:spPr>
        <p:txBody>
          <a:bodyPr>
            <a:normAutofit fontScale="90000"/>
          </a:bodyPr>
          <a:lstStyle/>
          <a:p>
            <a:r>
              <a:rPr lang="en-US" dirty="0"/>
              <a:t>Centering and Scaling geometrically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1940" y="1397119"/>
            <a:ext cx="485775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Subtract mean of each column.</a:t>
            </a:r>
          </a:p>
          <a:p>
            <a:r>
              <a:rPr lang="en-US" sz="2000" dirty="0"/>
              <a:t>Centering to focus analysis on differences between samples and not how they all are different from 0.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459790" y="1397119"/>
            <a:ext cx="48577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Divide each column by its standard deviation</a:t>
            </a:r>
          </a:p>
          <a:p>
            <a:r>
              <a:rPr lang="en-US" sz="2000" dirty="0"/>
              <a:t>Scaling is performed to make spread of data in all variables comparable.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390940" y="5561199"/>
            <a:ext cx="311467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 flipV="1">
            <a:off x="4362365" y="3841936"/>
            <a:ext cx="38100" cy="1728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4390940" y="4613461"/>
            <a:ext cx="1933575" cy="9477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3981365" y="50611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133765" y="52135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286165" y="53659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438565" y="55183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590965" y="56707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743365" y="58231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4143290" y="537546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4162340" y="552786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4314740" y="568026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67140" y="583266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4390940" y="518496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4543340" y="533736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4686215" y="55945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4848140" y="564216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410134" y="5386059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23" name="Rectangle 22"/>
          <p:cNvSpPr/>
          <p:nvPr/>
        </p:nvSpPr>
        <p:spPr>
          <a:xfrm>
            <a:off x="3948924" y="3777404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24" name="Rectangle 23"/>
          <p:cNvSpPr/>
          <p:nvPr/>
        </p:nvSpPr>
        <p:spPr>
          <a:xfrm>
            <a:off x="6307305" y="4376408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4419515" y="4533892"/>
            <a:ext cx="1299824" cy="100257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4400465" y="4508686"/>
            <a:ext cx="1083638" cy="106203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V="1">
            <a:off x="4400465" y="4480111"/>
            <a:ext cx="882169" cy="109061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V="1">
            <a:off x="4429040" y="4527736"/>
            <a:ext cx="624994" cy="102393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733747" y="4203886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J</a:t>
            </a:r>
            <a:endParaRPr lang="en-US" baseline="-25000" dirty="0"/>
          </a:p>
        </p:txBody>
      </p:sp>
      <p:cxnSp>
        <p:nvCxnSpPr>
          <p:cNvPr id="56" name="Straight Arrow Connector 55"/>
          <p:cNvCxnSpPr/>
          <p:nvPr/>
        </p:nvCxnSpPr>
        <p:spPr>
          <a:xfrm flipV="1">
            <a:off x="8417928" y="5525240"/>
            <a:ext cx="1916365" cy="2473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flipH="1" flipV="1">
            <a:off x="8408403" y="4376408"/>
            <a:ext cx="19050" cy="118309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8417928" y="4192658"/>
            <a:ext cx="2797123" cy="135731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8865001" y="5177599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/>
          <p:nvPr/>
        </p:nvSpPr>
        <p:spPr>
          <a:xfrm>
            <a:off x="8160753" y="5202308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8313153" y="5354708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8465553" y="5507108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8617953" y="5659508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Oval 63"/>
          <p:cNvSpPr/>
          <p:nvPr/>
        </p:nvSpPr>
        <p:spPr>
          <a:xfrm>
            <a:off x="8770353" y="5378773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Oval 64"/>
          <p:cNvSpPr/>
          <p:nvPr/>
        </p:nvSpPr>
        <p:spPr>
          <a:xfrm>
            <a:off x="8170278" y="5364233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89328" y="5516633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341728" y="5669033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8494128" y="5754058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Oval 68"/>
          <p:cNvSpPr/>
          <p:nvPr/>
        </p:nvSpPr>
        <p:spPr>
          <a:xfrm>
            <a:off x="8417928" y="5173733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/>
          <p:cNvSpPr/>
          <p:nvPr/>
        </p:nvSpPr>
        <p:spPr>
          <a:xfrm>
            <a:off x="8570328" y="5326133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713203" y="5583308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/>
          <p:cNvSpPr/>
          <p:nvPr/>
        </p:nvSpPr>
        <p:spPr>
          <a:xfrm>
            <a:off x="8652643" y="5429652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11437122" y="5374831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74" name="Rectangle 73"/>
          <p:cNvSpPr/>
          <p:nvPr/>
        </p:nvSpPr>
        <p:spPr>
          <a:xfrm>
            <a:off x="7975912" y="3766176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75" name="Rectangle 74"/>
          <p:cNvSpPr/>
          <p:nvPr/>
        </p:nvSpPr>
        <p:spPr>
          <a:xfrm>
            <a:off x="10334293" y="4365180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76" name="Straight Arrow Connector 75"/>
          <p:cNvCxnSpPr>
            <a:cxnSpLocks/>
          </p:cNvCxnSpPr>
          <p:nvPr/>
        </p:nvCxnSpPr>
        <p:spPr>
          <a:xfrm flipV="1">
            <a:off x="8446503" y="4289989"/>
            <a:ext cx="1697356" cy="123525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8427453" y="4496815"/>
            <a:ext cx="1083638" cy="106203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V="1">
            <a:off x="8427453" y="4468883"/>
            <a:ext cx="882169" cy="109061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V="1">
            <a:off x="8456028" y="4516508"/>
            <a:ext cx="624994" cy="102393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8760735" y="4192658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J</a:t>
            </a:r>
            <a:endParaRPr lang="en-US" baseline="-250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992B6AE-6FC1-4FB7-8A95-907290941CF3}"/>
              </a:ext>
            </a:extLst>
          </p:cNvPr>
          <p:cNvSpPr/>
          <p:nvPr/>
        </p:nvSpPr>
        <p:spPr>
          <a:xfrm>
            <a:off x="188007" y="3573389"/>
            <a:ext cx="11840554" cy="2638300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C000DCF3-6C3D-4B5B-9927-EAFCE7D58F13}"/>
              </a:ext>
            </a:extLst>
          </p:cNvPr>
          <p:cNvSpPr/>
          <p:nvPr/>
        </p:nvSpPr>
        <p:spPr>
          <a:xfrm>
            <a:off x="406767" y="1260575"/>
            <a:ext cx="11020788" cy="180776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C5539F0-70FD-7DA0-6D3A-D19F3FCB5985}"/>
              </a:ext>
            </a:extLst>
          </p:cNvPr>
          <p:cNvCxnSpPr/>
          <p:nvPr/>
        </p:nvCxnSpPr>
        <p:spPr>
          <a:xfrm>
            <a:off x="330373" y="5551674"/>
            <a:ext cx="311467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A25F65-3A30-A756-8B15-C7B38729EC85}"/>
              </a:ext>
            </a:extLst>
          </p:cNvPr>
          <p:cNvCxnSpPr/>
          <p:nvPr/>
        </p:nvCxnSpPr>
        <p:spPr>
          <a:xfrm flipH="1" flipV="1">
            <a:off x="301798" y="3832411"/>
            <a:ext cx="38100" cy="172878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E85F6FE-90D0-365E-F854-06CCB6FC903F}"/>
              </a:ext>
            </a:extLst>
          </p:cNvPr>
          <p:cNvCxnSpPr/>
          <p:nvPr/>
        </p:nvCxnSpPr>
        <p:spPr>
          <a:xfrm flipV="1">
            <a:off x="330373" y="4603936"/>
            <a:ext cx="1933575" cy="9477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E71115A0-22AF-B62D-B7A4-062ABAE7C30B}"/>
              </a:ext>
            </a:extLst>
          </p:cNvPr>
          <p:cNvSpPr/>
          <p:nvPr/>
        </p:nvSpPr>
        <p:spPr>
          <a:xfrm>
            <a:off x="1463848" y="413721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425CF6D-C37F-49BA-33C3-8AFF247359F1}"/>
              </a:ext>
            </a:extLst>
          </p:cNvPr>
          <p:cNvSpPr/>
          <p:nvPr/>
        </p:nvSpPr>
        <p:spPr>
          <a:xfrm>
            <a:off x="1616248" y="428961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C3310AD-D9B2-7CF3-80EE-D7E75B851B01}"/>
              </a:ext>
            </a:extLst>
          </p:cNvPr>
          <p:cNvSpPr/>
          <p:nvPr/>
        </p:nvSpPr>
        <p:spPr>
          <a:xfrm>
            <a:off x="1768648" y="444201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630F17C9-F2AD-05D4-8017-5C8CEA848969}"/>
              </a:ext>
            </a:extLst>
          </p:cNvPr>
          <p:cNvSpPr/>
          <p:nvPr/>
        </p:nvSpPr>
        <p:spPr>
          <a:xfrm>
            <a:off x="1921048" y="459441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279E9A9-44BB-0D7B-03B7-5C6D6112A03B}"/>
              </a:ext>
            </a:extLst>
          </p:cNvPr>
          <p:cNvSpPr/>
          <p:nvPr/>
        </p:nvSpPr>
        <p:spPr>
          <a:xfrm>
            <a:off x="2073448" y="474681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9288E8C-FAE1-0923-4F47-000AE871C19F}"/>
              </a:ext>
            </a:extLst>
          </p:cNvPr>
          <p:cNvSpPr/>
          <p:nvPr/>
        </p:nvSpPr>
        <p:spPr>
          <a:xfrm>
            <a:off x="2225848" y="489921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5CF0DC-357F-5D83-49C1-DCBA0FC6DDC8}"/>
              </a:ext>
            </a:extLst>
          </p:cNvPr>
          <p:cNvSpPr/>
          <p:nvPr/>
        </p:nvSpPr>
        <p:spPr>
          <a:xfrm>
            <a:off x="1625773" y="44515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214775A-62F3-3836-81EC-2C60F8F6F3D5}"/>
              </a:ext>
            </a:extLst>
          </p:cNvPr>
          <p:cNvSpPr/>
          <p:nvPr/>
        </p:nvSpPr>
        <p:spPr>
          <a:xfrm>
            <a:off x="1644823" y="46039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CE76329-D903-7335-8AC0-82B39B0B68E7}"/>
              </a:ext>
            </a:extLst>
          </p:cNvPr>
          <p:cNvSpPr/>
          <p:nvPr/>
        </p:nvSpPr>
        <p:spPr>
          <a:xfrm>
            <a:off x="1797223" y="47563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AD382E6-619A-E174-DE36-7DAA7E77EC1A}"/>
              </a:ext>
            </a:extLst>
          </p:cNvPr>
          <p:cNvSpPr/>
          <p:nvPr/>
        </p:nvSpPr>
        <p:spPr>
          <a:xfrm>
            <a:off x="1949623" y="49087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2D9B06D-CDC8-2FC3-D5BF-FF619133C452}"/>
              </a:ext>
            </a:extLst>
          </p:cNvPr>
          <p:cNvSpPr/>
          <p:nvPr/>
        </p:nvSpPr>
        <p:spPr>
          <a:xfrm>
            <a:off x="1873423" y="42610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1978986-8177-E937-1E06-324EB1BC0F12}"/>
              </a:ext>
            </a:extLst>
          </p:cNvPr>
          <p:cNvSpPr/>
          <p:nvPr/>
        </p:nvSpPr>
        <p:spPr>
          <a:xfrm>
            <a:off x="2025823" y="44134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A5682C2-3B06-BB8F-06DF-2C35397142AE}"/>
              </a:ext>
            </a:extLst>
          </p:cNvPr>
          <p:cNvSpPr/>
          <p:nvPr/>
        </p:nvSpPr>
        <p:spPr>
          <a:xfrm>
            <a:off x="2168698" y="4670611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3B82861-63A5-F677-F909-A71A18B98AE8}"/>
              </a:ext>
            </a:extLst>
          </p:cNvPr>
          <p:cNvSpPr/>
          <p:nvPr/>
        </p:nvSpPr>
        <p:spPr>
          <a:xfrm>
            <a:off x="2330623" y="4718236"/>
            <a:ext cx="95250" cy="1143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1CFBE9B-8286-FFE9-0043-55E37A53835A}"/>
              </a:ext>
            </a:extLst>
          </p:cNvPr>
          <p:cNvSpPr/>
          <p:nvPr/>
        </p:nvSpPr>
        <p:spPr>
          <a:xfrm>
            <a:off x="3041691" y="5539206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ECBE18-47CA-9532-BBE4-5F3B0F8951B9}"/>
              </a:ext>
            </a:extLst>
          </p:cNvPr>
          <p:cNvSpPr/>
          <p:nvPr/>
        </p:nvSpPr>
        <p:spPr>
          <a:xfrm>
            <a:off x="374491" y="3801217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05D9F63-B448-5E2B-B482-E0DDFBB9284F}"/>
              </a:ext>
            </a:extLst>
          </p:cNvPr>
          <p:cNvSpPr/>
          <p:nvPr/>
        </p:nvSpPr>
        <p:spPr>
          <a:xfrm>
            <a:off x="2178223" y="4318186"/>
            <a:ext cx="3898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DAE6533-2A0A-B80D-FB09-E999DF800B52}"/>
              </a:ext>
            </a:extLst>
          </p:cNvPr>
          <p:cNvCxnSpPr>
            <a:endCxn id="40" idx="3"/>
          </p:cNvCxnSpPr>
          <p:nvPr/>
        </p:nvCxnSpPr>
        <p:spPr>
          <a:xfrm flipV="1">
            <a:off x="339898" y="4549097"/>
            <a:ext cx="1299824" cy="1002576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6848606F-4191-1760-660B-BDE9E0A29FEC}"/>
              </a:ext>
            </a:extLst>
          </p:cNvPr>
          <p:cNvCxnSpPr/>
          <p:nvPr/>
        </p:nvCxnSpPr>
        <p:spPr>
          <a:xfrm flipV="1">
            <a:off x="339898" y="4499161"/>
            <a:ext cx="1083638" cy="106203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4EBBC32-4E6E-EAAF-0D78-00966B5D2822}"/>
              </a:ext>
            </a:extLst>
          </p:cNvPr>
          <p:cNvCxnSpPr/>
          <p:nvPr/>
        </p:nvCxnSpPr>
        <p:spPr>
          <a:xfrm flipV="1">
            <a:off x="339898" y="4470586"/>
            <a:ext cx="882169" cy="109061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E00B2CF-99A2-8A8D-E0C7-DD13CEEC002B}"/>
              </a:ext>
            </a:extLst>
          </p:cNvPr>
          <p:cNvCxnSpPr/>
          <p:nvPr/>
        </p:nvCxnSpPr>
        <p:spPr>
          <a:xfrm flipV="1">
            <a:off x="368473" y="4518211"/>
            <a:ext cx="624994" cy="102393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56FE45D7-D2D8-6762-0696-FF16F8EEFBCA}"/>
              </a:ext>
            </a:extLst>
          </p:cNvPr>
          <p:cNvSpPr/>
          <p:nvPr/>
        </p:nvSpPr>
        <p:spPr>
          <a:xfrm>
            <a:off x="673180" y="4194361"/>
            <a:ext cx="3626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i="1" baseline="-25000" dirty="0"/>
              <a:t>J</a:t>
            </a:r>
            <a:endParaRPr lang="en-US" i="1" baseline="-25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2ED71D-1B00-7AF5-DFBD-AAB5F624A374}"/>
              </a:ext>
            </a:extLst>
          </p:cNvPr>
          <p:cNvSpPr txBox="1"/>
          <p:nvPr/>
        </p:nvSpPr>
        <p:spPr>
          <a:xfrm>
            <a:off x="1410587" y="3599121"/>
            <a:ext cx="11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space</a:t>
            </a:r>
            <a:endParaRPr lang="en-NL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4D0FE72-7158-65B2-3BC3-257CDC365327}"/>
              </a:ext>
            </a:extLst>
          </p:cNvPr>
          <p:cNvSpPr txBox="1"/>
          <p:nvPr/>
        </p:nvSpPr>
        <p:spPr>
          <a:xfrm>
            <a:off x="5532083" y="3644524"/>
            <a:ext cx="11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space</a:t>
            </a:r>
            <a:endParaRPr lang="en-NL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C328B78-01CA-5B32-97ED-1718AFC8B96D}"/>
              </a:ext>
            </a:extLst>
          </p:cNvPr>
          <p:cNvSpPr txBox="1"/>
          <p:nvPr/>
        </p:nvSpPr>
        <p:spPr>
          <a:xfrm>
            <a:off x="9369775" y="3662943"/>
            <a:ext cx="11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space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541638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red and blue rectangles on a black background&#10;&#10;Description automatically generated">
            <a:extLst>
              <a:ext uri="{FF2B5EF4-FFF2-40B4-BE49-F238E27FC236}">
                <a16:creationId xmlns:a16="http://schemas.microsoft.com/office/drawing/2014/main" id="{01BD85A6-1B76-EFE9-DE0C-BFD35E72E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855" y="2753270"/>
            <a:ext cx="6376910" cy="1089388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553CA14-1B5C-B3BC-4807-5B21FF90C69B}"/>
              </a:ext>
            </a:extLst>
          </p:cNvPr>
          <p:cNvSpPr txBox="1">
            <a:spLocks/>
          </p:cNvSpPr>
          <p:nvPr/>
        </p:nvSpPr>
        <p:spPr>
          <a:xfrm>
            <a:off x="159958" y="95293"/>
            <a:ext cx="10515600" cy="864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Singular value decomposition on </a:t>
            </a:r>
            <a:r>
              <a:rPr lang="en-US" b="1"/>
              <a:t>X</a:t>
            </a:r>
            <a:endParaRPr lang="en-US" b="1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AEAFF6F-B952-CD9C-07E3-6A926C70CFB6}"/>
              </a:ext>
            </a:extLst>
          </p:cNvPr>
          <p:cNvSpPr txBox="1">
            <a:spLocks/>
          </p:cNvSpPr>
          <p:nvPr/>
        </p:nvSpPr>
        <p:spPr>
          <a:xfrm>
            <a:off x="217710" y="1397119"/>
            <a:ext cx="4836458" cy="4918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Singular value decomposition provides</a:t>
            </a:r>
          </a:p>
          <a:p>
            <a:r>
              <a:rPr lang="en-US" sz="2000" dirty="0"/>
              <a:t>Left singular vectors (</a:t>
            </a:r>
            <a:r>
              <a:rPr lang="en-US" sz="2000" b="1" dirty="0"/>
              <a:t>u</a:t>
            </a:r>
            <a:r>
              <a:rPr lang="en-US" sz="2000" baseline="-25000" dirty="0"/>
              <a:t>1</a:t>
            </a:r>
            <a:r>
              <a:rPr lang="en-US" sz="2000" dirty="0"/>
              <a:t>, </a:t>
            </a:r>
            <a:r>
              <a:rPr lang="en-US" sz="2000" b="1" dirty="0"/>
              <a:t>u</a:t>
            </a:r>
            <a:r>
              <a:rPr lang="en-US" sz="2000" baseline="-25000" dirty="0"/>
              <a:t>2</a:t>
            </a:r>
            <a:r>
              <a:rPr lang="en-US" sz="2000" dirty="0"/>
              <a:t>, ..)</a:t>
            </a:r>
          </a:p>
          <a:p>
            <a:r>
              <a:rPr lang="en-US" sz="2000" dirty="0"/>
              <a:t>Right singular vectors (</a:t>
            </a:r>
            <a:r>
              <a:rPr lang="en-US" sz="2000" b="1" dirty="0"/>
              <a:t>v</a:t>
            </a:r>
            <a:r>
              <a:rPr lang="en-US" sz="2000" baseline="-25000" dirty="0"/>
              <a:t>1</a:t>
            </a:r>
            <a:r>
              <a:rPr lang="en-US" sz="2000" dirty="0"/>
              <a:t>, </a:t>
            </a:r>
            <a:r>
              <a:rPr lang="en-US" sz="2000" b="1" dirty="0"/>
              <a:t>v</a:t>
            </a:r>
            <a:r>
              <a:rPr lang="en-US" sz="2000" baseline="-25000" dirty="0"/>
              <a:t>2</a:t>
            </a:r>
            <a:r>
              <a:rPr lang="en-US" sz="2000" dirty="0"/>
              <a:t>, ..)</a:t>
            </a:r>
          </a:p>
          <a:p>
            <a:r>
              <a:rPr lang="en-US" sz="2000" dirty="0"/>
              <a:t>The </a:t>
            </a:r>
            <a:r>
              <a:rPr lang="en-US" sz="2000" b="1" dirty="0"/>
              <a:t>outer product </a:t>
            </a:r>
            <a:r>
              <a:rPr lang="en-US" sz="2000" dirty="0"/>
              <a:t>of each set of </a:t>
            </a:r>
            <a:r>
              <a:rPr lang="en-US" sz="2000" b="1" dirty="0"/>
              <a:t>u</a:t>
            </a:r>
            <a:r>
              <a:rPr lang="en-US" sz="2000" dirty="0"/>
              <a:t> and </a:t>
            </a:r>
            <a:r>
              <a:rPr lang="en-US" sz="2000" b="1" dirty="0"/>
              <a:t>v</a:t>
            </a:r>
            <a:r>
              <a:rPr lang="en-US" sz="2000" dirty="0"/>
              <a:t> approximate </a:t>
            </a:r>
            <a:r>
              <a:rPr lang="en-US" sz="2000" b="1" dirty="0"/>
              <a:t>X</a:t>
            </a:r>
            <a:r>
              <a:rPr lang="en-US" sz="2000" dirty="0"/>
              <a:t>.</a:t>
            </a:r>
          </a:p>
          <a:p>
            <a:r>
              <a:rPr lang="en-US" sz="2000" dirty="0"/>
              <a:t>Singular values, represent values how well each outer product approximates </a:t>
            </a:r>
            <a:r>
              <a:rPr lang="en-US" sz="2000" b="1" dirty="0"/>
              <a:t>X.</a:t>
            </a:r>
          </a:p>
          <a:p>
            <a:endParaRPr lang="en-US" sz="2000" b="1" dirty="0"/>
          </a:p>
          <a:p>
            <a:r>
              <a:rPr lang="en-US" sz="2000" dirty="0"/>
              <a:t>Often written as</a:t>
            </a:r>
          </a:p>
          <a:p>
            <a:r>
              <a:rPr lang="en-US" sz="2000" b="1" dirty="0"/>
              <a:t>X </a:t>
            </a:r>
            <a:r>
              <a:rPr lang="en-US" sz="2000" dirty="0"/>
              <a:t>=</a:t>
            </a:r>
            <a:r>
              <a:rPr lang="en-US" sz="2000" b="1" dirty="0"/>
              <a:t> U*S*V</a:t>
            </a:r>
            <a:r>
              <a:rPr lang="en-US" sz="2000" baseline="30000" dirty="0"/>
              <a:t>T</a:t>
            </a:r>
          </a:p>
          <a:p>
            <a:pPr lvl="1"/>
            <a:r>
              <a:rPr lang="en-US" sz="1600" b="1" dirty="0"/>
              <a:t>U</a:t>
            </a:r>
            <a:r>
              <a:rPr lang="en-US" sz="1600" dirty="0"/>
              <a:t> contains all </a:t>
            </a:r>
            <a:r>
              <a:rPr lang="en-US" sz="1600" b="1" dirty="0"/>
              <a:t>u</a:t>
            </a:r>
            <a:r>
              <a:rPr lang="en-US" sz="1600" dirty="0"/>
              <a:t>;</a:t>
            </a:r>
            <a:r>
              <a:rPr lang="en-US" sz="1600" b="1" dirty="0"/>
              <a:t> </a:t>
            </a:r>
            <a:r>
              <a:rPr lang="en-US" sz="1600" b="1" dirty="0" err="1"/>
              <a:t>u</a:t>
            </a:r>
            <a:r>
              <a:rPr lang="en-US" sz="1600" baseline="30000" dirty="0" err="1"/>
              <a:t>T</a:t>
            </a:r>
            <a:r>
              <a:rPr lang="en-US" sz="1600" b="1" dirty="0" err="1"/>
              <a:t>u</a:t>
            </a:r>
            <a:r>
              <a:rPr lang="en-US" sz="1600" b="1" dirty="0"/>
              <a:t> = 1</a:t>
            </a:r>
          </a:p>
          <a:p>
            <a:pPr lvl="1"/>
            <a:r>
              <a:rPr lang="en-US" sz="1600" b="1" dirty="0"/>
              <a:t>V</a:t>
            </a:r>
            <a:r>
              <a:rPr lang="en-US" sz="1600" dirty="0"/>
              <a:t> contains all </a:t>
            </a:r>
            <a:r>
              <a:rPr lang="en-US" sz="1600" b="1" dirty="0"/>
              <a:t>v; </a:t>
            </a:r>
            <a:r>
              <a:rPr lang="en-US" sz="1600" b="1" dirty="0" err="1"/>
              <a:t>v</a:t>
            </a:r>
            <a:r>
              <a:rPr lang="en-US" sz="1600" baseline="30000" dirty="0" err="1"/>
              <a:t>T</a:t>
            </a:r>
            <a:r>
              <a:rPr lang="en-US" sz="1600" b="1" dirty="0" err="1"/>
              <a:t>v</a:t>
            </a:r>
            <a:r>
              <a:rPr lang="en-US" sz="1600" b="1" dirty="0"/>
              <a:t> = 1</a:t>
            </a:r>
          </a:p>
          <a:p>
            <a:pPr lvl="1"/>
            <a:r>
              <a:rPr lang="en-US" sz="1600" b="1" dirty="0"/>
              <a:t>S</a:t>
            </a:r>
            <a:r>
              <a:rPr lang="en-US" sz="1600" dirty="0"/>
              <a:t> contains all singular values on its diagonal (</a:t>
            </a:r>
            <a:r>
              <a:rPr lang="en-US" sz="1600" b="1" dirty="0"/>
              <a:t>s</a:t>
            </a:r>
            <a:r>
              <a:rPr lang="en-US" sz="1600" baseline="-25000" dirty="0"/>
              <a:t>1</a:t>
            </a:r>
            <a:r>
              <a:rPr lang="en-US" sz="1600" dirty="0"/>
              <a:t>,</a:t>
            </a:r>
            <a:r>
              <a:rPr lang="en-US" sz="1600" b="1" dirty="0"/>
              <a:t>s</a:t>
            </a:r>
            <a:r>
              <a:rPr lang="en-US" sz="1600" baseline="-25000" dirty="0"/>
              <a:t>2</a:t>
            </a:r>
            <a:r>
              <a:rPr lang="en-US" sz="1600" dirty="0"/>
              <a:t>, …)</a:t>
            </a:r>
          </a:p>
          <a:p>
            <a:pPr lvl="1"/>
            <a:endParaRPr lang="en-US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54D77-8EDA-840F-515E-53B26967FD3A}"/>
              </a:ext>
            </a:extLst>
          </p:cNvPr>
          <p:cNvSpPr txBox="1"/>
          <p:nvPr/>
        </p:nvSpPr>
        <p:spPr>
          <a:xfrm>
            <a:off x="7108369" y="3581403"/>
            <a:ext cx="36420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u</a:t>
            </a:r>
            <a:r>
              <a:rPr lang="en-US" sz="1600" baseline="-25000" dirty="0"/>
              <a:t>1</a:t>
            </a:r>
            <a:endParaRPr lang="en-NL" sz="1600" baseline="-25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97975-E626-D73E-0C25-8F242781FDC9}"/>
              </a:ext>
            </a:extLst>
          </p:cNvPr>
          <p:cNvSpPr txBox="1"/>
          <p:nvPr/>
        </p:nvSpPr>
        <p:spPr>
          <a:xfrm>
            <a:off x="8855057" y="3581403"/>
            <a:ext cx="36420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u</a:t>
            </a:r>
            <a:r>
              <a:rPr lang="en-US" sz="1600" b="1" baseline="-25000" dirty="0"/>
              <a:t>2</a:t>
            </a:r>
            <a:endParaRPr lang="en-NL" sz="1600" baseline="-25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C76648-5300-1FF8-60F8-C846012D171D}"/>
              </a:ext>
            </a:extLst>
          </p:cNvPr>
          <p:cNvSpPr txBox="1"/>
          <p:nvPr/>
        </p:nvSpPr>
        <p:spPr>
          <a:xfrm>
            <a:off x="10678883" y="3542754"/>
            <a:ext cx="364202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u</a:t>
            </a:r>
            <a:r>
              <a:rPr lang="en-US" sz="1600" b="1" baseline="-25000" dirty="0"/>
              <a:t>3</a:t>
            </a:r>
            <a:endParaRPr lang="en-NL" sz="1600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05D1C7-B9F2-8969-528F-9FB6A2076B8F}"/>
              </a:ext>
            </a:extLst>
          </p:cNvPr>
          <p:cNvSpPr txBox="1"/>
          <p:nvPr/>
        </p:nvSpPr>
        <p:spPr>
          <a:xfrm>
            <a:off x="7870369" y="2852060"/>
            <a:ext cx="41870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v</a:t>
            </a:r>
            <a:r>
              <a:rPr lang="en-US" sz="1600" baseline="-25000" dirty="0"/>
              <a:t>1</a:t>
            </a:r>
            <a:r>
              <a:rPr lang="en-US" sz="1600" baseline="30000" dirty="0"/>
              <a:t>T</a:t>
            </a:r>
            <a:endParaRPr lang="en-NL" sz="1600" baseline="30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0D329F-077F-B287-4C56-D3381DF14CC0}"/>
              </a:ext>
            </a:extLst>
          </p:cNvPr>
          <p:cNvSpPr txBox="1"/>
          <p:nvPr/>
        </p:nvSpPr>
        <p:spPr>
          <a:xfrm>
            <a:off x="9459020" y="2846617"/>
            <a:ext cx="41870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v</a:t>
            </a:r>
            <a:r>
              <a:rPr lang="en-US" sz="1600" b="1" baseline="-25000" dirty="0"/>
              <a:t>2</a:t>
            </a:r>
            <a:r>
              <a:rPr lang="en-US" sz="1600" baseline="30000" dirty="0"/>
              <a:t>T</a:t>
            </a:r>
            <a:endParaRPr lang="en-NL" sz="1600" baseline="30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355053-6317-B70C-C19E-B1803FAB280E}"/>
              </a:ext>
            </a:extLst>
          </p:cNvPr>
          <p:cNvSpPr txBox="1"/>
          <p:nvPr/>
        </p:nvSpPr>
        <p:spPr>
          <a:xfrm>
            <a:off x="11220646" y="2846617"/>
            <a:ext cx="41870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v</a:t>
            </a:r>
            <a:r>
              <a:rPr lang="en-US" sz="1600" b="1" baseline="-25000" dirty="0"/>
              <a:t>3</a:t>
            </a:r>
            <a:r>
              <a:rPr lang="en-US" sz="1600" baseline="30000" dirty="0"/>
              <a:t>T</a:t>
            </a:r>
            <a:endParaRPr lang="en-NL" sz="1600" baseline="30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B07FD7F-336A-594E-DFF8-93A90AC8CD0A}"/>
              </a:ext>
            </a:extLst>
          </p:cNvPr>
          <p:cNvSpPr/>
          <p:nvPr/>
        </p:nvSpPr>
        <p:spPr>
          <a:xfrm>
            <a:off x="5312226" y="2310731"/>
            <a:ext cx="6778599" cy="225038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699BDF-368C-DF8C-4F5F-CA292FBFAAAD}"/>
              </a:ext>
            </a:extLst>
          </p:cNvPr>
          <p:cNvSpPr/>
          <p:nvPr/>
        </p:nvSpPr>
        <p:spPr>
          <a:xfrm>
            <a:off x="183107" y="1080643"/>
            <a:ext cx="4871061" cy="523458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4BBDAF-8E22-471E-33A0-920CB0988399}"/>
              </a:ext>
            </a:extLst>
          </p:cNvPr>
          <p:cNvSpPr txBox="1"/>
          <p:nvPr/>
        </p:nvSpPr>
        <p:spPr>
          <a:xfrm>
            <a:off x="6940695" y="2567178"/>
            <a:ext cx="33534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s</a:t>
            </a:r>
            <a:r>
              <a:rPr lang="en-US" sz="1600" baseline="-25000" dirty="0"/>
              <a:t>1</a:t>
            </a:r>
            <a:endParaRPr lang="en-NL" sz="1600" baseline="-25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65297A5-FDC3-46B9-5395-519C96DEDF7D}"/>
              </a:ext>
            </a:extLst>
          </p:cNvPr>
          <p:cNvSpPr txBox="1"/>
          <p:nvPr/>
        </p:nvSpPr>
        <p:spPr>
          <a:xfrm>
            <a:off x="8606210" y="2545343"/>
            <a:ext cx="33534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s</a:t>
            </a:r>
            <a:r>
              <a:rPr lang="en-US" sz="1600" b="1" baseline="-25000" dirty="0"/>
              <a:t>2</a:t>
            </a:r>
            <a:endParaRPr lang="en-NL" sz="1600" baseline="-25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C41351-F614-2F60-A26F-E65449154216}"/>
              </a:ext>
            </a:extLst>
          </p:cNvPr>
          <p:cNvSpPr txBox="1"/>
          <p:nvPr/>
        </p:nvSpPr>
        <p:spPr>
          <a:xfrm>
            <a:off x="10402353" y="2583993"/>
            <a:ext cx="335348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s</a:t>
            </a:r>
            <a:r>
              <a:rPr lang="en-US" sz="1600" b="1" baseline="-25000" dirty="0"/>
              <a:t>3</a:t>
            </a:r>
            <a:endParaRPr lang="en-NL" sz="1600" baseline="-25000" dirty="0"/>
          </a:p>
        </p:txBody>
      </p:sp>
    </p:spTree>
    <p:extLst>
      <p:ext uri="{BB962C8B-B14F-4D97-AF65-F5344CB8AC3E}">
        <p14:creationId xmlns:p14="http://schemas.microsoft.com/office/powerpoint/2010/main" val="31429497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958" y="95293"/>
            <a:ext cx="10515600" cy="864096"/>
          </a:xfrm>
        </p:spPr>
        <p:txBody>
          <a:bodyPr/>
          <a:lstStyle/>
          <a:p>
            <a:r>
              <a:rPr lang="en-US" dirty="0"/>
              <a:t>Singular value decomposition on </a:t>
            </a:r>
            <a:r>
              <a:rPr lang="en-US" b="1" dirty="0"/>
              <a:t>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AAA3EAE-4DB6-430C-8BC3-086779A96350}"/>
              </a:ext>
            </a:extLst>
          </p:cNvPr>
          <p:cNvGrpSpPr/>
          <p:nvPr/>
        </p:nvGrpSpPr>
        <p:grpSpPr>
          <a:xfrm>
            <a:off x="556541" y="2788230"/>
            <a:ext cx="3178517" cy="1914119"/>
            <a:chOff x="583435" y="1183548"/>
            <a:chExt cx="3178517" cy="1914119"/>
          </a:xfrm>
        </p:grpSpPr>
        <p:cxnSp>
          <p:nvCxnSpPr>
            <p:cNvPr id="53" name="Straight Arrow Connector 52"/>
            <p:cNvCxnSpPr>
              <a:cxnSpLocks/>
            </p:cNvCxnSpPr>
            <p:nvPr/>
          </p:nvCxnSpPr>
          <p:spPr>
            <a:xfrm flipV="1">
              <a:off x="1025451" y="2957818"/>
              <a:ext cx="2216862" cy="952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 flipV="1">
              <a:off x="996876" y="1248080"/>
              <a:ext cx="38100" cy="172878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V="1">
              <a:off x="1025451" y="2019605"/>
              <a:ext cx="1933575" cy="94773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2568501" y="1676705"/>
              <a:ext cx="95250" cy="1143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392940" y="2728335"/>
              <a:ext cx="3690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1</a:t>
              </a:r>
              <a:endParaRPr lang="en-US" baseline="-25000" dirty="0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83435" y="1183548"/>
              <a:ext cx="3690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2</a:t>
              </a:r>
              <a:endParaRPr lang="en-US" baseline="-25000" dirty="0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873301" y="1733855"/>
              <a:ext cx="36901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x</a:t>
              </a:r>
              <a:r>
                <a:rPr lang="en-US" b="1" baseline="-25000" dirty="0"/>
                <a:t>3</a:t>
              </a:r>
              <a:endParaRPr lang="en-US" baseline="-25000" dirty="0"/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1035957" y="1963766"/>
              <a:ext cx="1299824" cy="1002576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V="1">
              <a:off x="1034976" y="1914830"/>
              <a:ext cx="1083638" cy="1062037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1034976" y="1886255"/>
              <a:ext cx="882169" cy="1090613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1063551" y="1933880"/>
              <a:ext cx="624994" cy="1023938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1368258" y="1610030"/>
              <a:ext cx="34176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 err="1"/>
                <a:t>x</a:t>
              </a:r>
              <a:r>
                <a:rPr lang="en-US" b="1" baseline="-25000" dirty="0" err="1"/>
                <a:t>J</a:t>
              </a:r>
              <a:endParaRPr lang="en-US" baseline="-25000" dirty="0"/>
            </a:p>
          </p:txBody>
        </p:sp>
      </p:grpSp>
      <p:cxnSp>
        <p:nvCxnSpPr>
          <p:cNvPr id="65" name="Straight Arrow Connector 64"/>
          <p:cNvCxnSpPr>
            <a:cxnSpLocks/>
          </p:cNvCxnSpPr>
          <p:nvPr/>
        </p:nvCxnSpPr>
        <p:spPr>
          <a:xfrm>
            <a:off x="7760394" y="4580047"/>
            <a:ext cx="2438108" cy="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 flipH="1" flipV="1">
            <a:off x="7731819" y="2860784"/>
            <a:ext cx="38100" cy="1728789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/>
          <p:cNvCxnSpPr/>
          <p:nvPr/>
        </p:nvCxnSpPr>
        <p:spPr>
          <a:xfrm flipV="1">
            <a:off x="7760394" y="3632309"/>
            <a:ext cx="1933575" cy="947738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9763783" y="3746609"/>
            <a:ext cx="95250" cy="1143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10219626" y="4333017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1</a:t>
            </a:r>
            <a:endParaRPr lang="en-US" baseline="-25000" dirty="0"/>
          </a:p>
        </p:txBody>
      </p:sp>
      <p:sp>
        <p:nvSpPr>
          <p:cNvPr id="70" name="Rectangle 69"/>
          <p:cNvSpPr/>
          <p:nvPr/>
        </p:nvSpPr>
        <p:spPr>
          <a:xfrm>
            <a:off x="7321517" y="2796252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2</a:t>
            </a:r>
            <a:endParaRPr lang="en-US" baseline="-25000" dirty="0"/>
          </a:p>
        </p:txBody>
      </p:sp>
      <p:sp>
        <p:nvSpPr>
          <p:cNvPr id="71" name="Rectangle 70"/>
          <p:cNvSpPr/>
          <p:nvPr/>
        </p:nvSpPr>
        <p:spPr>
          <a:xfrm>
            <a:off x="9611383" y="3346559"/>
            <a:ext cx="369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x</a:t>
            </a:r>
            <a:r>
              <a:rPr lang="en-US" b="1" baseline="-25000" dirty="0"/>
              <a:t>3</a:t>
            </a:r>
            <a:endParaRPr lang="en-US" baseline="-25000" dirty="0"/>
          </a:p>
        </p:txBody>
      </p:sp>
      <p:cxnSp>
        <p:nvCxnSpPr>
          <p:cNvPr id="72" name="Straight Arrow Connector 71"/>
          <p:cNvCxnSpPr/>
          <p:nvPr/>
        </p:nvCxnSpPr>
        <p:spPr>
          <a:xfrm flipV="1">
            <a:off x="7769919" y="3577470"/>
            <a:ext cx="1299824" cy="1002576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7801633" y="3546584"/>
            <a:ext cx="624994" cy="1023938"/>
          </a:xfrm>
          <a:prstGeom prst="straightConnector1">
            <a:avLst/>
          </a:prstGeom>
          <a:ln w="28575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8106340" y="3222734"/>
            <a:ext cx="332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err="1"/>
              <a:t>x</a:t>
            </a:r>
            <a:r>
              <a:rPr lang="en-US" b="1" baseline="-25000" dirty="0" err="1"/>
              <a:t>I</a:t>
            </a:r>
            <a:endParaRPr lang="en-US" baseline="-25000" dirty="0"/>
          </a:p>
        </p:txBody>
      </p:sp>
      <p:sp>
        <p:nvSpPr>
          <p:cNvPr id="75" name="Rectangle 74"/>
          <p:cNvSpPr/>
          <p:nvPr/>
        </p:nvSpPr>
        <p:spPr>
          <a:xfrm>
            <a:off x="4918133" y="2517673"/>
            <a:ext cx="1635950" cy="86409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>
            <a:off x="6886967" y="2508215"/>
            <a:ext cx="0" cy="86409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/>
          <p:cNvCxnSpPr/>
          <p:nvPr/>
        </p:nvCxnSpPr>
        <p:spPr>
          <a:xfrm>
            <a:off x="4918133" y="2316212"/>
            <a:ext cx="1635950" cy="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066490" y="3013066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94240" y="2708289"/>
            <a:ext cx="57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US" b="1" dirty="0"/>
          </a:p>
        </p:txBody>
      </p:sp>
      <p:sp>
        <p:nvSpPr>
          <p:cNvPr id="80" name="TextBox 79"/>
          <p:cNvSpPr txBox="1"/>
          <p:nvPr/>
        </p:nvSpPr>
        <p:spPr>
          <a:xfrm>
            <a:off x="4723148" y="3132518"/>
            <a:ext cx="4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28772" y="4914106"/>
            <a:ext cx="3612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Find 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en-US" dirty="0"/>
              <a:t> vectors for which</a:t>
            </a:r>
          </a:p>
          <a:p>
            <a:pPr lvl="1"/>
            <a:r>
              <a:rPr lang="en-US" b="1" dirty="0"/>
              <a:t>X</a:t>
            </a:r>
            <a:r>
              <a:rPr lang="en-US" dirty="0"/>
              <a:t>(</a:t>
            </a:r>
            <a:r>
              <a:rPr lang="en-US" dirty="0" err="1"/>
              <a:t>IxJ</a:t>
            </a:r>
            <a:r>
              <a:rPr lang="en-US" dirty="0"/>
              <a:t>) * 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dirty="0"/>
              <a:t>(Jx1) = </a:t>
            </a:r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en-US" dirty="0"/>
              <a:t>(Ix1)</a:t>
            </a:r>
          </a:p>
          <a:p>
            <a:pPr lvl="1"/>
            <a:r>
              <a:rPr lang="en-US" b="1" dirty="0"/>
              <a:t>X</a:t>
            </a:r>
            <a:r>
              <a:rPr lang="en-US" baseline="30000" dirty="0"/>
              <a:t>T</a:t>
            </a:r>
            <a:r>
              <a:rPr lang="en-US" dirty="0"/>
              <a:t>(</a:t>
            </a:r>
            <a:r>
              <a:rPr lang="en-US" dirty="0" err="1"/>
              <a:t>JxI</a:t>
            </a:r>
            <a:r>
              <a:rPr lang="en-US" dirty="0"/>
              <a:t>) * </a:t>
            </a:r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en-US" dirty="0"/>
              <a:t>(Ix1) = </a:t>
            </a:r>
            <a:r>
              <a:rPr lang="en-US" dirty="0">
                <a:sym typeface="Symbol" panose="05050102010706020507" pitchFamily="18" charset="2"/>
              </a:rPr>
              <a:t></a:t>
            </a:r>
            <a:r>
              <a:rPr lang="en-US" b="1" dirty="0">
                <a:solidFill>
                  <a:srgbClr val="0070C0"/>
                </a:solidFill>
                <a:sym typeface="Symbol" panose="05050102010706020507" pitchFamily="18" charset="2"/>
              </a:rPr>
              <a:t>v</a:t>
            </a:r>
            <a:r>
              <a:rPr lang="en-US" dirty="0"/>
              <a:t>(Jx1)  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648579" y="1176248"/>
            <a:ext cx="726088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Any vector in R</a:t>
            </a:r>
            <a:r>
              <a:rPr lang="en-US" sz="2000" baseline="30000" dirty="0"/>
              <a:t>J</a:t>
            </a:r>
            <a:r>
              <a:rPr lang="en-US" sz="2000" dirty="0"/>
              <a:t> is projected to a vector in R</a:t>
            </a:r>
            <a:r>
              <a:rPr lang="en-US" sz="2000" baseline="30000" dirty="0"/>
              <a:t>I</a:t>
            </a:r>
            <a:r>
              <a:rPr lang="en-US" sz="2000" dirty="0"/>
              <a:t>.</a:t>
            </a:r>
          </a:p>
          <a:p>
            <a:r>
              <a:rPr lang="en-US" sz="2000" b="1" dirty="0"/>
              <a:t>Singular vector </a:t>
            </a:r>
            <a:r>
              <a:rPr lang="en-US" sz="2000" dirty="0"/>
              <a:t>are special vectors that project on themselves.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16A4417-D887-4629-A569-49D4FD24EA53}"/>
              </a:ext>
            </a:extLst>
          </p:cNvPr>
          <p:cNvSpPr/>
          <p:nvPr/>
        </p:nvSpPr>
        <p:spPr>
          <a:xfrm rot="5400000">
            <a:off x="4958725" y="4455663"/>
            <a:ext cx="1635950" cy="86409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F4ED540-2BAC-494F-AE40-BBCA7295E945}"/>
              </a:ext>
            </a:extLst>
          </p:cNvPr>
          <p:cNvCxnSpPr>
            <a:cxnSpLocks/>
          </p:cNvCxnSpPr>
          <p:nvPr/>
        </p:nvCxnSpPr>
        <p:spPr>
          <a:xfrm>
            <a:off x="5297375" y="3875122"/>
            <a:ext cx="958649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86063BE-6672-4AEE-B1B8-53DEEFA59907}"/>
              </a:ext>
            </a:extLst>
          </p:cNvPr>
          <p:cNvCxnSpPr>
            <a:cxnSpLocks/>
          </p:cNvCxnSpPr>
          <p:nvPr/>
        </p:nvCxnSpPr>
        <p:spPr>
          <a:xfrm flipV="1">
            <a:off x="5083871" y="4069736"/>
            <a:ext cx="0" cy="1635950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59034BDA-535E-4D48-977D-04859013CB20}"/>
              </a:ext>
            </a:extLst>
          </p:cNvPr>
          <p:cNvSpPr txBox="1"/>
          <p:nvPr/>
        </p:nvSpPr>
        <p:spPr>
          <a:xfrm>
            <a:off x="5611244" y="4703045"/>
            <a:ext cx="45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X</a:t>
            </a:r>
            <a:r>
              <a:rPr lang="en-US" sz="1800" baseline="30000" dirty="0"/>
              <a:t>T</a:t>
            </a:r>
            <a:endParaRPr lang="en-NL" baseline="300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0F65982-C035-4567-A90B-E36276121156}"/>
              </a:ext>
            </a:extLst>
          </p:cNvPr>
          <p:cNvSpPr txBox="1"/>
          <p:nvPr/>
        </p:nvSpPr>
        <p:spPr>
          <a:xfrm>
            <a:off x="6236175" y="3967478"/>
            <a:ext cx="2582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</a:t>
            </a:r>
            <a:endParaRPr lang="en-US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F1A8AC7-E50E-4CD1-BD56-1D451BDCB55B}"/>
              </a:ext>
            </a:extLst>
          </p:cNvPr>
          <p:cNvSpPr txBox="1"/>
          <p:nvPr/>
        </p:nvSpPr>
        <p:spPr>
          <a:xfrm>
            <a:off x="6534686" y="2252107"/>
            <a:ext cx="288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A087679-5308-4B19-9A9B-B85A4642A6B4}"/>
              </a:ext>
            </a:extLst>
          </p:cNvPr>
          <p:cNvSpPr txBox="1"/>
          <p:nvPr/>
        </p:nvSpPr>
        <p:spPr>
          <a:xfrm>
            <a:off x="5098435" y="5618742"/>
            <a:ext cx="2886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D70D0A-F310-4397-B9BB-1F71873F1BA3}"/>
              </a:ext>
            </a:extLst>
          </p:cNvPr>
          <p:cNvCxnSpPr>
            <a:cxnSpLocks/>
          </p:cNvCxnSpPr>
          <p:nvPr/>
        </p:nvCxnSpPr>
        <p:spPr>
          <a:xfrm flipV="1">
            <a:off x="2636857" y="2396893"/>
            <a:ext cx="1958901" cy="80083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5C9AFEE1-D9C9-4DAD-B032-AF26E4E9A675}"/>
              </a:ext>
            </a:extLst>
          </p:cNvPr>
          <p:cNvCxnSpPr>
            <a:cxnSpLocks/>
          </p:cNvCxnSpPr>
          <p:nvPr/>
        </p:nvCxnSpPr>
        <p:spPr>
          <a:xfrm flipH="1" flipV="1">
            <a:off x="2648579" y="3519512"/>
            <a:ext cx="2237840" cy="1824038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AA9ABA62-F800-4B6D-AFBF-1B488E39EBD0}"/>
              </a:ext>
            </a:extLst>
          </p:cNvPr>
          <p:cNvCxnSpPr>
            <a:cxnSpLocks/>
          </p:cNvCxnSpPr>
          <p:nvPr/>
        </p:nvCxnSpPr>
        <p:spPr>
          <a:xfrm>
            <a:off x="7015758" y="2828381"/>
            <a:ext cx="2595625" cy="953498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C8E9D1E5-3F85-4DC6-A3C0-A0ED42905119}"/>
              </a:ext>
            </a:extLst>
          </p:cNvPr>
          <p:cNvCxnSpPr>
            <a:cxnSpLocks/>
          </p:cNvCxnSpPr>
          <p:nvPr/>
        </p:nvCxnSpPr>
        <p:spPr>
          <a:xfrm flipH="1" flipV="1">
            <a:off x="6534686" y="3967477"/>
            <a:ext cx="3261203" cy="6435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3EC5695-515B-4032-973F-BEB6BED33152}"/>
                  </a:ext>
                </a:extLst>
              </p:cNvPr>
              <p:cNvSpPr txBox="1"/>
              <p:nvPr/>
            </p:nvSpPr>
            <p:spPr>
              <a:xfrm>
                <a:off x="6279021" y="4971302"/>
                <a:ext cx="5058307" cy="648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dirty="0"/>
                  <a:t>Singular value decomposition of </a:t>
                </a:r>
                <a:r>
                  <a:rPr lang="en-US" b="1" dirty="0"/>
                  <a:t>X </a:t>
                </a:r>
                <a:r>
                  <a:rPr lang="en-US" dirty="0"/>
                  <a:t>and</a:t>
                </a:r>
                <a:r>
                  <a:rPr lang="en-US" b="1" dirty="0"/>
                  <a:t> X</a:t>
                </a:r>
                <a:r>
                  <a:rPr lang="en-US" baseline="30000" dirty="0"/>
                  <a:t>T</a:t>
                </a:r>
                <a:r>
                  <a:rPr lang="en-US" dirty="0"/>
                  <a:t> finds:</a:t>
                </a:r>
              </a:p>
              <a:p>
                <a:pPr lvl="1"/>
                <a:r>
                  <a:rPr lang="en-US" b="1" dirty="0">
                    <a:solidFill>
                      <a:srgbClr val="0070C0"/>
                    </a:solidFill>
                  </a:rPr>
                  <a:t>v</a:t>
                </a:r>
                <a:r>
                  <a:rPr lang="en-US" dirty="0"/>
                  <a:t> and </a:t>
                </a:r>
                <a:r>
                  <a:rPr lang="en-US" b="1" dirty="0">
                    <a:solidFill>
                      <a:srgbClr val="FF0000"/>
                    </a:solidFill>
                  </a:rPr>
                  <a:t>u</a:t>
                </a:r>
                <a:r>
                  <a:rPr lang="en-US" dirty="0"/>
                  <a:t>  and singular value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</m:ra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03EC5695-515B-4032-973F-BEB6BED331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9021" y="4971302"/>
                <a:ext cx="5058307" cy="648447"/>
              </a:xfrm>
              <a:prstGeom prst="rect">
                <a:avLst/>
              </a:prstGeom>
              <a:blipFill>
                <a:blip r:embed="rId3"/>
                <a:stretch>
                  <a:fillRect t="-5660" r="-482" b="-15094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754BA55B-CB93-481C-ADB5-FC784AC2AA1A}"/>
              </a:ext>
            </a:extLst>
          </p:cNvPr>
          <p:cNvSpPr/>
          <p:nvPr/>
        </p:nvSpPr>
        <p:spPr>
          <a:xfrm>
            <a:off x="406767" y="2138649"/>
            <a:ext cx="11228692" cy="3849426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034C431B-2D85-4554-8AFE-BFBF8C3212AD}"/>
              </a:ext>
            </a:extLst>
          </p:cNvPr>
          <p:cNvSpPr/>
          <p:nvPr/>
        </p:nvSpPr>
        <p:spPr>
          <a:xfrm>
            <a:off x="2331645" y="1116971"/>
            <a:ext cx="7394038" cy="864095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AD172D83-87BD-4507-9FFF-94FF03A9A1F2}"/>
              </a:ext>
            </a:extLst>
          </p:cNvPr>
          <p:cNvSpPr/>
          <p:nvPr/>
        </p:nvSpPr>
        <p:spPr>
          <a:xfrm>
            <a:off x="771249" y="4885857"/>
            <a:ext cx="3356175" cy="99575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24" name="Rectangle: Rounded Corners 123">
            <a:extLst>
              <a:ext uri="{FF2B5EF4-FFF2-40B4-BE49-F238E27FC236}">
                <a16:creationId xmlns:a16="http://schemas.microsoft.com/office/drawing/2014/main" id="{4BD56C94-83B2-4564-B46F-13F0E704E0DF}"/>
              </a:ext>
            </a:extLst>
          </p:cNvPr>
          <p:cNvSpPr/>
          <p:nvPr/>
        </p:nvSpPr>
        <p:spPr>
          <a:xfrm>
            <a:off x="6684228" y="4818171"/>
            <a:ext cx="4640875" cy="995751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CB31B09-BEE6-449A-B8F7-094AB5F369CA}"/>
              </a:ext>
            </a:extLst>
          </p:cNvPr>
          <p:cNvCxnSpPr>
            <a:cxnSpLocks/>
          </p:cNvCxnSpPr>
          <p:nvPr/>
        </p:nvCxnSpPr>
        <p:spPr>
          <a:xfrm flipV="1">
            <a:off x="1002039" y="3197732"/>
            <a:ext cx="1763463" cy="136228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AD8E091-59F1-1424-39DD-71821F9FB3F5}"/>
              </a:ext>
            </a:extLst>
          </p:cNvPr>
          <p:cNvSpPr txBox="1"/>
          <p:nvPr/>
        </p:nvSpPr>
        <p:spPr>
          <a:xfrm>
            <a:off x="1658975" y="2271908"/>
            <a:ext cx="1179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Row space</a:t>
            </a:r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B2CFF-7169-825C-B89F-C517355491EF}"/>
              </a:ext>
            </a:extLst>
          </p:cNvPr>
          <p:cNvSpPr txBox="1"/>
          <p:nvPr/>
        </p:nvSpPr>
        <p:spPr>
          <a:xfrm>
            <a:off x="8511773" y="2370432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Column space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858658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D5A94-59D5-02C8-3D0E-EC413929B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36" y="41433"/>
            <a:ext cx="10515600" cy="1325563"/>
          </a:xfrm>
        </p:spPr>
        <p:txBody>
          <a:bodyPr/>
          <a:lstStyle/>
          <a:p>
            <a:r>
              <a:rPr lang="en-US" dirty="0"/>
              <a:t>Some examples in real data (Iris)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8E1C-C046-5ADB-0EA1-7A9AA22C5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7292" y="1733595"/>
            <a:ext cx="4255980" cy="4351338"/>
          </a:xfrm>
        </p:spPr>
        <p:txBody>
          <a:bodyPr>
            <a:normAutofit/>
          </a:bodyPr>
          <a:lstStyle/>
          <a:p>
            <a:r>
              <a:rPr lang="en-US" sz="1800" dirty="0"/>
              <a:t>Iris data (50 plants of three classes each)</a:t>
            </a:r>
          </a:p>
          <a:p>
            <a:r>
              <a:rPr lang="en-US" sz="1800" b="0" i="0" dirty="0">
                <a:solidFill>
                  <a:srgbClr val="202122"/>
                </a:solidFill>
                <a:effectLst/>
              </a:rPr>
              <a:t>Four </a:t>
            </a:r>
            <a:r>
              <a:rPr lang="en-US" sz="1800" b="0" i="0" u="none" strike="noStrike" dirty="0">
                <a:solidFill>
                  <a:srgbClr val="0645AD"/>
                </a:solidFill>
                <a:effectLst/>
                <a:hlinkClick r:id="rId3" tooltip="Features (pattern recognition)"/>
              </a:rPr>
              <a:t>features</a:t>
            </a:r>
            <a:r>
              <a:rPr lang="en-US" sz="1800" b="0" i="0" dirty="0">
                <a:solidFill>
                  <a:srgbClr val="202122"/>
                </a:solidFill>
                <a:effectLst/>
              </a:rPr>
              <a:t> were measured from each sample: the length and the width of the </a:t>
            </a:r>
            <a:r>
              <a:rPr lang="en-US" sz="1800" b="0" i="0" u="none" strike="noStrike" dirty="0">
                <a:solidFill>
                  <a:srgbClr val="0645AD"/>
                </a:solidFill>
                <a:effectLst/>
                <a:hlinkClick r:id="rId4" tooltip="Sepal"/>
              </a:rPr>
              <a:t>sepals</a:t>
            </a:r>
            <a:r>
              <a:rPr lang="en-US" sz="1800" b="0" i="0" dirty="0">
                <a:solidFill>
                  <a:srgbClr val="202122"/>
                </a:solidFill>
                <a:effectLst/>
              </a:rPr>
              <a:t> and </a:t>
            </a:r>
            <a:r>
              <a:rPr lang="en-US" sz="1800" b="0" i="0" u="none" strike="noStrike" dirty="0">
                <a:solidFill>
                  <a:srgbClr val="0645AD"/>
                </a:solidFill>
                <a:effectLst/>
                <a:hlinkClick r:id="rId5" tooltip="Petal"/>
              </a:rPr>
              <a:t>petals</a:t>
            </a:r>
            <a:r>
              <a:rPr lang="en-US" sz="1800" b="0" i="0" dirty="0">
                <a:solidFill>
                  <a:srgbClr val="202122"/>
                </a:solidFill>
                <a:effectLst/>
              </a:rPr>
              <a:t>, in centimeters. </a:t>
            </a:r>
            <a:endParaRPr lang="en-NL" sz="1800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EBB3EF6F-B723-9EE2-9E89-DDEFC9AC43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L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C2112EAF-FEF9-4D71-5C00-4746515F4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436" y="1485106"/>
            <a:ext cx="4848317" cy="4848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7648293-DF30-235D-ED8A-B3F70151B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580" y="1660963"/>
            <a:ext cx="1805539" cy="192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7B7E09-9A39-5920-F2DA-976D3C34C87E}"/>
              </a:ext>
            </a:extLst>
          </p:cNvPr>
          <p:cNvSpPr txBox="1"/>
          <p:nvPr/>
        </p:nvSpPr>
        <p:spPr>
          <a:xfrm>
            <a:off x="5503245" y="4725715"/>
            <a:ext cx="60976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</a:t>
            </a:r>
            <a:r>
              <a:rPr lang="en-US" dirty="0"/>
              <a:t>                      </a:t>
            </a:r>
            <a:r>
              <a:rPr lang="en-NL" dirty="0" err="1"/>
              <a:t>Sepal.Length</a:t>
            </a:r>
            <a:r>
              <a:rPr lang="en-NL" dirty="0"/>
              <a:t> </a:t>
            </a:r>
            <a:r>
              <a:rPr lang="en-NL" dirty="0" err="1"/>
              <a:t>Sepal.Width</a:t>
            </a:r>
            <a:r>
              <a:rPr lang="en-NL" dirty="0"/>
              <a:t> </a:t>
            </a:r>
            <a:r>
              <a:rPr lang="en-NL" dirty="0" err="1"/>
              <a:t>Petal.Length</a:t>
            </a:r>
            <a:r>
              <a:rPr lang="en-NL" dirty="0"/>
              <a:t> </a:t>
            </a:r>
            <a:r>
              <a:rPr lang="en-NL" dirty="0" err="1"/>
              <a:t>Petal.Width</a:t>
            </a:r>
            <a:endParaRPr lang="en-NL" dirty="0"/>
          </a:p>
          <a:p>
            <a:r>
              <a:rPr lang="en-NL" dirty="0" err="1"/>
              <a:t>Sepal.Length</a:t>
            </a:r>
            <a:r>
              <a:rPr lang="en-NL" dirty="0"/>
              <a:t>    1.000  </a:t>
            </a:r>
            <a:r>
              <a:rPr lang="en-US" dirty="0"/>
              <a:t>          </a:t>
            </a:r>
            <a:r>
              <a:rPr lang="en-NL" dirty="0"/>
              <a:t>-0.1176    </a:t>
            </a:r>
            <a:r>
              <a:rPr lang="en-US" dirty="0"/>
              <a:t>        </a:t>
            </a:r>
            <a:r>
              <a:rPr lang="en-NL" dirty="0"/>
              <a:t>0.871</a:t>
            </a:r>
            <a:r>
              <a:rPr lang="en-US" dirty="0"/>
              <a:t>8</a:t>
            </a:r>
            <a:r>
              <a:rPr lang="en-NL" dirty="0"/>
              <a:t>   </a:t>
            </a:r>
            <a:r>
              <a:rPr lang="en-US" dirty="0"/>
              <a:t>       </a:t>
            </a:r>
            <a:r>
              <a:rPr lang="en-NL" dirty="0"/>
              <a:t>0.8179</a:t>
            </a:r>
          </a:p>
          <a:p>
            <a:r>
              <a:rPr lang="en-NL" dirty="0" err="1"/>
              <a:t>Sepal.Width</a:t>
            </a:r>
            <a:r>
              <a:rPr lang="en-NL" dirty="0"/>
              <a:t>    -0.117</a:t>
            </a:r>
            <a:r>
              <a:rPr lang="en-US" dirty="0"/>
              <a:t>6</a:t>
            </a:r>
            <a:r>
              <a:rPr lang="en-NL" dirty="0"/>
              <a:t>   </a:t>
            </a:r>
            <a:r>
              <a:rPr lang="en-US" dirty="0"/>
              <a:t>        </a:t>
            </a:r>
            <a:r>
              <a:rPr lang="en-NL" dirty="0"/>
              <a:t>1.000</a:t>
            </a:r>
            <a:r>
              <a:rPr lang="en-US" dirty="0"/>
              <a:t>0</a:t>
            </a:r>
            <a:r>
              <a:rPr lang="en-NL" dirty="0"/>
              <a:t> </a:t>
            </a:r>
            <a:r>
              <a:rPr lang="en-US" dirty="0"/>
              <a:t>        </a:t>
            </a:r>
            <a:r>
              <a:rPr lang="en-NL" dirty="0"/>
              <a:t>  -0.4284  </a:t>
            </a:r>
            <a:r>
              <a:rPr lang="en-US" dirty="0"/>
              <a:t>        </a:t>
            </a:r>
            <a:r>
              <a:rPr lang="en-NL" dirty="0"/>
              <a:t>-0.3661</a:t>
            </a:r>
          </a:p>
          <a:p>
            <a:r>
              <a:rPr lang="en-NL" dirty="0" err="1"/>
              <a:t>Petal.Length</a:t>
            </a:r>
            <a:r>
              <a:rPr lang="en-NL" dirty="0"/>
              <a:t>    0.871</a:t>
            </a:r>
            <a:r>
              <a:rPr lang="en-US" dirty="0"/>
              <a:t>8</a:t>
            </a:r>
            <a:r>
              <a:rPr lang="en-NL" dirty="0"/>
              <a:t> </a:t>
            </a:r>
            <a:r>
              <a:rPr lang="en-US" dirty="0"/>
              <a:t>         </a:t>
            </a:r>
            <a:r>
              <a:rPr lang="en-NL" dirty="0"/>
              <a:t> -0.4284    </a:t>
            </a:r>
            <a:r>
              <a:rPr lang="en-US" dirty="0"/>
              <a:t>        </a:t>
            </a:r>
            <a:r>
              <a:rPr lang="en-NL" dirty="0"/>
              <a:t>1.000   </a:t>
            </a:r>
            <a:r>
              <a:rPr lang="en-US" dirty="0"/>
              <a:t>          </a:t>
            </a:r>
            <a:r>
              <a:rPr lang="en-NL" dirty="0"/>
              <a:t>0.962</a:t>
            </a:r>
            <a:r>
              <a:rPr lang="en-US" dirty="0"/>
              <a:t>9</a:t>
            </a:r>
            <a:endParaRPr lang="en-NL" dirty="0"/>
          </a:p>
          <a:p>
            <a:r>
              <a:rPr lang="en-NL" dirty="0" err="1"/>
              <a:t>Petal.Width</a:t>
            </a:r>
            <a:r>
              <a:rPr lang="en-NL" dirty="0"/>
              <a:t>     0.8179  </a:t>
            </a:r>
            <a:r>
              <a:rPr lang="en-US" dirty="0"/>
              <a:t>           </a:t>
            </a:r>
            <a:r>
              <a:rPr lang="en-NL" dirty="0"/>
              <a:t>-0.3661    </a:t>
            </a:r>
            <a:r>
              <a:rPr lang="en-US" dirty="0"/>
              <a:t>       </a:t>
            </a:r>
            <a:r>
              <a:rPr lang="en-NL" dirty="0"/>
              <a:t>0.962</a:t>
            </a:r>
            <a:r>
              <a:rPr lang="en-US" dirty="0"/>
              <a:t>9</a:t>
            </a:r>
            <a:r>
              <a:rPr lang="en-NL" dirty="0"/>
              <a:t>   </a:t>
            </a:r>
            <a:r>
              <a:rPr lang="en-US" dirty="0"/>
              <a:t>       </a:t>
            </a:r>
            <a:r>
              <a:rPr lang="en-NL" dirty="0"/>
              <a:t>1.0000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BD40AB-58CA-7B00-EE89-20AA93FC27C9}"/>
              </a:ext>
            </a:extLst>
          </p:cNvPr>
          <p:cNvSpPr txBox="1"/>
          <p:nvPr/>
        </p:nvSpPr>
        <p:spPr>
          <a:xfrm>
            <a:off x="5503245" y="4356383"/>
            <a:ext cx="1892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Correlation matrix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98023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3572E-3EA4-DA0D-5F82-B0425F25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04" y="84685"/>
            <a:ext cx="10515600" cy="1054427"/>
          </a:xfrm>
        </p:spPr>
        <p:txBody>
          <a:bodyPr/>
          <a:lstStyle/>
          <a:p>
            <a:r>
              <a:rPr lang="en-US" dirty="0"/>
              <a:t>Singular value decomposition of Iris data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C7A20-204F-2C29-1E70-5FAB213ED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834" y="1448417"/>
            <a:ext cx="4691743" cy="4859792"/>
          </a:xfrm>
        </p:spPr>
        <p:txBody>
          <a:bodyPr>
            <a:normAutofit/>
          </a:bodyPr>
          <a:lstStyle/>
          <a:p>
            <a:r>
              <a:rPr lang="en-US" sz="2400" dirty="0"/>
              <a:t>SVD on Iris data provides </a:t>
            </a:r>
            <a:r>
              <a:rPr lang="en-US" sz="2400" b="1" dirty="0"/>
              <a:t>u</a:t>
            </a:r>
            <a:r>
              <a:rPr lang="en-US" sz="2400" dirty="0"/>
              <a:t> values for each iris and </a:t>
            </a:r>
            <a:r>
              <a:rPr lang="en-US" sz="2400" b="1" dirty="0"/>
              <a:t>v</a:t>
            </a:r>
            <a:r>
              <a:rPr lang="en-US" sz="2400" dirty="0"/>
              <a:t> values for each variable.</a:t>
            </a:r>
          </a:p>
          <a:p>
            <a:r>
              <a:rPr lang="en-US" sz="2400" b="1" dirty="0"/>
              <a:t>s</a:t>
            </a:r>
            <a:r>
              <a:rPr lang="en-US" sz="2400" baseline="-25000" dirty="0"/>
              <a:t>1</a:t>
            </a:r>
            <a:r>
              <a:rPr lang="en-US" sz="2400" dirty="0"/>
              <a:t> = 95.96</a:t>
            </a:r>
          </a:p>
          <a:p>
            <a:r>
              <a:rPr lang="en-US" sz="2400" b="1" dirty="0"/>
              <a:t>s</a:t>
            </a:r>
            <a:r>
              <a:rPr lang="en-US" sz="2400" baseline="-25000" dirty="0"/>
              <a:t>2</a:t>
            </a:r>
            <a:r>
              <a:rPr lang="en-US" sz="2400" dirty="0"/>
              <a:t> = 17.76</a:t>
            </a:r>
          </a:p>
          <a:p>
            <a:r>
              <a:rPr lang="en-US" sz="2400" dirty="0"/>
              <a:t>The first set of singular vectors approximates the iris data much better than the second set.</a:t>
            </a:r>
          </a:p>
          <a:p>
            <a:r>
              <a:rPr lang="en-US" sz="2400" dirty="0"/>
              <a:t>But together they approximate the data even better.</a:t>
            </a:r>
            <a:endParaRPr lang="en-NL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92DCB8-1F3D-4D7B-8308-E3C099CD7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1057861"/>
            <a:ext cx="3646714" cy="27350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5ADE55-3198-476D-CC6C-AA8793E187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6200" y="3910238"/>
            <a:ext cx="3570514" cy="2677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152AF31-BB30-7FDE-98AD-E6DE53F3A378}"/>
              </a:ext>
            </a:extLst>
          </p:cNvPr>
          <p:cNvSpPr txBox="1"/>
          <p:nvPr/>
        </p:nvSpPr>
        <p:spPr>
          <a:xfrm>
            <a:off x="8088085" y="4572000"/>
            <a:ext cx="1205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Sepal length</a:t>
            </a:r>
            <a:endParaRPr lang="en-NL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728B48-1265-BA5B-6CB1-97E816CCD8D0}"/>
              </a:ext>
            </a:extLst>
          </p:cNvPr>
          <p:cNvSpPr txBox="1"/>
          <p:nvPr/>
        </p:nvSpPr>
        <p:spPr>
          <a:xfrm>
            <a:off x="9370193" y="4204058"/>
            <a:ext cx="1157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Sepal width</a:t>
            </a:r>
            <a:endParaRPr lang="en-NL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BAD6C8-F61C-0A09-E363-CECB1140A1E7}"/>
              </a:ext>
            </a:extLst>
          </p:cNvPr>
          <p:cNvSpPr txBox="1"/>
          <p:nvPr/>
        </p:nvSpPr>
        <p:spPr>
          <a:xfrm>
            <a:off x="8164285" y="5838409"/>
            <a:ext cx="11709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Petal length</a:t>
            </a:r>
            <a:endParaRPr lang="en-NL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76A8A-A2D4-A770-7FB0-BB3547CDA685}"/>
              </a:ext>
            </a:extLst>
          </p:cNvPr>
          <p:cNvSpPr txBox="1"/>
          <p:nvPr/>
        </p:nvSpPr>
        <p:spPr>
          <a:xfrm>
            <a:off x="9803332" y="5669132"/>
            <a:ext cx="11227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Petal width</a:t>
            </a:r>
            <a:endParaRPr lang="en-NL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A6922D-9EE5-2E0A-B9C7-5426B256B4AD}"/>
              </a:ext>
            </a:extLst>
          </p:cNvPr>
          <p:cNvSpPr txBox="1"/>
          <p:nvPr/>
        </p:nvSpPr>
        <p:spPr>
          <a:xfrm>
            <a:off x="9470724" y="6308209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aseline="-25000" dirty="0"/>
              <a:t>1</a:t>
            </a:r>
            <a:endParaRPr lang="en-NL" baseline="-25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9E652B-04E9-F180-861A-B1F31CAEE968}"/>
              </a:ext>
            </a:extLst>
          </p:cNvPr>
          <p:cNvSpPr txBox="1"/>
          <p:nvPr/>
        </p:nvSpPr>
        <p:spPr>
          <a:xfrm>
            <a:off x="7620000" y="486597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  <a:r>
              <a:rPr lang="en-US" b="1" baseline="-25000" dirty="0"/>
              <a:t>2</a:t>
            </a:r>
            <a:endParaRPr lang="en-NL" baseline="-25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714CFF-D96E-3593-C7C5-0E91B5A7F3FA}"/>
              </a:ext>
            </a:extLst>
          </p:cNvPr>
          <p:cNvSpPr txBox="1"/>
          <p:nvPr/>
        </p:nvSpPr>
        <p:spPr>
          <a:xfrm>
            <a:off x="9407008" y="3510586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</a:t>
            </a:r>
            <a:r>
              <a:rPr lang="en-US" baseline="-25000" dirty="0"/>
              <a:t>1</a:t>
            </a:r>
            <a:endParaRPr lang="en-NL" baseline="-25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4F8D07-AA19-BC25-37A9-F609DC39FD59}"/>
              </a:ext>
            </a:extLst>
          </p:cNvPr>
          <p:cNvSpPr txBox="1"/>
          <p:nvPr/>
        </p:nvSpPr>
        <p:spPr>
          <a:xfrm>
            <a:off x="7502878" y="2212189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u</a:t>
            </a:r>
            <a:r>
              <a:rPr lang="en-US" b="1" baseline="-25000" dirty="0"/>
              <a:t>2</a:t>
            </a:r>
            <a:endParaRPr lang="en-NL" baseline="-250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8EC807A-D5DD-25A3-9318-F9A187E00418}"/>
              </a:ext>
            </a:extLst>
          </p:cNvPr>
          <p:cNvSpPr/>
          <p:nvPr/>
        </p:nvSpPr>
        <p:spPr>
          <a:xfrm>
            <a:off x="7151914" y="1057861"/>
            <a:ext cx="4100710" cy="5715454"/>
          </a:xfrm>
          <a:prstGeom prst="round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AE01B56-5BEE-59FE-C942-34B4010B9975}"/>
              </a:ext>
            </a:extLst>
          </p:cNvPr>
          <p:cNvSpPr/>
          <p:nvPr/>
        </p:nvSpPr>
        <p:spPr>
          <a:xfrm>
            <a:off x="736257" y="1057861"/>
            <a:ext cx="4871061" cy="5119102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086636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959F6-C9FB-E901-D0A6-37F10E3C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Iris data matrix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893D-3CB1-D0AD-B38F-CB847C580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724" y="1825625"/>
            <a:ext cx="4965076" cy="4351338"/>
          </a:xfrm>
        </p:spPr>
        <p:txBody>
          <a:bodyPr/>
          <a:lstStyle/>
          <a:p>
            <a:r>
              <a:rPr lang="en-US" dirty="0" err="1"/>
              <a:t>colMeans</a:t>
            </a:r>
            <a:r>
              <a:rPr lang="en-US" dirty="0"/>
              <a:t>(iris):</a:t>
            </a:r>
          </a:p>
          <a:p>
            <a:pPr lvl="1"/>
            <a:r>
              <a:rPr lang="en-US" dirty="0"/>
              <a:t>Differences between variables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rowMeans</a:t>
            </a:r>
            <a:r>
              <a:rPr lang="en-US" dirty="0"/>
              <a:t>(iris):</a:t>
            </a:r>
          </a:p>
          <a:p>
            <a:pPr lvl="1"/>
            <a:r>
              <a:rPr lang="en-US" dirty="0"/>
              <a:t>Differences between classes</a:t>
            </a:r>
          </a:p>
          <a:p>
            <a:pPr lvl="1"/>
            <a:r>
              <a:rPr lang="en-US" dirty="0"/>
              <a:t>Differences between individual plants</a:t>
            </a:r>
            <a:endParaRPr lang="en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248062-D2FE-C4B7-C5F4-A8148E9EF8B6}"/>
              </a:ext>
            </a:extLst>
          </p:cNvPr>
          <p:cNvSpPr/>
          <p:nvPr/>
        </p:nvSpPr>
        <p:spPr>
          <a:xfrm>
            <a:off x="838200" y="2252311"/>
            <a:ext cx="1241659" cy="3003082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98238C-9A00-6E82-29E0-1B3FB3C75D8C}"/>
              </a:ext>
            </a:extLst>
          </p:cNvPr>
          <p:cNvCxnSpPr>
            <a:stCxn id="4" idx="0"/>
            <a:endCxn id="4" idx="2"/>
          </p:cNvCxnSpPr>
          <p:nvPr/>
        </p:nvCxnSpPr>
        <p:spPr>
          <a:xfrm>
            <a:off x="1459030" y="2252311"/>
            <a:ext cx="0" cy="3003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CBA33A-C6BF-51AB-B077-1BFD36222BBA}"/>
              </a:ext>
            </a:extLst>
          </p:cNvPr>
          <p:cNvCxnSpPr/>
          <p:nvPr/>
        </p:nvCxnSpPr>
        <p:spPr>
          <a:xfrm>
            <a:off x="1765432" y="2260336"/>
            <a:ext cx="0" cy="3003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F258814-F010-EEDA-F815-5FE2CE69275A}"/>
              </a:ext>
            </a:extLst>
          </p:cNvPr>
          <p:cNvCxnSpPr/>
          <p:nvPr/>
        </p:nvCxnSpPr>
        <p:spPr>
          <a:xfrm>
            <a:off x="1147810" y="2249107"/>
            <a:ext cx="0" cy="30030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D17A66F-5B3F-E067-5195-FFD5C91A9F35}"/>
              </a:ext>
            </a:extLst>
          </p:cNvPr>
          <p:cNvSpPr txBox="1"/>
          <p:nvPr/>
        </p:nvSpPr>
        <p:spPr>
          <a:xfrm>
            <a:off x="1929016" y="18829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  <a:endParaRPr lang="en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9A9B32-0615-98CB-CC4F-2BA71058F1C5}"/>
              </a:ext>
            </a:extLst>
          </p:cNvPr>
          <p:cNvSpPr txBox="1"/>
          <p:nvPr/>
        </p:nvSpPr>
        <p:spPr>
          <a:xfrm>
            <a:off x="259923" y="5078752"/>
            <a:ext cx="5357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150</a:t>
            </a:r>
            <a:endParaRPr lang="en-NL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8DBB45-D943-86A8-ECF3-3CC0B6C13E8A}"/>
              </a:ext>
            </a:extLst>
          </p:cNvPr>
          <p:cNvCxnSpPr/>
          <p:nvPr/>
        </p:nvCxnSpPr>
        <p:spPr>
          <a:xfrm>
            <a:off x="841409" y="3262964"/>
            <a:ext cx="1238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3476D89-CC3E-585E-54C8-B9B6AE50DD15}"/>
              </a:ext>
            </a:extLst>
          </p:cNvPr>
          <p:cNvCxnSpPr/>
          <p:nvPr/>
        </p:nvCxnSpPr>
        <p:spPr>
          <a:xfrm>
            <a:off x="826169" y="4291263"/>
            <a:ext cx="1238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7EF846-9DB9-9473-9B2B-2E9B8EECE22D}"/>
              </a:ext>
            </a:extLst>
          </p:cNvPr>
          <p:cNvCxnSpPr/>
          <p:nvPr/>
        </p:nvCxnSpPr>
        <p:spPr>
          <a:xfrm>
            <a:off x="810929" y="5621154"/>
            <a:ext cx="1253690" cy="0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DCBC2AD-58A4-9312-F567-2E16AED5DC0E}"/>
              </a:ext>
            </a:extLst>
          </p:cNvPr>
          <p:cNvCxnSpPr>
            <a:cxnSpLocks/>
          </p:cNvCxnSpPr>
          <p:nvPr/>
        </p:nvCxnSpPr>
        <p:spPr>
          <a:xfrm>
            <a:off x="2452083" y="2260336"/>
            <a:ext cx="0" cy="3003082"/>
          </a:xfrm>
          <a:prstGeom prst="line">
            <a:avLst/>
          </a:pr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47C4A8F6-366D-C15F-F0F4-F8F1B94D07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4346" y="1475875"/>
            <a:ext cx="2904378" cy="29043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B2C9FD7-0C74-2149-1AEA-52C7097B4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4568" y="3910665"/>
            <a:ext cx="3420977" cy="3420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694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12010</TotalTime>
  <Words>3664</Words>
  <Application>Microsoft Office PowerPoint</Application>
  <PresentationFormat>Widescreen</PresentationFormat>
  <Paragraphs>700</Paragraphs>
  <Slides>39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Calibri Light</vt:lpstr>
      <vt:lpstr>Cambria Math</vt:lpstr>
      <vt:lpstr>Courier New</vt:lpstr>
      <vt:lpstr>inherit</vt:lpstr>
      <vt:lpstr>Symbol</vt:lpstr>
      <vt:lpstr>Times New Roman</vt:lpstr>
      <vt:lpstr>Office Theme</vt:lpstr>
      <vt:lpstr>Equation</vt:lpstr>
      <vt:lpstr>Linear algebra for  data analysis</vt:lpstr>
      <vt:lpstr>Back to the Math syllabus: Linear Algebra</vt:lpstr>
      <vt:lpstr>Learning goals of today</vt:lpstr>
      <vt:lpstr>Starring:</vt:lpstr>
      <vt:lpstr>Linear Algebra: Notation</vt:lpstr>
      <vt:lpstr>Regression equation / Linear model</vt:lpstr>
      <vt:lpstr>Vectors y, e, b, directions in space</vt:lpstr>
      <vt:lpstr>Vector: Point in space</vt:lpstr>
      <vt:lpstr>Adding and subtracting vectors in space</vt:lpstr>
      <vt:lpstr>Adding / subtracting vectors in data analysis</vt:lpstr>
      <vt:lpstr>Multiplying vectors with a constant</vt:lpstr>
      <vt:lpstr>Data matrix X:</vt:lpstr>
      <vt:lpstr>Matrix: Multiple points in space</vt:lpstr>
      <vt:lpstr>Matrix: row-space, column-space</vt:lpstr>
      <vt:lpstr>Dot product (inner product)</vt:lpstr>
      <vt:lpstr>Exercise:</vt:lpstr>
      <vt:lpstr>Distance between vectors: Application in clustering</vt:lpstr>
      <vt:lpstr>PowerPoint Presentation</vt:lpstr>
      <vt:lpstr>Rank of a matrix</vt:lpstr>
      <vt:lpstr>Geometry: Rank / Subspace</vt:lpstr>
      <vt:lpstr>Outer product of 2 vectors</vt:lpstr>
      <vt:lpstr>Mean-centering of a matrix</vt:lpstr>
      <vt:lpstr>Product of matrix and a vector: y ̂=X∗b</vt:lpstr>
      <vt:lpstr>Multiplication of matrices</vt:lpstr>
      <vt:lpstr>Inverse of a matrix</vt:lpstr>
      <vt:lpstr>Matrix multiplication: X^T∗X</vt:lpstr>
      <vt:lpstr>Matrix multiplication:(X^T∗X)^(-1)</vt:lpstr>
      <vt:lpstr>Problematic Example</vt:lpstr>
      <vt:lpstr>Fat matrix J &gt;&gt; I</vt:lpstr>
      <vt:lpstr>Linear Algebra: Geometry</vt:lpstr>
      <vt:lpstr>Multivariate Regression</vt:lpstr>
      <vt:lpstr>Projection</vt:lpstr>
      <vt:lpstr>Multiple Regression: column space representation</vt:lpstr>
      <vt:lpstr>Centering and Scaling geometrically</vt:lpstr>
      <vt:lpstr>PowerPoint Presentation</vt:lpstr>
      <vt:lpstr>Singular value decomposition on X</vt:lpstr>
      <vt:lpstr>Some examples in real data (Iris)</vt:lpstr>
      <vt:lpstr>Singular value decomposition of Iris data</vt:lpstr>
      <vt:lpstr>Iris data matrix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algebra for data analysis</dc:title>
  <dc:creator>Johan Westerhuis</dc:creator>
  <cp:lastModifiedBy>Westerhuis, J.A. (Johan)</cp:lastModifiedBy>
  <cp:revision>16</cp:revision>
  <dcterms:created xsi:type="dcterms:W3CDTF">2022-03-19T03:33:32Z</dcterms:created>
  <dcterms:modified xsi:type="dcterms:W3CDTF">2025-11-24T13:55:50Z</dcterms:modified>
</cp:coreProperties>
</file>